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3"/>
  </p:notesMasterIdLst>
  <p:sldIdLst>
    <p:sldId id="256" r:id="rId2"/>
    <p:sldId id="353" r:id="rId3"/>
    <p:sldId id="342" r:id="rId4"/>
    <p:sldId id="343" r:id="rId5"/>
    <p:sldId id="361" r:id="rId6"/>
    <p:sldId id="344" r:id="rId7"/>
    <p:sldId id="322" r:id="rId8"/>
    <p:sldId id="410" r:id="rId9"/>
    <p:sldId id="415" r:id="rId10"/>
    <p:sldId id="412" r:id="rId11"/>
    <p:sldId id="411" r:id="rId12"/>
    <p:sldId id="413" r:id="rId13"/>
    <p:sldId id="414" r:id="rId14"/>
    <p:sldId id="430" r:id="rId15"/>
    <p:sldId id="431" r:id="rId16"/>
    <p:sldId id="345" r:id="rId17"/>
    <p:sldId id="354" r:id="rId18"/>
    <p:sldId id="355" r:id="rId19"/>
    <p:sldId id="429" r:id="rId20"/>
    <p:sldId id="432" r:id="rId21"/>
    <p:sldId id="346" r:id="rId22"/>
    <p:sldId id="433" r:id="rId23"/>
    <p:sldId id="434" r:id="rId24"/>
    <p:sldId id="347" r:id="rId25"/>
    <p:sldId id="420" r:id="rId26"/>
    <p:sldId id="435" r:id="rId27"/>
    <p:sldId id="423" r:id="rId28"/>
    <p:sldId id="424" r:id="rId29"/>
    <p:sldId id="425" r:id="rId30"/>
    <p:sldId id="426" r:id="rId31"/>
    <p:sldId id="436" r:id="rId32"/>
    <p:sldId id="422" r:id="rId33"/>
    <p:sldId id="427" r:id="rId34"/>
    <p:sldId id="428" r:id="rId35"/>
    <p:sldId id="416" r:id="rId36"/>
    <p:sldId id="417" r:id="rId37"/>
    <p:sldId id="418" r:id="rId38"/>
    <p:sldId id="419" r:id="rId39"/>
    <p:sldId id="356" r:id="rId40"/>
    <p:sldId id="348" r:id="rId41"/>
    <p:sldId id="446" r:id="rId42"/>
    <p:sldId id="357" r:id="rId43"/>
    <p:sldId id="437" r:id="rId44"/>
    <p:sldId id="358" r:id="rId45"/>
    <p:sldId id="439" r:id="rId46"/>
    <p:sldId id="359" r:id="rId47"/>
    <p:sldId id="447" r:id="rId48"/>
    <p:sldId id="453" r:id="rId49"/>
    <p:sldId id="454" r:id="rId50"/>
    <p:sldId id="448" r:id="rId51"/>
    <p:sldId id="441" r:id="rId52"/>
    <p:sldId id="440" r:id="rId53"/>
    <p:sldId id="360" r:id="rId54"/>
    <p:sldId id="438" r:id="rId55"/>
    <p:sldId id="449" r:id="rId56"/>
    <p:sldId id="451" r:id="rId57"/>
    <p:sldId id="350" r:id="rId58"/>
    <p:sldId id="456" r:id="rId59"/>
    <p:sldId id="351" r:id="rId60"/>
    <p:sldId id="450" r:id="rId61"/>
    <p:sldId id="443" r:id="rId6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168" autoAdjust="0"/>
  </p:normalViewPr>
  <p:slideViewPr>
    <p:cSldViewPr>
      <p:cViewPr varScale="1">
        <p:scale>
          <a:sx n="94" d="100"/>
          <a:sy n="94" d="100"/>
        </p:scale>
        <p:origin x="705" y="4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3A37F4A1-9FCA-452F-8E36-181B64CBF8AB}" type="datetimeFigureOut">
              <a:rPr lang="en-US" smtClean="0"/>
              <a:pPr/>
              <a:t>5/27/2021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D0B4B82C-D9BC-4E35-975A-83CED6C5740C}" type="slidenum">
              <a:rPr lang="en-US" smtClean="0"/>
              <a:pPr/>
              <a:t>‹#›</a:t>
            </a:fld>
            <a:endParaRPr lang="en-US"/>
          </a:p>
        </p:txBody>
      </p:sp>
    </p:spTree>
    <p:extLst>
      <p:ext uri="{BB962C8B-B14F-4D97-AF65-F5344CB8AC3E}">
        <p14:creationId xmlns:p14="http://schemas.microsoft.com/office/powerpoint/2010/main" val="3135787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DCB41C8E-160E-486C-939A-A26BD73C209C}" type="slidenum">
              <a:rPr lang="en-US"/>
              <a:pPr/>
              <a:t>16</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3938" name="Rectangle 2"/>
          <p:cNvSpPr>
            <a:spLocks noGrp="1" noRot="1" noChangeAspect="1" noChangeArrowheads="1" noTextEdit="1"/>
          </p:cNvSpPr>
          <p:nvPr>
            <p:ph type="sldImg"/>
          </p:nvPr>
        </p:nvSpPr>
        <p:spPr>
          <a:ln/>
        </p:spPr>
      </p:sp>
      <p:sp>
        <p:nvSpPr>
          <p:cNvPr id="423939"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DCB41C8E-160E-486C-939A-A26BD73C209C}" type="slidenum">
              <a:rPr lang="en-US"/>
              <a:pPr/>
              <a:t>17</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3938" name="Rectangle 2"/>
          <p:cNvSpPr>
            <a:spLocks noGrp="1" noRot="1" noChangeAspect="1" noChangeArrowheads="1" noTextEdit="1"/>
          </p:cNvSpPr>
          <p:nvPr>
            <p:ph type="sldImg"/>
          </p:nvPr>
        </p:nvSpPr>
        <p:spPr>
          <a:ln/>
        </p:spPr>
      </p:sp>
      <p:sp>
        <p:nvSpPr>
          <p:cNvPr id="423939"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8776991F-60A7-4387-9EC7-A259E74AD308}" type="slidenum">
              <a:rPr lang="en-US"/>
              <a:pPr/>
              <a:t>19</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4962" name="Rectangle 2"/>
          <p:cNvSpPr>
            <a:spLocks noGrp="1" noRot="1" noChangeAspect="1" noChangeArrowheads="1" noTextEdit="1"/>
          </p:cNvSpPr>
          <p:nvPr>
            <p:ph type="sldImg"/>
          </p:nvPr>
        </p:nvSpPr>
        <p:spPr>
          <a:ln/>
        </p:spPr>
      </p:sp>
      <p:sp>
        <p:nvSpPr>
          <p:cNvPr id="424963"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8776991F-60A7-4387-9EC7-A259E74AD308}" type="slidenum">
              <a:rPr lang="en-US"/>
              <a:pPr/>
              <a:t>20</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4962" name="Rectangle 2"/>
          <p:cNvSpPr>
            <a:spLocks noGrp="1" noRot="1" noChangeAspect="1" noChangeArrowheads="1" noTextEdit="1"/>
          </p:cNvSpPr>
          <p:nvPr>
            <p:ph type="sldImg"/>
          </p:nvPr>
        </p:nvSpPr>
        <p:spPr>
          <a:ln/>
        </p:spPr>
      </p:sp>
      <p:sp>
        <p:nvSpPr>
          <p:cNvPr id="424963"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8776991F-60A7-4387-9EC7-A259E74AD308}" type="slidenum">
              <a:rPr lang="en-US"/>
              <a:pPr/>
              <a:t>21</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4962" name="Rectangle 2"/>
          <p:cNvSpPr>
            <a:spLocks noGrp="1" noRot="1" noChangeAspect="1" noChangeArrowheads="1" noTextEdit="1"/>
          </p:cNvSpPr>
          <p:nvPr>
            <p:ph type="sldImg"/>
          </p:nvPr>
        </p:nvSpPr>
        <p:spPr>
          <a:ln/>
        </p:spPr>
      </p:sp>
      <p:sp>
        <p:nvSpPr>
          <p:cNvPr id="424963"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C31126B6-B3C6-43BB-A5C4-FFD66517F11B}" type="slidenum">
              <a:rPr lang="en-US"/>
              <a:pPr/>
              <a:t>24</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5986" name="Rectangle 2"/>
          <p:cNvSpPr>
            <a:spLocks noGrp="1" noRot="1" noChangeAspect="1" noChangeArrowheads="1" noTextEdit="1"/>
          </p:cNvSpPr>
          <p:nvPr>
            <p:ph type="sldImg"/>
          </p:nvPr>
        </p:nvSpPr>
        <p:spPr>
          <a:ln/>
        </p:spPr>
      </p:sp>
      <p:sp>
        <p:nvSpPr>
          <p:cNvPr id="425987"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BFA19137-451E-4708-B193-F09187357ECE}" type="slidenum">
              <a:rPr lang="en-US"/>
              <a:pPr/>
              <a:t>40</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pPr marL="238246" indent="-238246"/>
            <a:r>
              <a:rPr lang="en-US" sz="1500" b="1" dirty="0"/>
              <a:t>Notes:</a:t>
            </a:r>
          </a:p>
          <a:p>
            <a:pPr marL="238246" indent="-238246"/>
            <a:endParaRPr lang="en-US" b="1" dirty="0"/>
          </a:p>
          <a:p>
            <a:pPr marL="238246" indent="-238246"/>
            <a:r>
              <a:rPr lang="en-US" dirty="0"/>
              <a:t>A Map cares about unique identifiers.  You </a:t>
            </a:r>
            <a:r>
              <a:rPr lang="en-US" i="1" dirty="0"/>
              <a:t>map </a:t>
            </a:r>
            <a:r>
              <a:rPr lang="en-US" dirty="0"/>
              <a:t>a unique </a:t>
            </a:r>
            <a:r>
              <a:rPr lang="en-US" i="1" dirty="0"/>
              <a:t>key </a:t>
            </a:r>
            <a:r>
              <a:rPr lang="en-US" dirty="0"/>
              <a:t>(the ID) to a specific </a:t>
            </a:r>
            <a:r>
              <a:rPr lang="en-US" i="1" dirty="0"/>
              <a:t>value,</a:t>
            </a:r>
            <a:r>
              <a:rPr lang="en-US" dirty="0"/>
              <a:t> where both the </a:t>
            </a:r>
            <a:r>
              <a:rPr lang="en-US" i="1" dirty="0"/>
              <a:t>key</a:t>
            </a:r>
            <a:r>
              <a:rPr lang="en-US" dirty="0"/>
              <a:t> and the </a:t>
            </a:r>
            <a:r>
              <a:rPr lang="en-US" i="1" dirty="0"/>
              <a:t>values</a:t>
            </a:r>
            <a:r>
              <a:rPr lang="en-US" dirty="0"/>
              <a:t> are of course </a:t>
            </a:r>
            <a:r>
              <a:rPr lang="en-US" i="1" dirty="0"/>
              <a:t>objects</a:t>
            </a:r>
            <a:r>
              <a:rPr lang="en-US" dirty="0"/>
              <a:t>.  You’re probably quite familiar with Maps since many languages support data structures that use </a:t>
            </a:r>
            <a:r>
              <a:rPr lang="en-US" i="1" dirty="0"/>
              <a:t>key/value</a:t>
            </a:r>
            <a:r>
              <a:rPr lang="en-US" dirty="0"/>
              <a:t> or </a:t>
            </a:r>
            <a:r>
              <a:rPr lang="en-US" i="1" dirty="0"/>
              <a:t>name/value </a:t>
            </a:r>
            <a:r>
              <a:rPr lang="en-US" dirty="0"/>
              <a:t>pair.  </a:t>
            </a:r>
            <a:r>
              <a:rPr lang="en-US" i="1" dirty="0"/>
              <a:t>Where </a:t>
            </a:r>
            <a:r>
              <a:rPr lang="en-US" dirty="0"/>
              <a:t>the keys land in the Map is based on the key’s </a:t>
            </a:r>
            <a:r>
              <a:rPr lang="en-US" dirty="0" err="1"/>
              <a:t>hashcode</a:t>
            </a:r>
            <a:r>
              <a:rPr lang="en-US" dirty="0"/>
              <a:t>, so, like </a:t>
            </a:r>
            <a:r>
              <a:rPr lang="en-US" dirty="0" err="1"/>
              <a:t>HashSet</a:t>
            </a:r>
            <a:r>
              <a:rPr lang="en-US" dirty="0"/>
              <a:t>, the more efficient your </a:t>
            </a:r>
            <a:r>
              <a:rPr lang="en-US" dirty="0" err="1"/>
              <a:t>hashCode</a:t>
            </a:r>
            <a:r>
              <a:rPr lang="en-US" dirty="0"/>
              <a:t>( ) implementation, the better access performance you’ll get.  The Map implementations let you do things like search for a value based on the key, as for a collection of just the values, or ask for a collection of just the keys.</a:t>
            </a:r>
          </a:p>
          <a:p>
            <a:pPr marL="238246" indent="-238246"/>
            <a:endParaRPr lang="en-US" dirty="0"/>
          </a:p>
          <a:p>
            <a:pPr marL="238246" indent="-238246"/>
            <a:r>
              <a:rPr lang="en-US" b="1" dirty="0"/>
              <a:t>Transition:</a:t>
            </a:r>
          </a:p>
          <a:p>
            <a:pPr marL="238246" indent="-238246">
              <a:buFontTx/>
              <a:buAutoNum type="arabicPeriod"/>
            </a:pPr>
            <a:r>
              <a:rPr lang="en-US" dirty="0"/>
              <a:t>  Click on the </a:t>
            </a:r>
            <a:r>
              <a:rPr lang="en-US" dirty="0" err="1"/>
              <a:t>HashMap</a:t>
            </a:r>
            <a:r>
              <a:rPr lang="en-US" dirty="0"/>
              <a:t> to view the sample solution.</a:t>
            </a:r>
          </a:p>
          <a:p>
            <a:pPr marL="238246" indent="-238246">
              <a:buFontTx/>
              <a:buAutoNum type="arabicPeriod"/>
            </a:pPr>
            <a:r>
              <a:rPr lang="en-US" dirty="0"/>
              <a:t>  Click on the </a:t>
            </a:r>
            <a:r>
              <a:rPr lang="en-US" dirty="0" err="1"/>
              <a:t>Hashtable</a:t>
            </a:r>
            <a:r>
              <a:rPr lang="en-US" dirty="0"/>
              <a:t> to view the sample solution.</a:t>
            </a:r>
          </a:p>
          <a:p>
            <a:pPr marL="238246" indent="-238246">
              <a:buFontTx/>
              <a:buAutoNum type="arabicPeriod"/>
            </a:pPr>
            <a:r>
              <a:rPr lang="en-US" dirty="0"/>
              <a:t>  Click on the </a:t>
            </a:r>
            <a:r>
              <a:rPr lang="en-US" dirty="0" err="1"/>
              <a:t>LinkedHashMap</a:t>
            </a:r>
            <a:r>
              <a:rPr lang="en-US" dirty="0"/>
              <a:t> to view the sample solution.</a:t>
            </a:r>
          </a:p>
          <a:p>
            <a:pPr marL="238246" indent="-238246">
              <a:buFontTx/>
              <a:buAutoNum type="arabicPeriod"/>
            </a:pPr>
            <a:r>
              <a:rPr lang="en-US" dirty="0"/>
              <a:t>  Click on the </a:t>
            </a:r>
            <a:r>
              <a:rPr lang="en-US" dirty="0" err="1"/>
              <a:t>TreeMap</a:t>
            </a:r>
            <a:r>
              <a:rPr lang="en-US" dirty="0"/>
              <a:t> to view the sample solution.</a:t>
            </a:r>
          </a:p>
          <a:p>
            <a:pPr marL="238246" indent="-238246">
              <a:buFontTx/>
              <a:buAutoNum type="arabicPeriod"/>
            </a:pPr>
            <a:r>
              <a:rPr lang="en-US" dirty="0"/>
              <a:t>  Click the Blue Area to go back to the previous slide.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F13603A6-4F97-472E-9AA6-A1ED5D07D65C}" type="slidenum">
              <a:rPr lang="en-US"/>
              <a:pPr/>
              <a:t>51</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5EBA8A52-01A3-4BF5-8096-E317E0D26323}" type="slidenum">
              <a:rPr lang="en-US"/>
              <a:pPr/>
              <a:t>57</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5EBA8A52-01A3-4BF5-8096-E317E0D26323}" type="slidenum">
              <a:rPr lang="en-US"/>
              <a:pPr/>
              <a:t>58</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ftr" sz="quarter" idx="4"/>
          </p:nvPr>
        </p:nvSpPr>
        <p:spPr>
          <a:ln/>
        </p:spPr>
        <p:txBody>
          <a:bodyPr/>
          <a:lstStyle/>
          <a:p>
            <a:r>
              <a:rPr lang="en-US"/>
              <a:t>© Accenture 2005  All Rights Reserved</a:t>
            </a:r>
          </a:p>
          <a:p>
            <a:r>
              <a:rPr lang="en-US"/>
              <a:t>Course Code #Z16325</a:t>
            </a:r>
          </a:p>
        </p:txBody>
      </p:sp>
      <p:sp>
        <p:nvSpPr>
          <p:cNvPr id="5" name="Rectangle 5"/>
          <p:cNvSpPr>
            <a:spLocks noGrp="1" noChangeArrowheads="1"/>
          </p:cNvSpPr>
          <p:nvPr>
            <p:ph type="sldNum" sz="quarter" idx="5"/>
          </p:nvPr>
        </p:nvSpPr>
        <p:spPr>
          <a:ln/>
        </p:spPr>
        <p:txBody>
          <a:bodyPr/>
          <a:lstStyle/>
          <a:p>
            <a:r>
              <a:rPr lang="en-US"/>
              <a:t>  </a:t>
            </a:r>
            <a:fld id="{08D932AE-EA47-409C-B2C3-3831B8E80749}" type="slidenum">
              <a:rPr lang="en-US"/>
              <a:pPr/>
              <a:t>59</a:t>
            </a:fld>
            <a:endParaRPr lang="en-US"/>
          </a:p>
        </p:txBody>
      </p:sp>
      <p:sp>
        <p:nvSpPr>
          <p:cNvPr id="6" name="Rectangle 6"/>
          <p:cNvSpPr>
            <a:spLocks noGrp="1" noChangeArrowheads="1"/>
          </p:cNvSpPr>
          <p:nvPr>
            <p:ph type="hdr" sz="quarter"/>
          </p:nvPr>
        </p:nvSpPr>
        <p:spPr>
          <a:ln/>
        </p:spPr>
        <p:txBody>
          <a:bodyPr/>
          <a:lstStyle/>
          <a:p>
            <a:r>
              <a:rPr lang="en-US"/>
              <a:t>ATS Application Programming</a:t>
            </a:r>
          </a:p>
        </p:txBody>
      </p:sp>
      <p:sp>
        <p:nvSpPr>
          <p:cNvPr id="7" name="Rectangle 7"/>
          <p:cNvSpPr>
            <a:spLocks noGrp="1" noChangeArrowheads="1"/>
          </p:cNvSpPr>
          <p:nvPr>
            <p:ph type="dt" idx="1"/>
          </p:nvPr>
        </p:nvSpPr>
        <p:spPr>
          <a:ln/>
        </p:spPr>
        <p:txBody>
          <a:bodyPr/>
          <a:lstStyle/>
          <a:p>
            <a:r>
              <a:rPr lang="en-US"/>
              <a:t>5.2 Collection Framework</a:t>
            </a:r>
          </a:p>
        </p:txBody>
      </p:sp>
      <p:sp>
        <p:nvSpPr>
          <p:cNvPr id="429058" name="Rectangle 2"/>
          <p:cNvSpPr>
            <a:spLocks noGrp="1" noRot="1" noChangeAspect="1" noChangeArrowheads="1" noTextEdit="1"/>
          </p:cNvSpPr>
          <p:nvPr>
            <p:ph type="sldImg"/>
          </p:nvPr>
        </p:nvSpPr>
        <p:spPr>
          <a:ln/>
        </p:spPr>
      </p:sp>
      <p:sp>
        <p:nvSpPr>
          <p:cNvPr id="429059" name="Rectangle 3"/>
          <p:cNvSpPr>
            <a:spLocks noGrp="1" noChangeArrowheads="1"/>
          </p:cNvSpPr>
          <p:nvPr>
            <p:ph type="body" idx="1"/>
          </p:nvPr>
        </p:nvSpPr>
        <p:spPr/>
        <p:txBody>
          <a:bodyPr/>
          <a:lstStyle/>
          <a:p>
            <a:endParaRPr lang="en-US" i="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A641BA2D-9E00-4C0C-8428-52E76E8A2A54}" type="slidenum">
              <a:rPr lang="en-US"/>
              <a:pPr/>
              <a:t>61</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1" name="Picture 4" descr="دانشگاه شهید بهشتی"/>
          <p:cNvPicPr>
            <a:picLocks noChangeAspect="1" noChangeArrowheads="1"/>
          </p:cNvPicPr>
          <p:nvPr/>
        </p:nvPicPr>
        <p:blipFill>
          <a:blip r:embed="rId2">
            <a:duotone>
              <a:prstClr val="black"/>
              <a:schemeClr val="accent1">
                <a:tint val="45000"/>
                <a:satMod val="400000"/>
              </a:schemeClr>
            </a:duotone>
          </a:blip>
          <a:srcRect l="89970" t="7653" r="1713" b="8163"/>
          <a:stretch>
            <a:fillRect/>
          </a:stretch>
        </p:blipFill>
        <p:spPr bwMode="auto">
          <a:xfrm>
            <a:off x="3714744" y="142852"/>
            <a:ext cx="1214446" cy="1214480"/>
          </a:xfrm>
          <a:prstGeom prst="rect">
            <a:avLst/>
          </a:prstGeom>
          <a:noFill/>
        </p:spPr>
      </p:pic>
      <p:pic>
        <p:nvPicPr>
          <p:cNvPr id="13" name="Picture 1"/>
          <p:cNvPicPr>
            <a:picLocks noChangeAspect="1" noChangeArrowheads="1"/>
          </p:cNvPicPr>
          <p:nvPr/>
        </p:nvPicPr>
        <p:blipFill>
          <a:blip r:embed="rId3">
            <a:duotone>
              <a:prstClr val="black"/>
              <a:schemeClr val="accent2">
                <a:tint val="45000"/>
                <a:satMod val="400000"/>
              </a:schemeClr>
            </a:duotone>
          </a:blip>
          <a:srcRect/>
          <a:stretch>
            <a:fillRect/>
          </a:stretch>
        </p:blipFill>
        <p:spPr bwMode="auto">
          <a:xfrm>
            <a:off x="0" y="2500306"/>
            <a:ext cx="9144000" cy="71438"/>
          </a:xfrm>
          <a:prstGeom prst="rect">
            <a:avLst/>
          </a:prstGeom>
          <a:noFill/>
          <a:ln w="9525">
            <a:noFill/>
            <a:miter lim="800000"/>
            <a:headEnd/>
            <a:tailEnd/>
          </a:ln>
          <a:effectLst/>
        </p:spPr>
      </p:pic>
      <p:pic>
        <p:nvPicPr>
          <p:cNvPr id="14" name="Picture 1"/>
          <p:cNvPicPr>
            <a:picLocks noChangeAspect="1" noChangeArrowheads="1"/>
          </p:cNvPicPr>
          <p:nvPr/>
        </p:nvPicPr>
        <p:blipFill>
          <a:blip r:embed="rId3">
            <a:duotone>
              <a:prstClr val="black"/>
              <a:schemeClr val="accent2">
                <a:tint val="45000"/>
                <a:satMod val="400000"/>
              </a:schemeClr>
            </a:duotone>
          </a:blip>
          <a:srcRect/>
          <a:stretch>
            <a:fillRect/>
          </a:stretch>
        </p:blipFill>
        <p:spPr bwMode="auto">
          <a:xfrm>
            <a:off x="0" y="4643446"/>
            <a:ext cx="9144000" cy="71438"/>
          </a:xfrm>
          <a:prstGeom prst="rect">
            <a:avLst/>
          </a:prstGeom>
          <a:noFill/>
          <a:ln w="9525">
            <a:noFill/>
            <a:miter lim="800000"/>
            <a:headEnd/>
            <a:tailEnd/>
          </a:ln>
          <a:effectLst/>
        </p:spPr>
      </p:pic>
      <p:sp>
        <p:nvSpPr>
          <p:cNvPr id="15" name="Rectangle 2"/>
          <p:cNvSpPr txBox="1">
            <a:spLocks noChangeArrowheads="1"/>
          </p:cNvSpPr>
          <p:nvPr/>
        </p:nvSpPr>
        <p:spPr>
          <a:xfrm>
            <a:off x="0" y="2571744"/>
            <a:ext cx="9144000" cy="2076460"/>
          </a:xfrm>
          <a:prstGeom prst="rect">
            <a:avLst/>
          </a:prstGeom>
          <a:ln/>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برنامه نویسی پیشرفته</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پاییز 1393</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31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وحیدی اصل</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p:txBody>
      </p:sp>
      <p:pic>
        <p:nvPicPr>
          <p:cNvPr id="16" name="Picture 1"/>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0" y="5214950"/>
            <a:ext cx="9144000" cy="642942"/>
          </a:xfrm>
          <a:prstGeom prst="rect">
            <a:avLst/>
          </a:prstGeom>
          <a:noFill/>
          <a:ln w="9525">
            <a:noFill/>
            <a:miter lim="800000"/>
            <a:headEnd/>
            <a:tailEnd/>
          </a:ln>
          <a:effectLst/>
        </p:spPr>
      </p:pic>
      <p:pic>
        <p:nvPicPr>
          <p:cNvPr id="9" name="Picture 4" descr="دانشگاه شهید بهشتی"/>
          <p:cNvPicPr>
            <a:picLocks noChangeAspect="1" noChangeArrowheads="1"/>
          </p:cNvPicPr>
          <p:nvPr userDrawn="1"/>
        </p:nvPicPr>
        <p:blipFill>
          <a:blip r:embed="rId2">
            <a:duotone>
              <a:prstClr val="black"/>
              <a:schemeClr val="accent1">
                <a:tint val="45000"/>
                <a:satMod val="400000"/>
              </a:schemeClr>
            </a:duotone>
          </a:blip>
          <a:srcRect l="89970" t="7653" r="1713" b="8163"/>
          <a:stretch>
            <a:fillRect/>
          </a:stretch>
        </p:blipFill>
        <p:spPr bwMode="auto">
          <a:xfrm>
            <a:off x="3714744" y="142852"/>
            <a:ext cx="1214446" cy="1214480"/>
          </a:xfrm>
          <a:prstGeom prst="rect">
            <a:avLst/>
          </a:prstGeom>
          <a:noFill/>
        </p:spPr>
      </p:pic>
      <p:pic>
        <p:nvPicPr>
          <p:cNvPr id="17" name="Picture 1"/>
          <p:cNvPicPr>
            <a:picLocks noChangeAspect="1" noChangeArrowheads="1"/>
          </p:cNvPicPr>
          <p:nvPr userDrawn="1"/>
        </p:nvPicPr>
        <p:blipFill>
          <a:blip r:embed="rId3">
            <a:duotone>
              <a:prstClr val="black"/>
              <a:schemeClr val="accent2">
                <a:tint val="45000"/>
                <a:satMod val="400000"/>
              </a:schemeClr>
            </a:duotone>
          </a:blip>
          <a:srcRect/>
          <a:stretch>
            <a:fillRect/>
          </a:stretch>
        </p:blipFill>
        <p:spPr bwMode="auto">
          <a:xfrm>
            <a:off x="0" y="2500306"/>
            <a:ext cx="9144000" cy="71438"/>
          </a:xfrm>
          <a:prstGeom prst="rect">
            <a:avLst/>
          </a:prstGeom>
          <a:noFill/>
          <a:ln w="9525">
            <a:noFill/>
            <a:miter lim="800000"/>
            <a:headEnd/>
            <a:tailEnd/>
          </a:ln>
          <a:effectLst/>
        </p:spPr>
      </p:pic>
      <p:pic>
        <p:nvPicPr>
          <p:cNvPr id="18" name="Picture 1"/>
          <p:cNvPicPr>
            <a:picLocks noChangeAspect="1" noChangeArrowheads="1"/>
          </p:cNvPicPr>
          <p:nvPr userDrawn="1"/>
        </p:nvPicPr>
        <p:blipFill>
          <a:blip r:embed="rId3">
            <a:duotone>
              <a:prstClr val="black"/>
              <a:schemeClr val="accent2">
                <a:tint val="45000"/>
                <a:satMod val="400000"/>
              </a:schemeClr>
            </a:duotone>
          </a:blip>
          <a:srcRect/>
          <a:stretch>
            <a:fillRect/>
          </a:stretch>
        </p:blipFill>
        <p:spPr bwMode="auto">
          <a:xfrm>
            <a:off x="0" y="4643446"/>
            <a:ext cx="9144000" cy="71438"/>
          </a:xfrm>
          <a:prstGeom prst="rect">
            <a:avLst/>
          </a:prstGeom>
          <a:noFill/>
          <a:ln w="9525">
            <a:noFill/>
            <a:miter lim="800000"/>
            <a:headEnd/>
            <a:tailEnd/>
          </a:ln>
          <a:effectLst/>
        </p:spPr>
      </p:pic>
      <p:sp>
        <p:nvSpPr>
          <p:cNvPr id="19" name="Rectangle 2"/>
          <p:cNvSpPr txBox="1">
            <a:spLocks noChangeArrowheads="1"/>
          </p:cNvSpPr>
          <p:nvPr userDrawn="1"/>
        </p:nvSpPr>
        <p:spPr>
          <a:xfrm>
            <a:off x="0" y="2571744"/>
            <a:ext cx="9144000" cy="2076460"/>
          </a:xfrm>
          <a:prstGeom prst="rect">
            <a:avLst/>
          </a:prstGeom>
          <a:ln/>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برنامه نویسی پیشرفته</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3100" b="0" i="0" u="none" strike="noStrike" kern="1200" cap="none" spc="0" normalizeH="0" baseline="0" noProof="0" dirty="0" err="1">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وحیدی</a:t>
            </a:r>
            <a:r>
              <a:rPr kumimoji="0" lang="fa-IR" altLang="zh-CN" sz="31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 اصل</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p:txBody>
      </p:sp>
      <p:pic>
        <p:nvPicPr>
          <p:cNvPr id="20" name="Picture 1"/>
          <p:cNvPicPr>
            <a:picLocks noChangeAspect="1" noChangeArrowheads="1"/>
          </p:cNvPicPr>
          <p:nvPr userDrawn="1"/>
        </p:nvPicPr>
        <p:blipFill>
          <a:blip r:embed="rId3">
            <a:duotone>
              <a:prstClr val="black"/>
              <a:schemeClr val="accent3">
                <a:tint val="45000"/>
                <a:satMod val="400000"/>
              </a:schemeClr>
            </a:duotone>
          </a:blip>
          <a:srcRect/>
          <a:stretch>
            <a:fillRect/>
          </a:stretch>
        </p:blipFill>
        <p:spPr bwMode="auto">
          <a:xfrm>
            <a:off x="0" y="5214950"/>
            <a:ext cx="9144000" cy="642942"/>
          </a:xfrm>
          <a:prstGeom prst="rect">
            <a:avLst/>
          </a:prstGeom>
          <a:noFill/>
          <a:ln w="9525">
            <a:noFill/>
            <a:miter lim="800000"/>
            <a:headEnd/>
            <a:tailEnd/>
          </a:ln>
          <a:effectLst/>
        </p:spPr>
      </p:pic>
      <p:pic>
        <p:nvPicPr>
          <p:cNvPr id="21" name="Picture 2"/>
          <p:cNvPicPr>
            <a:picLocks noChangeAspect="1" noChangeArrowheads="1"/>
          </p:cNvPicPr>
          <p:nvPr userDrawn="1"/>
        </p:nvPicPr>
        <p:blipFill>
          <a:blip r:embed="rId4">
            <a:duotone>
              <a:prstClr val="black"/>
              <a:schemeClr val="accent3">
                <a:tint val="45000"/>
                <a:satMod val="400000"/>
              </a:schemeClr>
            </a:duotone>
          </a:blip>
          <a:srcRect/>
          <a:stretch>
            <a:fillRect/>
          </a:stretch>
        </p:blipFill>
        <p:spPr bwMode="auto">
          <a:xfrm>
            <a:off x="2651689" y="1460042"/>
            <a:ext cx="3209925" cy="695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FEA737-42FE-4BD9-857D-AFC12910CB9D}" type="datetime1">
              <a:rPr lang="en-US" smtClean="0"/>
              <a:pPr/>
              <a:t>5/27/2021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0" y="6492899"/>
            <a:ext cx="304816" cy="365125"/>
          </a:xfrm>
        </p:spPr>
        <p:txBody>
          <a:bodyPr/>
          <a:lstStyle/>
          <a:p>
            <a:fld id="{79E6E8FA-B1EB-4DD1-845A-B9015C921A1C}" type="slidenum">
              <a:rPr lang="en-US" smtClean="0"/>
              <a:pPr/>
              <a:t>‹#›</a:t>
            </a:fld>
            <a:endParaRPr lang="en-US"/>
          </a:p>
        </p:txBody>
      </p:sp>
      <p:pic>
        <p:nvPicPr>
          <p:cNvPr id="7" name="Picture 1"/>
          <p:cNvPicPr>
            <a:picLocks noChangeAspect="1" noChangeArrowheads="1"/>
          </p:cNvPicPr>
          <p:nvPr/>
        </p:nvPicPr>
        <p:blipFill>
          <a:blip r:embed="rId2"/>
          <a:srcRect/>
          <a:stretch>
            <a:fillRect/>
          </a:stretch>
        </p:blipFill>
        <p:spPr bwMode="auto">
          <a:xfrm>
            <a:off x="396000" y="0"/>
            <a:ext cx="8758800" cy="215357"/>
          </a:xfrm>
          <a:prstGeom prst="rect">
            <a:avLst/>
          </a:prstGeom>
          <a:noFill/>
          <a:ln w="9525">
            <a:noFill/>
            <a:miter lim="800000"/>
            <a:headEnd/>
            <a:tailEnd/>
          </a:ln>
          <a:effectLst/>
        </p:spPr>
      </p:pic>
      <p:pic>
        <p:nvPicPr>
          <p:cNvPr id="8" name="Picture 1"/>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rot="5400000">
            <a:off x="-3079099" y="3564646"/>
            <a:ext cx="6372000" cy="214756"/>
          </a:xfrm>
          <a:prstGeom prst="rect">
            <a:avLst/>
          </a:prstGeom>
          <a:noFill/>
          <a:ln w="9525">
            <a:noFill/>
            <a:miter lim="800000"/>
            <a:headEnd/>
            <a:tailEnd/>
          </a:ln>
          <a:effectLst/>
        </p:spPr>
      </p:pic>
      <p:sp>
        <p:nvSpPr>
          <p:cNvPr id="9" name="Rectangle 8"/>
          <p:cNvSpPr/>
          <p:nvPr/>
        </p:nvSpPr>
        <p:spPr>
          <a:xfrm>
            <a:off x="410124" y="214290"/>
            <a:ext cx="8715436" cy="357190"/>
          </a:xfrm>
          <a:prstGeom prst="rec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r"/>
            <a:endParaRPr lang="en-US" sz="2400" dirty="0"/>
          </a:p>
        </p:txBody>
      </p:sp>
      <p:pic>
        <p:nvPicPr>
          <p:cNvPr id="10" name="Picture 4" descr="دانشگاه شهید بهشتی"/>
          <p:cNvPicPr>
            <a:picLocks noChangeAspect="1" noChangeArrowheads="1"/>
          </p:cNvPicPr>
          <p:nvPr/>
        </p:nvPicPr>
        <p:blipFill>
          <a:blip r:embed="rId3"/>
          <a:srcRect l="89970" t="7653" r="1713" b="8163"/>
          <a:stretch>
            <a:fillRect/>
          </a:stretch>
        </p:blipFill>
        <p:spPr bwMode="auto">
          <a:xfrm>
            <a:off x="-1" y="8626"/>
            <a:ext cx="428597" cy="571480"/>
          </a:xfrm>
          <a:prstGeom prst="rect">
            <a:avLst/>
          </a:prstGeom>
          <a:noFill/>
        </p:spPr>
      </p:pic>
      <p:pic>
        <p:nvPicPr>
          <p:cNvPr id="11" name="Picture 1"/>
          <p:cNvPicPr>
            <a:picLocks noChangeAspect="1" noChangeArrowheads="1"/>
          </p:cNvPicPr>
          <p:nvPr userDrawn="1"/>
        </p:nvPicPr>
        <p:blipFill>
          <a:blip r:embed="rId2"/>
          <a:srcRect/>
          <a:stretch>
            <a:fillRect/>
          </a:stretch>
        </p:blipFill>
        <p:spPr bwMode="auto">
          <a:xfrm>
            <a:off x="396000" y="0"/>
            <a:ext cx="8758800" cy="215357"/>
          </a:xfrm>
          <a:prstGeom prst="rect">
            <a:avLst/>
          </a:prstGeom>
          <a:noFill/>
          <a:ln w="9525">
            <a:noFill/>
            <a:miter lim="800000"/>
            <a:headEnd/>
            <a:tailEnd/>
          </a:ln>
          <a:effectLst/>
        </p:spPr>
      </p:pic>
      <p:pic>
        <p:nvPicPr>
          <p:cNvPr id="12" name="Picture 1"/>
          <p:cNvPicPr>
            <a:picLocks noChangeAspect="1" noChangeArrowheads="1"/>
          </p:cNvPicPr>
          <p:nvPr userDrawn="1"/>
        </p:nvPicPr>
        <p:blipFill>
          <a:blip r:embed="rId2">
            <a:duotone>
              <a:prstClr val="black"/>
              <a:schemeClr val="accent6">
                <a:tint val="45000"/>
                <a:satMod val="400000"/>
              </a:schemeClr>
            </a:duotone>
          </a:blip>
          <a:srcRect/>
          <a:stretch>
            <a:fillRect/>
          </a:stretch>
        </p:blipFill>
        <p:spPr bwMode="auto">
          <a:xfrm rot="5400000">
            <a:off x="-3079099" y="3564646"/>
            <a:ext cx="6372000" cy="214756"/>
          </a:xfrm>
          <a:prstGeom prst="rect">
            <a:avLst/>
          </a:prstGeom>
          <a:noFill/>
          <a:ln w="9525">
            <a:noFill/>
            <a:miter lim="800000"/>
            <a:headEnd/>
            <a:tailEnd/>
          </a:ln>
          <a:effectLst/>
        </p:spPr>
      </p:pic>
      <p:sp>
        <p:nvSpPr>
          <p:cNvPr id="13" name="Rectangle 12"/>
          <p:cNvSpPr/>
          <p:nvPr userDrawn="1"/>
        </p:nvSpPr>
        <p:spPr>
          <a:xfrm>
            <a:off x="410124" y="214290"/>
            <a:ext cx="8715436" cy="357190"/>
          </a:xfrm>
          <a:prstGeom prst="rec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r"/>
            <a:endParaRPr lang="en-US" sz="2400" dirty="0"/>
          </a:p>
        </p:txBody>
      </p:sp>
      <p:pic>
        <p:nvPicPr>
          <p:cNvPr id="14" name="Picture 4" descr="دانشگاه شهید بهشتی"/>
          <p:cNvPicPr>
            <a:picLocks noChangeAspect="1" noChangeArrowheads="1"/>
          </p:cNvPicPr>
          <p:nvPr userDrawn="1"/>
        </p:nvPicPr>
        <p:blipFill>
          <a:blip r:embed="rId3"/>
          <a:srcRect l="89970" t="7653" r="1713" b="8163"/>
          <a:stretch>
            <a:fillRect/>
          </a:stretch>
        </p:blipFill>
        <p:spPr bwMode="auto">
          <a:xfrm>
            <a:off x="-1" y="8626"/>
            <a:ext cx="428597" cy="571480"/>
          </a:xfrm>
          <a:prstGeom prst="rect">
            <a:avLst/>
          </a:prstGeom>
          <a:noFill/>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94C453-EE6B-44E8-92B8-EB3D82A0F389}" type="datetime1">
              <a:rPr lang="en-US" smtClean="0"/>
              <a:pPr/>
              <a:t>5/27/2021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F0141E-35D9-451E-BDBA-C23656EEB304}" type="datetime1">
              <a:rPr lang="en-US" smtClean="0"/>
              <a:pPr/>
              <a:t>5/27/2021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DF86E7-4F18-4AF1-A884-250164B35695}" type="datetime1">
              <a:rPr lang="en-US" smtClean="0"/>
              <a:pPr/>
              <a:t>5/27/2021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432E00E-AD5D-4967-AD84-A67D05F60ABE}" type="datetime1">
              <a:rPr lang="en-US" smtClean="0"/>
              <a:pPr/>
              <a:t>5/27/2021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174DE4-DE0A-4559-A358-67815F0915EC}" type="datetime1">
              <a:rPr lang="en-US" smtClean="0"/>
              <a:pPr/>
              <a:t>5/27/2021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2C7DA1-80B6-4B10-9E28-1E5CA6113BD3}" type="datetime1">
              <a:rPr lang="en-US" smtClean="0"/>
              <a:pPr/>
              <a:t>5/27/2021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C0D6CA-67A0-42D8-B4EA-DBD4FD61E982}" type="datetime1">
              <a:rPr lang="en-US" smtClean="0"/>
              <a:pPr/>
              <a:t>5/27/2021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C7F35-4696-491B-97B8-BE9848AE14F3}" type="datetime1">
              <a:rPr lang="en-US" smtClean="0"/>
              <a:pPr/>
              <a:t>5/27/2021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CDA703-A2E5-4DA9-ADE2-15388400AB43}" type="datetime1">
              <a:rPr lang="en-US" smtClean="0"/>
              <a:pPr/>
              <a:t>5/27/2021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E6E8FA-B1EB-4DD1-845A-B9015C921A1C}"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8175" y="38100"/>
            <a:ext cx="8143875" cy="1095375"/>
          </a:xfrm>
        </p:spPr>
        <p:txBody>
          <a:bodyPr/>
          <a:lstStyle/>
          <a:p>
            <a:r>
              <a:rPr lang="en-US"/>
              <a:t>Click to edit Master title style</a:t>
            </a:r>
          </a:p>
        </p:txBody>
      </p:sp>
      <p:sp>
        <p:nvSpPr>
          <p:cNvPr id="3" name="Text Placeholder 2"/>
          <p:cNvSpPr>
            <a:spLocks noGrp="1"/>
          </p:cNvSpPr>
          <p:nvPr>
            <p:ph type="body" sz="half" idx="1"/>
          </p:nvPr>
        </p:nvSpPr>
        <p:spPr>
          <a:xfrm>
            <a:off x="311150" y="1447800"/>
            <a:ext cx="411162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5175" y="1447800"/>
            <a:ext cx="411162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7315200" y="6477000"/>
            <a:ext cx="1693863" cy="269875"/>
          </a:xfrm>
        </p:spPr>
        <p:txBody>
          <a:bodyPr/>
          <a:lstStyle>
            <a:lvl1pPr>
              <a:defRPr/>
            </a:lvl1pPr>
          </a:lstStyle>
          <a:p>
            <a:fld id="{E2E32164-7D64-46C2-AECF-5ED4A3D0BCDA}" type="slidenum">
              <a:rPr lang="en-US"/>
              <a:pPr/>
              <a:t>‹#›</a:t>
            </a:fld>
            <a:endParaRPr lang="en-US"/>
          </a:p>
        </p:txBody>
      </p:sp>
      <p:pic>
        <p:nvPicPr>
          <p:cNvPr id="6" name="Picture 1"/>
          <p:cNvPicPr>
            <a:picLocks noChangeAspect="1" noChangeArrowheads="1"/>
          </p:cNvPicPr>
          <p:nvPr userDrawn="1"/>
        </p:nvPicPr>
        <p:blipFill>
          <a:blip r:embed="rId2"/>
          <a:srcRect/>
          <a:stretch>
            <a:fillRect/>
          </a:stretch>
        </p:blipFill>
        <p:spPr bwMode="auto">
          <a:xfrm>
            <a:off x="396000" y="0"/>
            <a:ext cx="8758800" cy="215357"/>
          </a:xfrm>
          <a:prstGeom prst="rect">
            <a:avLst/>
          </a:prstGeom>
          <a:noFill/>
          <a:ln w="9525">
            <a:noFill/>
            <a:miter lim="800000"/>
            <a:headEnd/>
            <a:tailEnd/>
          </a:ln>
          <a:effectLst/>
        </p:spPr>
      </p:pic>
      <p:pic>
        <p:nvPicPr>
          <p:cNvPr id="7" name="Picture 1"/>
          <p:cNvPicPr>
            <a:picLocks noChangeAspect="1" noChangeArrowheads="1"/>
          </p:cNvPicPr>
          <p:nvPr userDrawn="1"/>
        </p:nvPicPr>
        <p:blipFill>
          <a:blip r:embed="rId2">
            <a:duotone>
              <a:prstClr val="black"/>
              <a:schemeClr val="accent6">
                <a:tint val="45000"/>
                <a:satMod val="400000"/>
              </a:schemeClr>
            </a:duotone>
          </a:blip>
          <a:srcRect/>
          <a:stretch>
            <a:fillRect/>
          </a:stretch>
        </p:blipFill>
        <p:spPr bwMode="auto">
          <a:xfrm rot="5400000">
            <a:off x="-3079099" y="3564646"/>
            <a:ext cx="6372000" cy="214756"/>
          </a:xfrm>
          <a:prstGeom prst="rect">
            <a:avLst/>
          </a:prstGeom>
          <a:noFill/>
          <a:ln w="9525">
            <a:noFill/>
            <a:miter lim="800000"/>
            <a:headEnd/>
            <a:tailEnd/>
          </a:ln>
          <a:effectLst/>
        </p:spPr>
      </p:pic>
      <p:sp>
        <p:nvSpPr>
          <p:cNvPr id="8" name="Rectangle 7"/>
          <p:cNvSpPr/>
          <p:nvPr userDrawn="1"/>
        </p:nvSpPr>
        <p:spPr>
          <a:xfrm>
            <a:off x="410124" y="214290"/>
            <a:ext cx="8715436" cy="357190"/>
          </a:xfrm>
          <a:prstGeom prst="rec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r"/>
            <a:endParaRPr lang="en-US" sz="2400" dirty="0"/>
          </a:p>
        </p:txBody>
      </p:sp>
      <p:pic>
        <p:nvPicPr>
          <p:cNvPr id="9" name="Picture 4" descr="دانشگاه شهید بهشتی"/>
          <p:cNvPicPr>
            <a:picLocks noChangeAspect="1" noChangeArrowheads="1"/>
          </p:cNvPicPr>
          <p:nvPr userDrawn="1"/>
        </p:nvPicPr>
        <p:blipFill>
          <a:blip r:embed="rId3"/>
          <a:srcRect l="89970" t="7653" r="1713" b="8163"/>
          <a:stretch>
            <a:fillRect/>
          </a:stretch>
        </p:blipFill>
        <p:spPr bwMode="auto">
          <a:xfrm>
            <a:off x="-1" y="8626"/>
            <a:ext cx="428597" cy="571480"/>
          </a:xfrm>
          <a:prstGeom prst="rect">
            <a:avLst/>
          </a:prstGeom>
          <a:noFill/>
        </p:spPr>
      </p:pic>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1" name="Picture 4" descr="دانشگاه شهید بهشتی"/>
          <p:cNvPicPr>
            <a:picLocks noChangeAspect="1" noChangeArrowheads="1"/>
          </p:cNvPicPr>
          <p:nvPr userDrawn="1"/>
        </p:nvPicPr>
        <p:blipFill>
          <a:blip r:embed="rId2">
            <a:duotone>
              <a:prstClr val="black"/>
              <a:schemeClr val="accent1">
                <a:tint val="45000"/>
                <a:satMod val="400000"/>
              </a:schemeClr>
            </a:duotone>
          </a:blip>
          <a:srcRect l="89970" t="7653" r="1713" b="8163"/>
          <a:stretch>
            <a:fillRect/>
          </a:stretch>
        </p:blipFill>
        <p:spPr bwMode="auto">
          <a:xfrm>
            <a:off x="3714744" y="142852"/>
            <a:ext cx="1214446" cy="1214480"/>
          </a:xfrm>
          <a:prstGeom prst="rect">
            <a:avLst/>
          </a:prstGeom>
          <a:noFill/>
        </p:spPr>
      </p:pic>
      <p:pic>
        <p:nvPicPr>
          <p:cNvPr id="12" name="Picture 2"/>
          <p:cNvPicPr>
            <a:picLocks noChangeAspect="1" noChangeArrowheads="1"/>
          </p:cNvPicPr>
          <p:nvPr userDrawn="1"/>
        </p:nvPicPr>
        <p:blipFill>
          <a:blip r:embed="rId3">
            <a:duotone>
              <a:prstClr val="black"/>
              <a:schemeClr val="accent3">
                <a:tint val="45000"/>
                <a:satMod val="400000"/>
              </a:schemeClr>
            </a:duotone>
          </a:blip>
          <a:srcRect l="62054" t="14286" r="19196" b="75714"/>
          <a:stretch>
            <a:fillRect/>
          </a:stretch>
        </p:blipFill>
        <p:spPr bwMode="auto">
          <a:xfrm>
            <a:off x="3071802" y="1428736"/>
            <a:ext cx="2571768" cy="6429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
          <p:cNvPicPr>
            <a:picLocks noChangeAspect="1" noChangeArrowheads="1"/>
          </p:cNvPicPr>
          <p:nvPr userDrawn="1"/>
        </p:nvPicPr>
        <p:blipFill>
          <a:blip r:embed="rId4">
            <a:duotone>
              <a:prstClr val="black"/>
              <a:schemeClr val="accent2">
                <a:tint val="45000"/>
                <a:satMod val="400000"/>
              </a:schemeClr>
            </a:duotone>
          </a:blip>
          <a:srcRect/>
          <a:stretch>
            <a:fillRect/>
          </a:stretch>
        </p:blipFill>
        <p:spPr bwMode="auto">
          <a:xfrm>
            <a:off x="0" y="2500306"/>
            <a:ext cx="9144000" cy="71438"/>
          </a:xfrm>
          <a:prstGeom prst="rect">
            <a:avLst/>
          </a:prstGeom>
          <a:noFill/>
          <a:ln w="9525">
            <a:noFill/>
            <a:miter lim="800000"/>
            <a:headEnd/>
            <a:tailEnd/>
          </a:ln>
          <a:effectLst/>
        </p:spPr>
      </p:pic>
      <p:pic>
        <p:nvPicPr>
          <p:cNvPr id="14" name="Picture 1"/>
          <p:cNvPicPr>
            <a:picLocks noChangeAspect="1" noChangeArrowheads="1"/>
          </p:cNvPicPr>
          <p:nvPr userDrawn="1"/>
        </p:nvPicPr>
        <p:blipFill>
          <a:blip r:embed="rId4">
            <a:duotone>
              <a:prstClr val="black"/>
              <a:schemeClr val="accent2">
                <a:tint val="45000"/>
                <a:satMod val="400000"/>
              </a:schemeClr>
            </a:duotone>
          </a:blip>
          <a:srcRect/>
          <a:stretch>
            <a:fillRect/>
          </a:stretch>
        </p:blipFill>
        <p:spPr bwMode="auto">
          <a:xfrm>
            <a:off x="0" y="4643446"/>
            <a:ext cx="9144000" cy="71438"/>
          </a:xfrm>
          <a:prstGeom prst="rect">
            <a:avLst/>
          </a:prstGeom>
          <a:noFill/>
          <a:ln w="9525">
            <a:noFill/>
            <a:miter lim="800000"/>
            <a:headEnd/>
            <a:tailEnd/>
          </a:ln>
          <a:effectLst/>
        </p:spPr>
      </p:pic>
      <p:sp>
        <p:nvSpPr>
          <p:cNvPr id="15" name="Rectangle 2"/>
          <p:cNvSpPr txBox="1">
            <a:spLocks noChangeArrowheads="1"/>
          </p:cNvSpPr>
          <p:nvPr userDrawn="1"/>
        </p:nvSpPr>
        <p:spPr>
          <a:xfrm>
            <a:off x="0" y="2571744"/>
            <a:ext cx="9144000" cy="2076460"/>
          </a:xfrm>
          <a:prstGeom prst="rect">
            <a:avLst/>
          </a:prstGeom>
          <a:ln/>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برنامه نویسی پیشرفته</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پاییز 1393</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fa-IR" altLang="zh-CN" sz="31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rPr>
              <a:t>وحیدی اصل</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zh-CN" sz="44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B Lotus" pitchFamily="2" charset="-78"/>
            </a:endParaRPr>
          </a:p>
        </p:txBody>
      </p:sp>
      <p:pic>
        <p:nvPicPr>
          <p:cNvPr id="16" name="Picture 1"/>
          <p:cNvPicPr>
            <a:picLocks noChangeAspect="1" noChangeArrowheads="1"/>
          </p:cNvPicPr>
          <p:nvPr userDrawn="1"/>
        </p:nvPicPr>
        <p:blipFill>
          <a:blip r:embed="rId4">
            <a:duotone>
              <a:prstClr val="black"/>
              <a:schemeClr val="accent3">
                <a:tint val="45000"/>
                <a:satMod val="400000"/>
              </a:schemeClr>
            </a:duotone>
          </a:blip>
          <a:srcRect/>
          <a:stretch>
            <a:fillRect/>
          </a:stretch>
        </p:blipFill>
        <p:spPr bwMode="auto">
          <a:xfrm>
            <a:off x="0" y="5214950"/>
            <a:ext cx="9144000" cy="642942"/>
          </a:xfrm>
          <a:prstGeom prst="rect">
            <a:avLst/>
          </a:prstGeom>
          <a:noFill/>
          <a:ln w="9525">
            <a:noFill/>
            <a:miter lim="800000"/>
            <a:headEnd/>
            <a:tailEnd/>
          </a:ln>
          <a:effectLst/>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7ACFA5-FDEF-4976-A2F1-CD188B7A04A0}" type="datetime1">
              <a:rPr lang="en-US" smtClean="0"/>
              <a:pPr/>
              <a:t>5/27/2021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E6E8FA-B1EB-4DD1-845A-B9015C921A1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49" r:id="rId13"/>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1.png"/><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66.png"/><Relationship Id="rId4" Type="http://schemas.openxmlformats.org/officeDocument/2006/relationships/image" Target="../media/image65.png"/></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3042" y="5324789"/>
            <a:ext cx="6143668" cy="461665"/>
          </a:xfrm>
          <a:prstGeom prst="rect">
            <a:avLst/>
          </a:prstGeom>
          <a:noFill/>
        </p:spPr>
        <p:txBody>
          <a:bodyPr wrap="square" rtlCol="0">
            <a:spAutoFit/>
          </a:bodyPr>
          <a:lstStyle/>
          <a:p>
            <a:pPr algn="ctr"/>
            <a:r>
              <a:rPr lang="fa-IR" sz="2400" dirty="0">
                <a:solidFill>
                  <a:schemeClr val="bg1"/>
                </a:solidFill>
                <a:cs typeface="B Lotus" pitchFamily="2" charset="-78"/>
              </a:rPr>
              <a:t>-بخش دوم</a:t>
            </a:r>
            <a:r>
              <a:rPr lang="en-US" sz="2400" dirty="0">
                <a:solidFill>
                  <a:schemeClr val="bg1"/>
                </a:solidFill>
                <a:cs typeface="B Lotus" pitchFamily="2" charset="-78"/>
              </a:rPr>
              <a:t>Collections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br>
              <a:rPr lang="fa-IR" sz="2800" dirty="0">
                <a:solidFill>
                  <a:schemeClr val="bg1"/>
                </a:solidFill>
                <a:cs typeface="B Lotus" pitchFamily="2" charset="-78"/>
              </a:rPr>
            </a:br>
            <a:r>
              <a:rPr lang="en-US" sz="2800" dirty="0">
                <a:solidFill>
                  <a:schemeClr val="bg1"/>
                </a:solidFill>
                <a:cs typeface="B Lotus" pitchFamily="2" charset="-78"/>
              </a:rPr>
              <a:t>Set and List: Collections </a:t>
            </a:r>
            <a:r>
              <a:rPr lang="fa-IR" sz="2800" dirty="0">
                <a:solidFill>
                  <a:schemeClr val="bg1"/>
                </a:solidFill>
                <a:cs typeface="B Lotus" pitchFamily="2" charset="-78"/>
              </a:rPr>
              <a:t>سلسله مراتب</a:t>
            </a:r>
            <a:br>
              <a:rPr lang="fa-IR" sz="2800" dirty="0">
                <a:solidFill>
                  <a:schemeClr val="bg1"/>
                </a:solidFill>
                <a:cs typeface="B Lotus" pitchFamily="2" charset="-78"/>
              </a:rPr>
            </a:br>
            <a:endParaRPr lang="en-US" sz="2800" dirty="0">
              <a:solidFill>
                <a:schemeClr val="bg1"/>
              </a:solidFill>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2</a:t>
            </a:fld>
            <a:endParaRPr lang="en-US"/>
          </a:p>
        </p:txBody>
      </p:sp>
      <p:grpSp>
        <p:nvGrpSpPr>
          <p:cNvPr id="3" name="Group 53"/>
          <p:cNvGrpSpPr>
            <a:grpSpLocks/>
          </p:cNvGrpSpPr>
          <p:nvPr/>
        </p:nvGrpSpPr>
        <p:grpSpPr bwMode="auto">
          <a:xfrm>
            <a:off x="857224" y="1285860"/>
            <a:ext cx="7818437" cy="4835525"/>
            <a:chOff x="723" y="871"/>
            <a:chExt cx="4925" cy="3046"/>
          </a:xfrm>
        </p:grpSpPr>
        <p:sp>
          <p:nvSpPr>
            <p:cNvPr id="6" name="AutoShape 33"/>
            <p:cNvSpPr>
              <a:spLocks noChangeArrowheads="1"/>
            </p:cNvSpPr>
            <p:nvPr/>
          </p:nvSpPr>
          <p:spPr bwMode="auto">
            <a:xfrm>
              <a:off x="1114" y="2122"/>
              <a:ext cx="84" cy="755"/>
            </a:xfrm>
            <a:prstGeom prst="upArrow">
              <a:avLst>
                <a:gd name="adj1" fmla="val 0"/>
                <a:gd name="adj2" fmla="val 224369"/>
              </a:avLst>
            </a:prstGeom>
            <a:solidFill>
              <a:srgbClr val="FFFFFF"/>
            </a:solidFill>
            <a:ln w="9525" algn="ctr">
              <a:solidFill>
                <a:schemeClr val="tx1"/>
              </a:solidFill>
              <a:miter lim="800000"/>
              <a:headEnd/>
              <a:tailEnd/>
            </a:ln>
            <a:effectLst/>
          </p:spPr>
          <p:txBody>
            <a:bodyPr wrap="none" anchor="ctr"/>
            <a:lstStyle/>
            <a:p>
              <a:endParaRPr lang="en-US"/>
            </a:p>
          </p:txBody>
        </p:sp>
        <p:sp>
          <p:nvSpPr>
            <p:cNvPr id="7" name="Text Box 4"/>
            <p:cNvSpPr txBox="1">
              <a:spLocks noChangeArrowheads="1"/>
            </p:cNvSpPr>
            <p:nvPr/>
          </p:nvSpPr>
          <p:spPr bwMode="auto">
            <a:xfrm>
              <a:off x="728" y="2888"/>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HashSet</a:t>
              </a:r>
            </a:p>
          </p:txBody>
        </p:sp>
        <p:sp>
          <p:nvSpPr>
            <p:cNvPr id="8" name="Text Box 10"/>
            <p:cNvSpPr txBox="1">
              <a:spLocks noChangeArrowheads="1"/>
            </p:cNvSpPr>
            <p:nvPr/>
          </p:nvSpPr>
          <p:spPr bwMode="auto">
            <a:xfrm>
              <a:off x="2306" y="871"/>
              <a:ext cx="1125" cy="237"/>
            </a:xfrm>
            <a:prstGeom prst="rect">
              <a:avLst/>
            </a:prstGeom>
            <a:solidFill>
              <a:schemeClr val="folHlink">
                <a:alpha val="25000"/>
              </a:schemeClr>
            </a:solidFill>
            <a:ln w="9525" algn="ctr">
              <a:solidFill>
                <a:schemeClr val="tx1"/>
              </a:solidFill>
              <a:miter lim="800000"/>
              <a:headEnd/>
              <a:tailEnd/>
            </a:ln>
            <a:effectLst/>
          </p:spPr>
          <p:txBody>
            <a:bodyPr>
              <a:spAutoFit/>
            </a:bodyPr>
            <a:lstStyle/>
            <a:p>
              <a:pPr>
                <a:spcBef>
                  <a:spcPct val="50000"/>
                </a:spcBef>
              </a:pPr>
              <a:r>
                <a:rPr lang="en-US" sz="1800" b="1"/>
                <a:t>Collection</a:t>
              </a:r>
            </a:p>
          </p:txBody>
        </p:sp>
        <p:sp>
          <p:nvSpPr>
            <p:cNvPr id="9" name="Text Box 11"/>
            <p:cNvSpPr txBox="1">
              <a:spLocks noChangeArrowheads="1"/>
            </p:cNvSpPr>
            <p:nvPr/>
          </p:nvSpPr>
          <p:spPr bwMode="auto">
            <a:xfrm>
              <a:off x="2004" y="2978"/>
              <a:ext cx="822" cy="237"/>
            </a:xfrm>
            <a:prstGeom prst="rect">
              <a:avLst/>
            </a:prstGeom>
            <a:solidFill>
              <a:schemeClr val="folHlink">
                <a:alpha val="25000"/>
              </a:schemeClr>
            </a:solidFill>
            <a:ln w="9525" algn="ctr">
              <a:solidFill>
                <a:schemeClr val="tx1"/>
              </a:solidFill>
              <a:miter lim="800000"/>
              <a:headEnd/>
              <a:tailEnd/>
            </a:ln>
            <a:effectLst/>
          </p:spPr>
          <p:txBody>
            <a:bodyPr>
              <a:spAutoFit/>
            </a:bodyPr>
            <a:lstStyle/>
            <a:p>
              <a:pPr>
                <a:spcBef>
                  <a:spcPct val="50000"/>
                </a:spcBef>
              </a:pPr>
              <a:r>
                <a:rPr lang="en-US" sz="1800" b="1"/>
                <a:t>SortedSet</a:t>
              </a:r>
            </a:p>
          </p:txBody>
        </p:sp>
        <p:sp>
          <p:nvSpPr>
            <p:cNvPr id="10" name="Text Box 12"/>
            <p:cNvSpPr txBox="1">
              <a:spLocks noChangeArrowheads="1"/>
            </p:cNvSpPr>
            <p:nvPr/>
          </p:nvSpPr>
          <p:spPr bwMode="auto">
            <a:xfrm>
              <a:off x="3727" y="1886"/>
              <a:ext cx="1125" cy="237"/>
            </a:xfrm>
            <a:prstGeom prst="rect">
              <a:avLst/>
            </a:prstGeom>
            <a:solidFill>
              <a:schemeClr val="folHlink">
                <a:alpha val="25000"/>
              </a:schemeClr>
            </a:solidFill>
            <a:ln w="9525" algn="ctr">
              <a:solidFill>
                <a:schemeClr val="tx1"/>
              </a:solidFill>
              <a:miter lim="800000"/>
              <a:headEnd/>
              <a:tailEnd/>
            </a:ln>
            <a:effectLst/>
          </p:spPr>
          <p:txBody>
            <a:bodyPr>
              <a:spAutoFit/>
            </a:bodyPr>
            <a:lstStyle/>
            <a:p>
              <a:pPr>
                <a:spcBef>
                  <a:spcPct val="50000"/>
                </a:spcBef>
              </a:pPr>
              <a:r>
                <a:rPr lang="en-US" sz="1800" b="1"/>
                <a:t>List</a:t>
              </a:r>
            </a:p>
          </p:txBody>
        </p:sp>
        <p:sp>
          <p:nvSpPr>
            <p:cNvPr id="11" name="Text Box 13"/>
            <p:cNvSpPr txBox="1">
              <a:spLocks noChangeArrowheads="1"/>
            </p:cNvSpPr>
            <p:nvPr/>
          </p:nvSpPr>
          <p:spPr bwMode="auto">
            <a:xfrm>
              <a:off x="902" y="1882"/>
              <a:ext cx="1125" cy="237"/>
            </a:xfrm>
            <a:prstGeom prst="rect">
              <a:avLst/>
            </a:prstGeom>
            <a:solidFill>
              <a:schemeClr val="folHlink">
                <a:alpha val="25000"/>
              </a:schemeClr>
            </a:solidFill>
            <a:ln w="9525" algn="ctr">
              <a:solidFill>
                <a:schemeClr val="tx1"/>
              </a:solidFill>
              <a:miter lim="800000"/>
              <a:headEnd/>
              <a:tailEnd/>
            </a:ln>
            <a:effectLst/>
          </p:spPr>
          <p:txBody>
            <a:bodyPr>
              <a:spAutoFit/>
            </a:bodyPr>
            <a:lstStyle/>
            <a:p>
              <a:pPr>
                <a:spcBef>
                  <a:spcPct val="50000"/>
                </a:spcBef>
              </a:pPr>
              <a:r>
                <a:rPr lang="en-US" sz="1800" b="1"/>
                <a:t>Set</a:t>
              </a:r>
            </a:p>
          </p:txBody>
        </p:sp>
        <p:sp>
          <p:nvSpPr>
            <p:cNvPr id="12" name="Text Box 14"/>
            <p:cNvSpPr txBox="1">
              <a:spLocks noChangeArrowheads="1"/>
            </p:cNvSpPr>
            <p:nvPr/>
          </p:nvSpPr>
          <p:spPr bwMode="auto">
            <a:xfrm>
              <a:off x="723" y="3738"/>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LinkedHashSet</a:t>
              </a:r>
            </a:p>
          </p:txBody>
        </p:sp>
        <p:sp>
          <p:nvSpPr>
            <p:cNvPr id="13" name="Text Box 15"/>
            <p:cNvSpPr txBox="1">
              <a:spLocks noChangeArrowheads="1"/>
            </p:cNvSpPr>
            <p:nvPr/>
          </p:nvSpPr>
          <p:spPr bwMode="auto">
            <a:xfrm>
              <a:off x="1992" y="3738"/>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TreeSet</a:t>
              </a:r>
            </a:p>
          </p:txBody>
        </p:sp>
        <p:sp>
          <p:nvSpPr>
            <p:cNvPr id="14" name="Text Box 16"/>
            <p:cNvSpPr txBox="1">
              <a:spLocks noChangeArrowheads="1"/>
            </p:cNvSpPr>
            <p:nvPr/>
          </p:nvSpPr>
          <p:spPr bwMode="auto">
            <a:xfrm>
              <a:off x="2937" y="3735"/>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LinkedList</a:t>
              </a:r>
            </a:p>
          </p:txBody>
        </p:sp>
        <p:sp>
          <p:nvSpPr>
            <p:cNvPr id="15" name="Text Box 17"/>
            <p:cNvSpPr txBox="1">
              <a:spLocks noChangeArrowheads="1"/>
            </p:cNvSpPr>
            <p:nvPr/>
          </p:nvSpPr>
          <p:spPr bwMode="auto">
            <a:xfrm>
              <a:off x="3874" y="3732"/>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Vector</a:t>
              </a:r>
            </a:p>
          </p:txBody>
        </p:sp>
        <p:sp>
          <p:nvSpPr>
            <p:cNvPr id="16" name="Text Box 19"/>
            <p:cNvSpPr txBox="1">
              <a:spLocks noChangeArrowheads="1"/>
            </p:cNvSpPr>
            <p:nvPr/>
          </p:nvSpPr>
          <p:spPr bwMode="auto">
            <a:xfrm>
              <a:off x="4810" y="3728"/>
              <a:ext cx="838" cy="179"/>
            </a:xfrm>
            <a:prstGeom prst="rect">
              <a:avLst/>
            </a:prstGeom>
            <a:solidFill>
              <a:srgbClr val="3366CC">
                <a:alpha val="25000"/>
              </a:srgbClr>
            </a:solidFill>
            <a:ln w="9525" algn="ctr">
              <a:solidFill>
                <a:schemeClr val="tx1"/>
              </a:solidFill>
              <a:miter lim="800000"/>
              <a:headEnd/>
              <a:tailEnd/>
            </a:ln>
            <a:effectLst/>
          </p:spPr>
          <p:txBody>
            <a:bodyPr>
              <a:spAutoFit/>
            </a:bodyPr>
            <a:lstStyle/>
            <a:p>
              <a:pPr>
                <a:spcBef>
                  <a:spcPct val="50000"/>
                </a:spcBef>
              </a:pPr>
              <a:r>
                <a:rPr lang="en-US" sz="1200" b="1"/>
                <a:t>ArrayList</a:t>
              </a:r>
            </a:p>
          </p:txBody>
        </p:sp>
        <p:sp>
          <p:nvSpPr>
            <p:cNvPr id="17" name="AutoShape 21"/>
            <p:cNvSpPr>
              <a:spLocks noChangeArrowheads="1"/>
            </p:cNvSpPr>
            <p:nvPr/>
          </p:nvSpPr>
          <p:spPr bwMode="auto">
            <a:xfrm>
              <a:off x="4256" y="2130"/>
              <a:ext cx="75" cy="605"/>
            </a:xfrm>
            <a:prstGeom prst="upArrow">
              <a:avLst>
                <a:gd name="adj1" fmla="val 0"/>
                <a:gd name="adj2" fmla="val 201368"/>
              </a:avLst>
            </a:prstGeom>
            <a:solidFill>
              <a:srgbClr val="FFFFFF"/>
            </a:solidFill>
            <a:ln w="9525" algn="ctr">
              <a:solidFill>
                <a:schemeClr val="tx1"/>
              </a:solidFill>
              <a:miter lim="800000"/>
              <a:headEnd/>
              <a:tailEnd/>
            </a:ln>
            <a:effectLst/>
          </p:spPr>
          <p:txBody>
            <a:bodyPr wrap="none" anchor="ctr"/>
            <a:lstStyle/>
            <a:p>
              <a:endParaRPr lang="en-US"/>
            </a:p>
          </p:txBody>
        </p:sp>
        <p:sp>
          <p:nvSpPr>
            <p:cNvPr id="18" name="Text Box 22"/>
            <p:cNvSpPr txBox="1">
              <a:spLocks noChangeArrowheads="1"/>
            </p:cNvSpPr>
            <p:nvPr/>
          </p:nvSpPr>
          <p:spPr bwMode="auto">
            <a:xfrm>
              <a:off x="3908" y="2363"/>
              <a:ext cx="765" cy="192"/>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implements</a:t>
              </a:r>
            </a:p>
          </p:txBody>
        </p:sp>
        <p:sp>
          <p:nvSpPr>
            <p:cNvPr id="19" name="Line 23"/>
            <p:cNvSpPr>
              <a:spLocks noChangeShapeType="1"/>
            </p:cNvSpPr>
            <p:nvPr/>
          </p:nvSpPr>
          <p:spPr bwMode="auto">
            <a:xfrm>
              <a:off x="4293" y="2712"/>
              <a:ext cx="0" cy="1019"/>
            </a:xfrm>
            <a:prstGeom prst="line">
              <a:avLst/>
            </a:prstGeom>
            <a:noFill/>
            <a:ln w="9525">
              <a:solidFill>
                <a:schemeClr val="tx1"/>
              </a:solidFill>
              <a:round/>
              <a:headEnd/>
              <a:tailEnd/>
            </a:ln>
            <a:effectLst/>
          </p:spPr>
          <p:txBody>
            <a:bodyPr wrap="none" anchor="ctr"/>
            <a:lstStyle/>
            <a:p>
              <a:endParaRPr lang="en-US"/>
            </a:p>
          </p:txBody>
        </p:sp>
        <p:sp>
          <p:nvSpPr>
            <p:cNvPr id="20" name="Line 24"/>
            <p:cNvSpPr>
              <a:spLocks noChangeShapeType="1"/>
            </p:cNvSpPr>
            <p:nvPr/>
          </p:nvSpPr>
          <p:spPr bwMode="auto">
            <a:xfrm>
              <a:off x="3356" y="3074"/>
              <a:ext cx="1872" cy="0"/>
            </a:xfrm>
            <a:prstGeom prst="line">
              <a:avLst/>
            </a:prstGeom>
            <a:noFill/>
            <a:ln w="9525">
              <a:solidFill>
                <a:schemeClr val="tx1"/>
              </a:solidFill>
              <a:round/>
              <a:headEnd/>
              <a:tailEnd/>
            </a:ln>
            <a:effectLst/>
          </p:spPr>
          <p:txBody>
            <a:bodyPr wrap="none" anchor="ctr"/>
            <a:lstStyle/>
            <a:p>
              <a:endParaRPr lang="en-US"/>
            </a:p>
          </p:txBody>
        </p:sp>
        <p:sp>
          <p:nvSpPr>
            <p:cNvPr id="21" name="Line 25"/>
            <p:cNvSpPr>
              <a:spLocks noChangeShapeType="1"/>
            </p:cNvSpPr>
            <p:nvPr/>
          </p:nvSpPr>
          <p:spPr bwMode="auto">
            <a:xfrm flipV="1">
              <a:off x="3356" y="3074"/>
              <a:ext cx="0" cy="653"/>
            </a:xfrm>
            <a:prstGeom prst="line">
              <a:avLst/>
            </a:prstGeom>
            <a:noFill/>
            <a:ln w="9525">
              <a:solidFill>
                <a:schemeClr val="tx1"/>
              </a:solidFill>
              <a:round/>
              <a:headEnd/>
              <a:tailEnd/>
            </a:ln>
            <a:effectLst/>
          </p:spPr>
          <p:txBody>
            <a:bodyPr wrap="none" anchor="ctr"/>
            <a:lstStyle/>
            <a:p>
              <a:endParaRPr lang="en-US"/>
            </a:p>
          </p:txBody>
        </p:sp>
        <p:sp>
          <p:nvSpPr>
            <p:cNvPr id="22" name="Line 26"/>
            <p:cNvSpPr>
              <a:spLocks noChangeShapeType="1"/>
            </p:cNvSpPr>
            <p:nvPr/>
          </p:nvSpPr>
          <p:spPr bwMode="auto">
            <a:xfrm flipV="1">
              <a:off x="5228" y="3074"/>
              <a:ext cx="0" cy="644"/>
            </a:xfrm>
            <a:prstGeom prst="line">
              <a:avLst/>
            </a:prstGeom>
            <a:noFill/>
            <a:ln w="9525">
              <a:solidFill>
                <a:schemeClr val="tx1"/>
              </a:solidFill>
              <a:round/>
              <a:headEnd/>
              <a:tailEnd/>
            </a:ln>
            <a:effectLst/>
          </p:spPr>
          <p:txBody>
            <a:bodyPr wrap="none" anchor="ctr"/>
            <a:lstStyle/>
            <a:p>
              <a:endParaRPr lang="en-US"/>
            </a:p>
          </p:txBody>
        </p:sp>
        <p:sp>
          <p:nvSpPr>
            <p:cNvPr id="23" name="AutoShape 27"/>
            <p:cNvSpPr>
              <a:spLocks noChangeArrowheads="1"/>
            </p:cNvSpPr>
            <p:nvPr/>
          </p:nvSpPr>
          <p:spPr bwMode="auto">
            <a:xfrm>
              <a:off x="2379" y="3211"/>
              <a:ext cx="84" cy="520"/>
            </a:xfrm>
            <a:prstGeom prst="upArrow">
              <a:avLst>
                <a:gd name="adj1" fmla="val 0"/>
                <a:gd name="adj2" fmla="val 154533"/>
              </a:avLst>
            </a:prstGeom>
            <a:solidFill>
              <a:srgbClr val="FFFFFF"/>
            </a:solidFill>
            <a:ln w="9525" algn="ctr">
              <a:solidFill>
                <a:schemeClr val="tx1"/>
              </a:solidFill>
              <a:miter lim="800000"/>
              <a:headEnd/>
              <a:tailEnd/>
            </a:ln>
            <a:effectLst/>
          </p:spPr>
          <p:txBody>
            <a:bodyPr wrap="none" anchor="ctr"/>
            <a:lstStyle/>
            <a:p>
              <a:endParaRPr lang="en-US"/>
            </a:p>
          </p:txBody>
        </p:sp>
        <p:sp>
          <p:nvSpPr>
            <p:cNvPr id="24" name="Text Box 28"/>
            <p:cNvSpPr txBox="1">
              <a:spLocks noChangeArrowheads="1"/>
            </p:cNvSpPr>
            <p:nvPr/>
          </p:nvSpPr>
          <p:spPr bwMode="auto">
            <a:xfrm>
              <a:off x="2040" y="3413"/>
              <a:ext cx="765" cy="192"/>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implements</a:t>
              </a:r>
            </a:p>
          </p:txBody>
        </p:sp>
        <p:sp>
          <p:nvSpPr>
            <p:cNvPr id="25" name="Line 34"/>
            <p:cNvSpPr>
              <a:spLocks noChangeShapeType="1"/>
            </p:cNvSpPr>
            <p:nvPr/>
          </p:nvSpPr>
          <p:spPr bwMode="auto">
            <a:xfrm>
              <a:off x="1757" y="2712"/>
              <a:ext cx="660" cy="0"/>
            </a:xfrm>
            <a:prstGeom prst="line">
              <a:avLst/>
            </a:prstGeom>
            <a:noFill/>
            <a:ln w="9525">
              <a:solidFill>
                <a:schemeClr val="tx1"/>
              </a:solidFill>
              <a:round/>
              <a:headEnd/>
              <a:tailEnd/>
            </a:ln>
            <a:effectLst/>
          </p:spPr>
          <p:txBody>
            <a:bodyPr wrap="none" anchor="ctr"/>
            <a:lstStyle/>
            <a:p>
              <a:endParaRPr lang="en-US"/>
            </a:p>
          </p:txBody>
        </p:sp>
        <p:sp>
          <p:nvSpPr>
            <p:cNvPr id="26" name="Line 35"/>
            <p:cNvSpPr>
              <a:spLocks noChangeShapeType="1"/>
            </p:cNvSpPr>
            <p:nvPr/>
          </p:nvSpPr>
          <p:spPr bwMode="auto">
            <a:xfrm>
              <a:off x="2417" y="2718"/>
              <a:ext cx="0" cy="254"/>
            </a:xfrm>
            <a:prstGeom prst="line">
              <a:avLst/>
            </a:prstGeom>
            <a:noFill/>
            <a:ln w="9525">
              <a:solidFill>
                <a:schemeClr val="tx1"/>
              </a:solidFill>
              <a:round/>
              <a:headEnd/>
              <a:tailEnd/>
            </a:ln>
            <a:effectLst/>
          </p:spPr>
          <p:txBody>
            <a:bodyPr wrap="none" anchor="ctr"/>
            <a:lstStyle/>
            <a:p>
              <a:endParaRPr lang="en-US"/>
            </a:p>
          </p:txBody>
        </p:sp>
        <p:sp>
          <p:nvSpPr>
            <p:cNvPr id="27" name="AutoShape 36"/>
            <p:cNvSpPr>
              <a:spLocks noChangeArrowheads="1"/>
            </p:cNvSpPr>
            <p:nvPr/>
          </p:nvSpPr>
          <p:spPr bwMode="auto">
            <a:xfrm>
              <a:off x="2831" y="1129"/>
              <a:ext cx="85" cy="482"/>
            </a:xfrm>
            <a:prstGeom prst="upArrow">
              <a:avLst>
                <a:gd name="adj1" fmla="val 0"/>
                <a:gd name="adj2" fmla="val 141555"/>
              </a:avLst>
            </a:prstGeom>
            <a:solidFill>
              <a:srgbClr val="FFFFFF"/>
            </a:solidFill>
            <a:ln w="9525" algn="ctr">
              <a:solidFill>
                <a:schemeClr val="tx1"/>
              </a:solidFill>
              <a:miter lim="800000"/>
              <a:headEnd/>
              <a:tailEnd/>
            </a:ln>
            <a:effectLst/>
          </p:spPr>
          <p:txBody>
            <a:bodyPr wrap="none" anchor="ctr"/>
            <a:lstStyle/>
            <a:p>
              <a:endParaRPr lang="en-US"/>
            </a:p>
          </p:txBody>
        </p:sp>
        <p:sp>
          <p:nvSpPr>
            <p:cNvPr id="28" name="Text Box 37"/>
            <p:cNvSpPr txBox="1">
              <a:spLocks noChangeArrowheads="1"/>
            </p:cNvSpPr>
            <p:nvPr/>
          </p:nvSpPr>
          <p:spPr bwMode="auto">
            <a:xfrm>
              <a:off x="2501" y="1344"/>
              <a:ext cx="765" cy="192"/>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implements</a:t>
              </a:r>
            </a:p>
          </p:txBody>
        </p:sp>
        <p:sp>
          <p:nvSpPr>
            <p:cNvPr id="29" name="Line 38"/>
            <p:cNvSpPr>
              <a:spLocks noChangeShapeType="1"/>
            </p:cNvSpPr>
            <p:nvPr/>
          </p:nvSpPr>
          <p:spPr bwMode="auto">
            <a:xfrm flipV="1">
              <a:off x="1472" y="1611"/>
              <a:ext cx="2814" cy="3"/>
            </a:xfrm>
            <a:prstGeom prst="line">
              <a:avLst/>
            </a:prstGeom>
            <a:noFill/>
            <a:ln w="9525">
              <a:solidFill>
                <a:schemeClr val="tx1"/>
              </a:solidFill>
              <a:round/>
              <a:headEnd/>
              <a:tailEnd/>
            </a:ln>
            <a:effectLst/>
          </p:spPr>
          <p:txBody>
            <a:bodyPr wrap="none" anchor="ctr"/>
            <a:lstStyle/>
            <a:p>
              <a:endParaRPr lang="en-US"/>
            </a:p>
          </p:txBody>
        </p:sp>
        <p:sp>
          <p:nvSpPr>
            <p:cNvPr id="30" name="Line 40"/>
            <p:cNvSpPr>
              <a:spLocks noChangeShapeType="1"/>
            </p:cNvSpPr>
            <p:nvPr/>
          </p:nvSpPr>
          <p:spPr bwMode="auto">
            <a:xfrm flipV="1">
              <a:off x="4287" y="1615"/>
              <a:ext cx="0" cy="267"/>
            </a:xfrm>
            <a:prstGeom prst="line">
              <a:avLst/>
            </a:prstGeom>
            <a:noFill/>
            <a:ln w="9525">
              <a:solidFill>
                <a:schemeClr val="tx1"/>
              </a:solidFill>
              <a:round/>
              <a:headEnd/>
              <a:tailEnd/>
            </a:ln>
            <a:effectLst/>
          </p:spPr>
          <p:txBody>
            <a:bodyPr wrap="none" anchor="ctr"/>
            <a:lstStyle/>
            <a:p>
              <a:endParaRPr lang="en-US"/>
            </a:p>
          </p:txBody>
        </p:sp>
        <p:sp>
          <p:nvSpPr>
            <p:cNvPr id="31" name="Line 41"/>
            <p:cNvSpPr>
              <a:spLocks noChangeShapeType="1"/>
            </p:cNvSpPr>
            <p:nvPr/>
          </p:nvSpPr>
          <p:spPr bwMode="auto">
            <a:xfrm>
              <a:off x="1472" y="1614"/>
              <a:ext cx="0" cy="265"/>
            </a:xfrm>
            <a:prstGeom prst="line">
              <a:avLst/>
            </a:prstGeom>
            <a:noFill/>
            <a:ln w="9525">
              <a:solidFill>
                <a:schemeClr val="tx1"/>
              </a:solidFill>
              <a:round/>
              <a:headEnd/>
              <a:tailEnd/>
            </a:ln>
            <a:effectLst/>
          </p:spPr>
          <p:txBody>
            <a:bodyPr wrap="none" anchor="ctr"/>
            <a:lstStyle/>
            <a:p>
              <a:endParaRPr lang="en-US"/>
            </a:p>
          </p:txBody>
        </p:sp>
        <p:sp>
          <p:nvSpPr>
            <p:cNvPr id="32" name="Text Box 29"/>
            <p:cNvSpPr txBox="1">
              <a:spLocks noChangeArrowheads="1"/>
            </p:cNvSpPr>
            <p:nvPr/>
          </p:nvSpPr>
          <p:spPr bwMode="auto">
            <a:xfrm>
              <a:off x="767" y="2348"/>
              <a:ext cx="765" cy="192"/>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implements</a:t>
              </a:r>
            </a:p>
          </p:txBody>
        </p:sp>
        <p:grpSp>
          <p:nvGrpSpPr>
            <p:cNvPr id="5" name="Group 44"/>
            <p:cNvGrpSpPr>
              <a:grpSpLocks/>
            </p:cNvGrpSpPr>
            <p:nvPr/>
          </p:nvGrpSpPr>
          <p:grpSpPr bwMode="auto">
            <a:xfrm>
              <a:off x="1485" y="2121"/>
              <a:ext cx="567" cy="593"/>
              <a:chOff x="583" y="1189"/>
              <a:chExt cx="567" cy="605"/>
            </a:xfrm>
          </p:grpSpPr>
          <p:sp>
            <p:nvSpPr>
              <p:cNvPr id="37" name="AutoShape 45"/>
              <p:cNvSpPr>
                <a:spLocks noChangeArrowheads="1"/>
              </p:cNvSpPr>
              <p:nvPr/>
            </p:nvSpPr>
            <p:spPr bwMode="auto">
              <a:xfrm>
                <a:off x="819" y="1189"/>
                <a:ext cx="75" cy="605"/>
              </a:xfrm>
              <a:prstGeom prst="upArrow">
                <a:avLst>
                  <a:gd name="adj1" fmla="val 0"/>
                  <a:gd name="adj2" fmla="val 201368"/>
                </a:avLst>
              </a:prstGeom>
              <a:solidFill>
                <a:srgbClr val="FFFFFF"/>
              </a:solidFill>
              <a:ln w="9525" algn="ctr">
                <a:solidFill>
                  <a:schemeClr val="tx1"/>
                </a:solidFill>
                <a:miter lim="800000"/>
                <a:headEnd/>
                <a:tailEnd/>
              </a:ln>
              <a:effectLst/>
            </p:spPr>
            <p:txBody>
              <a:bodyPr wrap="none" anchor="ctr"/>
              <a:lstStyle/>
              <a:p>
                <a:endParaRPr lang="en-US"/>
              </a:p>
            </p:txBody>
          </p:sp>
          <p:sp>
            <p:nvSpPr>
              <p:cNvPr id="38" name="Text Box 46"/>
              <p:cNvSpPr txBox="1">
                <a:spLocks noChangeArrowheads="1"/>
              </p:cNvSpPr>
              <p:nvPr/>
            </p:nvSpPr>
            <p:spPr bwMode="auto">
              <a:xfrm>
                <a:off x="583" y="1422"/>
                <a:ext cx="567" cy="195"/>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extends</a:t>
                </a:r>
              </a:p>
            </p:txBody>
          </p:sp>
        </p:grpSp>
        <p:grpSp>
          <p:nvGrpSpPr>
            <p:cNvPr id="33" name="Group 50"/>
            <p:cNvGrpSpPr>
              <a:grpSpLocks/>
            </p:cNvGrpSpPr>
            <p:nvPr/>
          </p:nvGrpSpPr>
          <p:grpSpPr bwMode="auto">
            <a:xfrm>
              <a:off x="872" y="3077"/>
              <a:ext cx="567" cy="655"/>
              <a:chOff x="583" y="1189"/>
              <a:chExt cx="567" cy="605"/>
            </a:xfrm>
          </p:grpSpPr>
          <p:sp>
            <p:nvSpPr>
              <p:cNvPr id="35" name="AutoShape 51"/>
              <p:cNvSpPr>
                <a:spLocks noChangeArrowheads="1"/>
              </p:cNvSpPr>
              <p:nvPr/>
            </p:nvSpPr>
            <p:spPr bwMode="auto">
              <a:xfrm>
                <a:off x="819" y="1189"/>
                <a:ext cx="75" cy="605"/>
              </a:xfrm>
              <a:prstGeom prst="upArrow">
                <a:avLst>
                  <a:gd name="adj1" fmla="val 0"/>
                  <a:gd name="adj2" fmla="val 201368"/>
                </a:avLst>
              </a:prstGeom>
              <a:solidFill>
                <a:srgbClr val="FFFFFF"/>
              </a:solidFill>
              <a:ln w="9525" algn="ctr">
                <a:solidFill>
                  <a:schemeClr val="tx1"/>
                </a:solidFill>
                <a:miter lim="800000"/>
                <a:headEnd/>
                <a:tailEnd/>
              </a:ln>
              <a:effectLst/>
            </p:spPr>
            <p:txBody>
              <a:bodyPr wrap="none" anchor="ctr"/>
              <a:lstStyle/>
              <a:p>
                <a:endParaRPr lang="en-US"/>
              </a:p>
            </p:txBody>
          </p:sp>
          <p:sp>
            <p:nvSpPr>
              <p:cNvPr id="36" name="Text Box 52"/>
              <p:cNvSpPr txBox="1">
                <a:spLocks noChangeArrowheads="1"/>
              </p:cNvSpPr>
              <p:nvPr/>
            </p:nvSpPr>
            <p:spPr bwMode="auto">
              <a:xfrm>
                <a:off x="583" y="1422"/>
                <a:ext cx="567" cy="177"/>
              </a:xfrm>
              <a:prstGeom prst="rect">
                <a:avLst/>
              </a:prstGeom>
              <a:solidFill>
                <a:schemeClr val="bg1"/>
              </a:solidFill>
              <a:ln w="9525" algn="ctr">
                <a:noFill/>
                <a:miter lim="800000"/>
                <a:headEnd/>
                <a:tailEnd/>
              </a:ln>
              <a:effectLst/>
            </p:spPr>
            <p:txBody>
              <a:bodyPr>
                <a:spAutoFit/>
              </a:bodyPr>
              <a:lstStyle/>
              <a:p>
                <a:pPr>
                  <a:spcBef>
                    <a:spcPct val="50000"/>
                  </a:spcBef>
                </a:pPr>
                <a:r>
                  <a:rPr lang="en-US" sz="1400" b="1">
                    <a:solidFill>
                      <a:srgbClr val="3366CC"/>
                    </a:solidFill>
                  </a:rPr>
                  <a:t>extends</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Autofit/>
          </a:bodyPr>
          <a:lstStyle/>
          <a:p>
            <a:pPr rtl="1"/>
            <a:r>
              <a:rPr lang="fa-IR" sz="2800" dirty="0">
                <a:solidFill>
                  <a:schemeClr val="bg1"/>
                </a:solidFill>
                <a:cs typeface="B Lotus" pitchFamily="2" charset="-78"/>
              </a:rPr>
              <a:t>واسط </a:t>
            </a:r>
            <a:r>
              <a:rPr lang="en-US" sz="2800" dirty="0">
                <a:solidFill>
                  <a:schemeClr val="bg1"/>
                </a:solidFill>
                <a:cs typeface="B Lotus" pitchFamily="2" charset="-78"/>
              </a:rPr>
              <a:t>set</a:t>
            </a:r>
          </a:p>
        </p:txBody>
      </p:sp>
      <p:sp>
        <p:nvSpPr>
          <p:cNvPr id="4" name="Slide Number Placeholder 3"/>
          <p:cNvSpPr>
            <a:spLocks noGrp="1"/>
          </p:cNvSpPr>
          <p:nvPr>
            <p:ph type="sldNum" sz="quarter" idx="12"/>
          </p:nvPr>
        </p:nvSpPr>
        <p:spPr/>
        <p:txBody>
          <a:bodyPr/>
          <a:lstStyle/>
          <a:p>
            <a:fld id="{79E6E8FA-B1EB-4DD1-845A-B9015C921A1C}" type="slidenum">
              <a:rPr lang="en-US" smtClean="0"/>
              <a:pPr/>
              <a:t>3</a:t>
            </a:fld>
            <a:endParaRPr lang="en-US"/>
          </a:p>
        </p:txBody>
      </p:sp>
      <p:sp>
        <p:nvSpPr>
          <p:cNvPr id="5" name="Rectangle 19"/>
          <p:cNvSpPr txBox="1">
            <a:spLocks noChangeArrowheads="1"/>
          </p:cNvSpPr>
          <p:nvPr/>
        </p:nvSpPr>
        <p:spPr>
          <a:xfrm>
            <a:off x="703263" y="4025900"/>
            <a:ext cx="7312025" cy="438150"/>
          </a:xfrm>
          <a:prstGeom prst="rect">
            <a:avLst/>
          </a:prstGeom>
          <a:noFill/>
          <a:ln/>
          <a:effectLst>
            <a:prstShdw prst="shdw18" dist="17961" dir="13500000">
              <a:schemeClr val="bg1">
                <a:gamma/>
                <a:shade val="60000"/>
                <a:invGamma/>
              </a:schemeClr>
            </a:prstShdw>
          </a:effectLst>
        </p:spPr>
        <p:txBody>
          <a:bodyPr vert="horz" lIns="91440" tIns="45720" rIns="91440" bIns="45720" rtlCol="0">
            <a:normAutofit fontScale="77500" lnSpcReduction="20000"/>
          </a:bodyPr>
          <a:lstStyle/>
          <a:p>
            <a:pPr marL="342900" marR="0" lvl="0" indent="-342900" algn="ctr" defTabSz="914400" rtl="0" eaLnBrk="1" fontAlgn="auto" latinLnBrk="0" hangingPunct="1">
              <a:lnSpc>
                <a:spcPct val="100000"/>
              </a:lnSpc>
              <a:spcBef>
                <a:spcPct val="20000"/>
              </a:spcBef>
              <a:spcAft>
                <a:spcPts val="0"/>
              </a:spcAft>
              <a:buClrTx/>
              <a:buSzTx/>
              <a:buFontTx/>
              <a:buNone/>
              <a:tabLst/>
              <a:defRPr/>
            </a:pPr>
            <a:r>
              <a:rPr kumimoji="0" lang="en-US" sz="2800" b="1" i="0" u="none" strike="noStrike" kern="1200" cap="none" spc="0" normalizeH="0" baseline="0" noProof="0">
                <a:ln>
                  <a:noFill/>
                </a:ln>
                <a:solidFill>
                  <a:srgbClr val="4D4D4D"/>
                </a:solidFill>
                <a:effectLst/>
                <a:uLnTx/>
                <a:uFillTx/>
                <a:latin typeface="+mn-lt"/>
                <a:ea typeface="+mn-ea"/>
                <a:cs typeface="+mn-cs"/>
              </a:rPr>
              <a:t>A Set cares about uniqueness, it doesn’t allow duplicates.</a:t>
            </a:r>
            <a:endParaRPr kumimoji="0" lang="en-US" sz="2800" b="1" i="0" u="none" strike="noStrike" kern="1200" cap="none" spc="0" normalizeH="0" baseline="0" noProof="0">
              <a:ln>
                <a:noFill/>
              </a:ln>
              <a:solidFill>
                <a:srgbClr val="104412"/>
              </a:solidFill>
              <a:effectLst/>
              <a:uLnTx/>
              <a:uFillTx/>
              <a:latin typeface="+mn-lt"/>
              <a:ea typeface="+mn-ea"/>
              <a:cs typeface="+mn-cs"/>
            </a:endParaRPr>
          </a:p>
        </p:txBody>
      </p:sp>
      <p:sp>
        <p:nvSpPr>
          <p:cNvPr id="6" name="Rectangle 4">
            <a:hlinkClick r:id="rId2" action="ppaction://hlinksldjump"/>
          </p:cNvPr>
          <p:cNvSpPr>
            <a:spLocks noChangeArrowheads="1"/>
          </p:cNvSpPr>
          <p:nvPr/>
        </p:nvSpPr>
        <p:spPr bwMode="auto">
          <a:xfrm>
            <a:off x="547688" y="1370013"/>
            <a:ext cx="8135937" cy="5027612"/>
          </a:xfrm>
          <a:prstGeom prst="rect">
            <a:avLst/>
          </a:prstGeom>
          <a:solidFill>
            <a:srgbClr val="339933">
              <a:alpha val="24001"/>
            </a:srgbClr>
          </a:solidFill>
          <a:ln w="50800">
            <a:solidFill>
              <a:srgbClr val="79B474"/>
            </a:solidFill>
            <a:miter lim="800000"/>
            <a:headEnd/>
            <a:tailEnd/>
          </a:ln>
          <a:effectLst/>
        </p:spPr>
        <p:txBody>
          <a:bodyPr wrap="none" anchor="ctr"/>
          <a:lstStyle/>
          <a:p>
            <a:endParaRPr lang="en-US"/>
          </a:p>
        </p:txBody>
      </p:sp>
      <p:sp>
        <p:nvSpPr>
          <p:cNvPr id="7" name="Freeform 9"/>
          <p:cNvSpPr>
            <a:spLocks/>
          </p:cNvSpPr>
          <p:nvPr/>
        </p:nvSpPr>
        <p:spPr bwMode="auto">
          <a:xfrm>
            <a:off x="1090613" y="1803400"/>
            <a:ext cx="7135812" cy="1616075"/>
          </a:xfrm>
          <a:custGeom>
            <a:avLst/>
            <a:gdLst/>
            <a:ahLst/>
            <a:cxnLst>
              <a:cxn ang="0">
                <a:pos x="214" y="1036"/>
              </a:cxn>
              <a:cxn ang="0">
                <a:pos x="288" y="1091"/>
              </a:cxn>
              <a:cxn ang="0">
                <a:pos x="390" y="1156"/>
              </a:cxn>
              <a:cxn ang="0">
                <a:pos x="418" y="1175"/>
              </a:cxn>
              <a:cxn ang="0">
                <a:pos x="437" y="1203"/>
              </a:cxn>
              <a:cxn ang="0">
                <a:pos x="595" y="1296"/>
              </a:cxn>
              <a:cxn ang="0">
                <a:pos x="632" y="1324"/>
              </a:cxn>
              <a:cxn ang="0">
                <a:pos x="687" y="1342"/>
              </a:cxn>
              <a:cxn ang="0">
                <a:pos x="901" y="1389"/>
              </a:cxn>
              <a:cxn ang="0">
                <a:pos x="1709" y="1444"/>
              </a:cxn>
              <a:cxn ang="0">
                <a:pos x="1747" y="1435"/>
              </a:cxn>
              <a:cxn ang="0">
                <a:pos x="1784" y="1379"/>
              </a:cxn>
              <a:cxn ang="0">
                <a:pos x="1942" y="1361"/>
              </a:cxn>
              <a:cxn ang="0">
                <a:pos x="2685" y="1416"/>
              </a:cxn>
              <a:cxn ang="0">
                <a:pos x="2806" y="1444"/>
              </a:cxn>
              <a:cxn ang="0">
                <a:pos x="2954" y="1463"/>
              </a:cxn>
              <a:cxn ang="0">
                <a:pos x="3475" y="1416"/>
              </a:cxn>
              <a:cxn ang="0">
                <a:pos x="3558" y="1370"/>
              </a:cxn>
              <a:cxn ang="0">
                <a:pos x="3633" y="1286"/>
              </a:cxn>
              <a:cxn ang="0">
                <a:pos x="3660" y="1240"/>
              </a:cxn>
              <a:cxn ang="0">
                <a:pos x="3735" y="1166"/>
              </a:cxn>
              <a:cxn ang="0">
                <a:pos x="3781" y="1101"/>
              </a:cxn>
              <a:cxn ang="0">
                <a:pos x="3874" y="1036"/>
              </a:cxn>
              <a:cxn ang="0">
                <a:pos x="3948" y="970"/>
              </a:cxn>
              <a:cxn ang="0">
                <a:pos x="3958" y="933"/>
              </a:cxn>
              <a:cxn ang="0">
                <a:pos x="3995" y="878"/>
              </a:cxn>
              <a:cxn ang="0">
                <a:pos x="3995" y="673"/>
              </a:cxn>
              <a:cxn ang="0">
                <a:pos x="3967" y="590"/>
              </a:cxn>
              <a:cxn ang="0">
                <a:pos x="3911" y="478"/>
              </a:cxn>
              <a:cxn ang="0">
                <a:pos x="3846" y="441"/>
              </a:cxn>
              <a:cxn ang="0">
                <a:pos x="3558" y="329"/>
              </a:cxn>
              <a:cxn ang="0">
                <a:pos x="3233" y="227"/>
              </a:cxn>
              <a:cxn ang="0">
                <a:pos x="2769" y="144"/>
              </a:cxn>
              <a:cxn ang="0">
                <a:pos x="2620" y="116"/>
              </a:cxn>
              <a:cxn ang="0">
                <a:pos x="2471" y="60"/>
              </a:cxn>
              <a:cxn ang="0">
                <a:pos x="2230" y="4"/>
              </a:cxn>
              <a:cxn ang="0">
                <a:pos x="1923" y="14"/>
              </a:cxn>
              <a:cxn ang="0">
                <a:pos x="1849" y="69"/>
              </a:cxn>
              <a:cxn ang="0">
                <a:pos x="1635" y="144"/>
              </a:cxn>
              <a:cxn ang="0">
                <a:pos x="808" y="181"/>
              </a:cxn>
              <a:cxn ang="0">
                <a:pos x="706" y="218"/>
              </a:cxn>
              <a:cxn ang="0">
                <a:pos x="474" y="329"/>
              </a:cxn>
              <a:cxn ang="0">
                <a:pos x="362" y="478"/>
              </a:cxn>
              <a:cxn ang="0">
                <a:pos x="223" y="497"/>
              </a:cxn>
              <a:cxn ang="0">
                <a:pos x="149" y="515"/>
              </a:cxn>
              <a:cxn ang="0">
                <a:pos x="0" y="701"/>
              </a:cxn>
              <a:cxn ang="0">
                <a:pos x="74" y="896"/>
              </a:cxn>
              <a:cxn ang="0">
                <a:pos x="149" y="970"/>
              </a:cxn>
              <a:cxn ang="0">
                <a:pos x="204" y="1008"/>
              </a:cxn>
              <a:cxn ang="0">
                <a:pos x="214" y="1036"/>
              </a:cxn>
            </a:cxnLst>
            <a:rect l="0" t="0" r="r" b="b"/>
            <a:pathLst>
              <a:path w="4021" h="1472">
                <a:moveTo>
                  <a:pt x="214" y="1036"/>
                </a:moveTo>
                <a:cubicBezTo>
                  <a:pt x="246" y="1056"/>
                  <a:pt x="252" y="1080"/>
                  <a:pt x="288" y="1091"/>
                </a:cubicBezTo>
                <a:cubicBezTo>
                  <a:pt x="311" y="1125"/>
                  <a:pt x="350" y="1143"/>
                  <a:pt x="390" y="1156"/>
                </a:cubicBezTo>
                <a:cubicBezTo>
                  <a:pt x="399" y="1162"/>
                  <a:pt x="410" y="1167"/>
                  <a:pt x="418" y="1175"/>
                </a:cubicBezTo>
                <a:cubicBezTo>
                  <a:pt x="426" y="1183"/>
                  <a:pt x="429" y="1196"/>
                  <a:pt x="437" y="1203"/>
                </a:cubicBezTo>
                <a:cubicBezTo>
                  <a:pt x="482" y="1243"/>
                  <a:pt x="538" y="1276"/>
                  <a:pt x="595" y="1296"/>
                </a:cubicBezTo>
                <a:cubicBezTo>
                  <a:pt x="607" y="1305"/>
                  <a:pt x="618" y="1317"/>
                  <a:pt x="632" y="1324"/>
                </a:cubicBezTo>
                <a:cubicBezTo>
                  <a:pt x="649" y="1333"/>
                  <a:pt x="687" y="1342"/>
                  <a:pt x="687" y="1342"/>
                </a:cubicBezTo>
                <a:cubicBezTo>
                  <a:pt x="748" y="1383"/>
                  <a:pt x="830" y="1377"/>
                  <a:pt x="901" y="1389"/>
                </a:cubicBezTo>
                <a:cubicBezTo>
                  <a:pt x="1169" y="1435"/>
                  <a:pt x="1437" y="1437"/>
                  <a:pt x="1709" y="1444"/>
                </a:cubicBezTo>
                <a:cubicBezTo>
                  <a:pt x="1722" y="1441"/>
                  <a:pt x="1737" y="1443"/>
                  <a:pt x="1747" y="1435"/>
                </a:cubicBezTo>
                <a:cubicBezTo>
                  <a:pt x="1786" y="1405"/>
                  <a:pt x="1715" y="1400"/>
                  <a:pt x="1784" y="1379"/>
                </a:cubicBezTo>
                <a:cubicBezTo>
                  <a:pt x="1835" y="1363"/>
                  <a:pt x="1889" y="1368"/>
                  <a:pt x="1942" y="1361"/>
                </a:cubicBezTo>
                <a:cubicBezTo>
                  <a:pt x="2190" y="1372"/>
                  <a:pt x="2437" y="1398"/>
                  <a:pt x="2685" y="1416"/>
                </a:cubicBezTo>
                <a:cubicBezTo>
                  <a:pt x="2727" y="1427"/>
                  <a:pt x="2763" y="1438"/>
                  <a:pt x="2806" y="1444"/>
                </a:cubicBezTo>
                <a:cubicBezTo>
                  <a:pt x="2855" y="1451"/>
                  <a:pt x="2954" y="1463"/>
                  <a:pt x="2954" y="1463"/>
                </a:cubicBezTo>
                <a:cubicBezTo>
                  <a:pt x="3301" y="1455"/>
                  <a:pt x="3264" y="1472"/>
                  <a:pt x="3475" y="1416"/>
                </a:cubicBezTo>
                <a:cubicBezTo>
                  <a:pt x="3538" y="1374"/>
                  <a:pt x="3509" y="1386"/>
                  <a:pt x="3558" y="1370"/>
                </a:cubicBezTo>
                <a:cubicBezTo>
                  <a:pt x="3592" y="1320"/>
                  <a:pt x="3569" y="1350"/>
                  <a:pt x="3633" y="1286"/>
                </a:cubicBezTo>
                <a:cubicBezTo>
                  <a:pt x="3646" y="1273"/>
                  <a:pt x="3648" y="1254"/>
                  <a:pt x="3660" y="1240"/>
                </a:cubicBezTo>
                <a:cubicBezTo>
                  <a:pt x="3683" y="1213"/>
                  <a:pt x="3710" y="1191"/>
                  <a:pt x="3735" y="1166"/>
                </a:cubicBezTo>
                <a:cubicBezTo>
                  <a:pt x="3754" y="1147"/>
                  <a:pt x="3761" y="1119"/>
                  <a:pt x="3781" y="1101"/>
                </a:cubicBezTo>
                <a:cubicBezTo>
                  <a:pt x="3809" y="1076"/>
                  <a:pt x="3848" y="1063"/>
                  <a:pt x="3874" y="1036"/>
                </a:cubicBezTo>
                <a:cubicBezTo>
                  <a:pt x="3922" y="987"/>
                  <a:pt x="3897" y="1009"/>
                  <a:pt x="3948" y="970"/>
                </a:cubicBezTo>
                <a:cubicBezTo>
                  <a:pt x="3951" y="958"/>
                  <a:pt x="3952" y="944"/>
                  <a:pt x="3958" y="933"/>
                </a:cubicBezTo>
                <a:cubicBezTo>
                  <a:pt x="3968" y="913"/>
                  <a:pt x="3995" y="878"/>
                  <a:pt x="3995" y="878"/>
                </a:cubicBezTo>
                <a:cubicBezTo>
                  <a:pt x="4021" y="796"/>
                  <a:pt x="4009" y="844"/>
                  <a:pt x="3995" y="673"/>
                </a:cubicBezTo>
                <a:cubicBezTo>
                  <a:pt x="3992" y="643"/>
                  <a:pt x="3977" y="618"/>
                  <a:pt x="3967" y="590"/>
                </a:cubicBezTo>
                <a:cubicBezTo>
                  <a:pt x="3935" y="504"/>
                  <a:pt x="3966" y="561"/>
                  <a:pt x="3911" y="478"/>
                </a:cubicBezTo>
                <a:cubicBezTo>
                  <a:pt x="3905" y="470"/>
                  <a:pt x="3850" y="444"/>
                  <a:pt x="3846" y="441"/>
                </a:cubicBezTo>
                <a:cubicBezTo>
                  <a:pt x="3758" y="385"/>
                  <a:pt x="3654" y="370"/>
                  <a:pt x="3558" y="329"/>
                </a:cubicBezTo>
                <a:cubicBezTo>
                  <a:pt x="3456" y="285"/>
                  <a:pt x="3342" y="246"/>
                  <a:pt x="3233" y="227"/>
                </a:cubicBezTo>
                <a:cubicBezTo>
                  <a:pt x="3092" y="157"/>
                  <a:pt x="2924" y="155"/>
                  <a:pt x="2769" y="144"/>
                </a:cubicBezTo>
                <a:cubicBezTo>
                  <a:pt x="2719" y="133"/>
                  <a:pt x="2671" y="123"/>
                  <a:pt x="2620" y="116"/>
                </a:cubicBezTo>
                <a:cubicBezTo>
                  <a:pt x="2570" y="99"/>
                  <a:pt x="2523" y="73"/>
                  <a:pt x="2471" y="60"/>
                </a:cubicBezTo>
                <a:cubicBezTo>
                  <a:pt x="2391" y="41"/>
                  <a:pt x="2307" y="32"/>
                  <a:pt x="2230" y="4"/>
                </a:cubicBezTo>
                <a:cubicBezTo>
                  <a:pt x="2128" y="7"/>
                  <a:pt x="2024" y="0"/>
                  <a:pt x="1923" y="14"/>
                </a:cubicBezTo>
                <a:cubicBezTo>
                  <a:pt x="1893" y="18"/>
                  <a:pt x="1877" y="57"/>
                  <a:pt x="1849" y="69"/>
                </a:cubicBezTo>
                <a:cubicBezTo>
                  <a:pt x="1784" y="97"/>
                  <a:pt x="1705" y="130"/>
                  <a:pt x="1635" y="144"/>
                </a:cubicBezTo>
                <a:cubicBezTo>
                  <a:pt x="1373" y="196"/>
                  <a:pt x="1047" y="177"/>
                  <a:pt x="808" y="181"/>
                </a:cubicBezTo>
                <a:cubicBezTo>
                  <a:pt x="773" y="192"/>
                  <a:pt x="741" y="207"/>
                  <a:pt x="706" y="218"/>
                </a:cubicBezTo>
                <a:cubicBezTo>
                  <a:pt x="636" y="271"/>
                  <a:pt x="552" y="291"/>
                  <a:pt x="474" y="329"/>
                </a:cubicBezTo>
                <a:cubicBezTo>
                  <a:pt x="450" y="362"/>
                  <a:pt x="400" y="463"/>
                  <a:pt x="362" y="478"/>
                </a:cubicBezTo>
                <a:cubicBezTo>
                  <a:pt x="319" y="495"/>
                  <a:pt x="269" y="491"/>
                  <a:pt x="223" y="497"/>
                </a:cubicBezTo>
                <a:cubicBezTo>
                  <a:pt x="198" y="503"/>
                  <a:pt x="174" y="509"/>
                  <a:pt x="149" y="515"/>
                </a:cubicBezTo>
                <a:cubicBezTo>
                  <a:pt x="64" y="536"/>
                  <a:pt x="41" y="640"/>
                  <a:pt x="0" y="701"/>
                </a:cubicBezTo>
                <a:cubicBezTo>
                  <a:pt x="8" y="775"/>
                  <a:pt x="7" y="853"/>
                  <a:pt x="74" y="896"/>
                </a:cubicBezTo>
                <a:cubicBezTo>
                  <a:pt x="94" y="925"/>
                  <a:pt x="121" y="948"/>
                  <a:pt x="149" y="970"/>
                </a:cubicBezTo>
                <a:cubicBezTo>
                  <a:pt x="167" y="984"/>
                  <a:pt x="204" y="1008"/>
                  <a:pt x="204" y="1008"/>
                </a:cubicBezTo>
                <a:cubicBezTo>
                  <a:pt x="207" y="1017"/>
                  <a:pt x="214" y="1036"/>
                  <a:pt x="214" y="1036"/>
                </a:cubicBezTo>
                <a:close/>
              </a:path>
            </a:pathLst>
          </a:custGeom>
          <a:solidFill>
            <a:srgbClr val="FBFFFB"/>
          </a:solidFill>
          <a:ln w="9525" cap="flat" cmpd="sng">
            <a:noFill/>
            <a:prstDash val="solid"/>
            <a:round/>
            <a:headEnd/>
            <a:tailEnd/>
          </a:ln>
          <a:effectLst>
            <a:prstShdw prst="shdw18" dist="17961" dir="13500000">
              <a:srgbClr val="FBFFFB">
                <a:gamma/>
                <a:shade val="60000"/>
                <a:invGamma/>
              </a:srgbClr>
            </a:prstShdw>
          </a:effectLst>
        </p:spPr>
        <p:txBody>
          <a:bodyPr wrap="none" anchor="ctr"/>
          <a:lstStyle/>
          <a:p>
            <a:endParaRPr lang="en-US"/>
          </a:p>
        </p:txBody>
      </p:sp>
      <p:sp>
        <p:nvSpPr>
          <p:cNvPr id="8" name="Text Box 11"/>
          <p:cNvSpPr txBox="1">
            <a:spLocks noChangeArrowheads="1"/>
          </p:cNvSpPr>
          <p:nvPr/>
        </p:nvSpPr>
        <p:spPr bwMode="auto">
          <a:xfrm>
            <a:off x="2292350" y="2303463"/>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“Paul”</a:t>
            </a:r>
          </a:p>
        </p:txBody>
      </p:sp>
      <p:sp>
        <p:nvSpPr>
          <p:cNvPr id="9" name="Text Box 12"/>
          <p:cNvSpPr txBox="1">
            <a:spLocks noChangeArrowheads="1"/>
          </p:cNvSpPr>
          <p:nvPr/>
        </p:nvSpPr>
        <p:spPr bwMode="auto">
          <a:xfrm>
            <a:off x="4324350" y="2705100"/>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“Mark”</a:t>
            </a:r>
          </a:p>
        </p:txBody>
      </p:sp>
      <p:sp>
        <p:nvSpPr>
          <p:cNvPr id="10" name="Text Box 13"/>
          <p:cNvSpPr txBox="1">
            <a:spLocks noChangeArrowheads="1"/>
          </p:cNvSpPr>
          <p:nvPr/>
        </p:nvSpPr>
        <p:spPr bwMode="auto">
          <a:xfrm>
            <a:off x="3790950" y="2108200"/>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“John”</a:t>
            </a:r>
          </a:p>
        </p:txBody>
      </p:sp>
      <p:sp>
        <p:nvSpPr>
          <p:cNvPr id="11" name="Text Box 15"/>
          <p:cNvSpPr txBox="1">
            <a:spLocks noChangeArrowheads="1"/>
          </p:cNvSpPr>
          <p:nvPr/>
        </p:nvSpPr>
        <p:spPr bwMode="auto">
          <a:xfrm>
            <a:off x="5568950" y="2138363"/>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“Luke”</a:t>
            </a:r>
          </a:p>
        </p:txBody>
      </p:sp>
      <p:sp>
        <p:nvSpPr>
          <p:cNvPr id="12" name="Text Box 16"/>
          <p:cNvSpPr txBox="1">
            <a:spLocks noChangeArrowheads="1"/>
          </p:cNvSpPr>
          <p:nvPr/>
        </p:nvSpPr>
        <p:spPr bwMode="auto">
          <a:xfrm>
            <a:off x="5910263" y="2798763"/>
            <a:ext cx="871537"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“Fred”</a:t>
            </a:r>
          </a:p>
        </p:txBody>
      </p:sp>
      <p:sp>
        <p:nvSpPr>
          <p:cNvPr id="13" name="Text Box 17"/>
          <p:cNvSpPr txBox="1">
            <a:spLocks noChangeArrowheads="1"/>
          </p:cNvSpPr>
          <p:nvPr/>
        </p:nvSpPr>
        <p:spPr bwMode="auto">
          <a:xfrm>
            <a:off x="2714625" y="2865438"/>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“Peter”</a:t>
            </a:r>
          </a:p>
        </p:txBody>
      </p:sp>
      <p:sp>
        <p:nvSpPr>
          <p:cNvPr id="14" name="Rectangle 24">
            <a:hlinkClick r:id="" action="ppaction://noaction"/>
          </p:cNvPr>
          <p:cNvSpPr>
            <a:spLocks noChangeArrowheads="1"/>
          </p:cNvSpPr>
          <p:nvPr/>
        </p:nvSpPr>
        <p:spPr bwMode="auto">
          <a:xfrm>
            <a:off x="6134100" y="5605463"/>
            <a:ext cx="2352675" cy="639762"/>
          </a:xfrm>
          <a:prstGeom prst="rect">
            <a:avLst/>
          </a:prstGeom>
          <a:solidFill>
            <a:schemeClr val="bg1"/>
          </a:solidFill>
          <a:ln w="9525" algn="ctr">
            <a:noFill/>
            <a:miter lim="800000"/>
            <a:headEnd/>
            <a:tailEnd/>
          </a:ln>
          <a:effectLst>
            <a:prstShdw prst="shdw18" dist="17961" dir="13500000">
              <a:schemeClr val="bg1">
                <a:gamma/>
                <a:shade val="60000"/>
                <a:invGamma/>
              </a:schemeClr>
            </a:prstShdw>
          </a:effectLst>
        </p:spPr>
        <p:txBody>
          <a:bodyPr anchor="ctr"/>
          <a:lstStyle/>
          <a:p>
            <a:pPr eaLnBrk="1" hangingPunct="1">
              <a:spcBef>
                <a:spcPct val="20000"/>
              </a:spcBef>
              <a:buClr>
                <a:schemeClr val="hlink"/>
              </a:buClr>
            </a:pPr>
            <a:r>
              <a:rPr lang="en-US" sz="1600" b="1">
                <a:solidFill>
                  <a:srgbClr val="003300"/>
                </a:solidFill>
              </a:rPr>
              <a:t>TreeSet</a:t>
            </a:r>
          </a:p>
        </p:txBody>
      </p:sp>
      <p:sp>
        <p:nvSpPr>
          <p:cNvPr id="15" name="Rectangle 25">
            <a:hlinkClick r:id="" action="ppaction://noaction"/>
          </p:cNvPr>
          <p:cNvSpPr>
            <a:spLocks noChangeArrowheads="1"/>
          </p:cNvSpPr>
          <p:nvPr/>
        </p:nvSpPr>
        <p:spPr bwMode="auto">
          <a:xfrm>
            <a:off x="3465513" y="5605463"/>
            <a:ext cx="2352675" cy="639762"/>
          </a:xfrm>
          <a:prstGeom prst="rect">
            <a:avLst/>
          </a:prstGeom>
          <a:solidFill>
            <a:schemeClr val="bg1"/>
          </a:solidFill>
          <a:ln w="9525" algn="ctr">
            <a:noFill/>
            <a:miter lim="800000"/>
            <a:headEnd/>
            <a:tailEnd/>
          </a:ln>
          <a:effectLst>
            <a:prstShdw prst="shdw18" dist="17961" dir="13500000">
              <a:schemeClr val="bg1">
                <a:gamma/>
                <a:shade val="60000"/>
                <a:invGamma/>
              </a:schemeClr>
            </a:prstShdw>
          </a:effectLst>
        </p:spPr>
        <p:txBody>
          <a:bodyPr anchor="ctr"/>
          <a:lstStyle/>
          <a:p>
            <a:pPr eaLnBrk="1" hangingPunct="1">
              <a:spcBef>
                <a:spcPct val="20000"/>
              </a:spcBef>
              <a:buClr>
                <a:schemeClr val="hlink"/>
              </a:buClr>
            </a:pPr>
            <a:r>
              <a:rPr lang="en-US" sz="1600" b="1">
                <a:solidFill>
                  <a:srgbClr val="003300"/>
                </a:solidFill>
              </a:rPr>
              <a:t>LinkedHashSet</a:t>
            </a:r>
          </a:p>
        </p:txBody>
      </p:sp>
      <p:sp>
        <p:nvSpPr>
          <p:cNvPr id="16" name="Rectangle 26">
            <a:hlinkClick r:id="" action="ppaction://noaction"/>
          </p:cNvPr>
          <p:cNvSpPr>
            <a:spLocks noChangeArrowheads="1"/>
          </p:cNvSpPr>
          <p:nvPr/>
        </p:nvSpPr>
        <p:spPr bwMode="auto">
          <a:xfrm>
            <a:off x="750888" y="5605463"/>
            <a:ext cx="2352675" cy="639762"/>
          </a:xfrm>
          <a:prstGeom prst="rect">
            <a:avLst/>
          </a:prstGeom>
          <a:solidFill>
            <a:schemeClr val="bg1"/>
          </a:solidFill>
          <a:ln w="9525" algn="ctr">
            <a:noFill/>
            <a:miter lim="800000"/>
            <a:headEnd/>
            <a:tailEnd/>
          </a:ln>
          <a:effectLst>
            <a:prstShdw prst="shdw18" dist="17961" dir="13500000">
              <a:schemeClr val="bg1">
                <a:gamma/>
                <a:shade val="60000"/>
                <a:invGamma/>
              </a:schemeClr>
            </a:prstShdw>
          </a:effectLst>
        </p:spPr>
        <p:txBody>
          <a:bodyPr anchor="ctr"/>
          <a:lstStyle/>
          <a:p>
            <a:pPr eaLnBrk="1" hangingPunct="1">
              <a:spcBef>
                <a:spcPct val="20000"/>
              </a:spcBef>
              <a:buClr>
                <a:schemeClr val="hlink"/>
              </a:buClr>
            </a:pPr>
            <a:r>
              <a:rPr lang="en-US" sz="1600" b="1">
                <a:solidFill>
                  <a:srgbClr val="003300"/>
                </a:solidFill>
              </a:rPr>
              <a:t>HashSet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368280"/>
          </a:xfrm>
        </p:spPr>
        <p:txBody>
          <a:bodyPr>
            <a:normAutofit fontScale="90000"/>
          </a:bodyPr>
          <a:lstStyle/>
          <a:p>
            <a:pPr rtl="1"/>
            <a:r>
              <a:rPr lang="fa-IR" sz="3200" dirty="0">
                <a:solidFill>
                  <a:schemeClr val="bg1"/>
                </a:solidFill>
                <a:cs typeface="B Lotus" pitchFamily="2" charset="-78"/>
              </a:rPr>
              <a:t>متدهای </a:t>
            </a:r>
            <a:r>
              <a:rPr lang="en-US" sz="3200" dirty="0">
                <a:solidFill>
                  <a:schemeClr val="bg1"/>
                </a:solidFill>
                <a:cs typeface="B Lotus" pitchFamily="2" charset="-78"/>
              </a:rPr>
              <a:t>set</a:t>
            </a:r>
          </a:p>
        </p:txBody>
      </p:sp>
      <p:sp>
        <p:nvSpPr>
          <p:cNvPr id="4" name="Slide Number Placeholder 3"/>
          <p:cNvSpPr>
            <a:spLocks noGrp="1"/>
          </p:cNvSpPr>
          <p:nvPr>
            <p:ph type="sldNum" sz="quarter" idx="12"/>
          </p:nvPr>
        </p:nvSpPr>
        <p:spPr/>
        <p:txBody>
          <a:bodyPr/>
          <a:lstStyle/>
          <a:p>
            <a:fld id="{79E6E8FA-B1EB-4DD1-845A-B9015C921A1C}" type="slidenum">
              <a:rPr lang="en-US" smtClean="0"/>
              <a:pPr/>
              <a:t>4</a:t>
            </a:fld>
            <a:endParaRPr lang="en-US"/>
          </a:p>
        </p:txBody>
      </p:sp>
      <p:sp>
        <p:nvSpPr>
          <p:cNvPr id="5" name="Rectangle 3"/>
          <p:cNvSpPr txBox="1">
            <a:spLocks noChangeArrowheads="1"/>
          </p:cNvSpPr>
          <p:nvPr/>
        </p:nvSpPr>
        <p:spPr>
          <a:xfrm>
            <a:off x="357158" y="1000108"/>
            <a:ext cx="8574088" cy="1169988"/>
          </a:xfrm>
          <a:prstGeom prst="rect">
            <a:avLst/>
          </a:prstGeom>
        </p:spPr>
        <p:txBody>
          <a:bodyPr vert="horz" lIns="91440" tIns="45720" rIns="91440" bIns="45720" rtlCol="0">
            <a:normAutofit fontScale="85000" lnSpcReduction="20000"/>
          </a:bodyPr>
          <a:lstStyle/>
          <a:p>
            <a:pPr marL="342900" marR="0" lvl="0" indent="-342900" algn="just" defTabSz="914400" rtl="1" eaLnBrk="1" fontAlgn="auto" latinLnBrk="0" hangingPunct="1">
              <a:lnSpc>
                <a:spcPct val="100000"/>
              </a:lnSpc>
              <a:spcBef>
                <a:spcPct val="20000"/>
              </a:spcBef>
              <a:spcAft>
                <a:spcPts val="0"/>
              </a:spcAft>
              <a:buClrTx/>
              <a:buSzTx/>
              <a:buFont typeface="Arial" pitchFamily="34" charset="0"/>
              <a:buChar char="•"/>
              <a:tabLst/>
              <a:defRPr/>
            </a:pPr>
            <a:r>
              <a:rPr kumimoji="0" lang="fa-IR" sz="3200" b="0" i="0" u="none" strike="noStrike" kern="1200" cap="none" spc="0" normalizeH="0" baseline="0" noProof="0" dirty="0">
                <a:ln>
                  <a:noFill/>
                </a:ln>
                <a:solidFill>
                  <a:schemeClr val="tx1"/>
                </a:solidFill>
                <a:effectLst/>
                <a:uLnTx/>
                <a:uFillTx/>
                <a:cs typeface="B Lotus" pitchFamily="2" charset="-78"/>
              </a:rPr>
              <a:t>یک </a:t>
            </a:r>
            <a:r>
              <a:rPr lang="en-US" sz="3200" dirty="0">
                <a:cs typeface="B Lotus" pitchFamily="2" charset="-78"/>
              </a:rPr>
              <a:t> </a:t>
            </a:r>
            <a:r>
              <a:rPr kumimoji="0" lang="en-US" sz="3200" b="0" i="0" u="none" strike="noStrike" kern="1200" cap="none" spc="0" normalizeH="0" baseline="0" noProof="0" dirty="0">
                <a:ln>
                  <a:noFill/>
                </a:ln>
                <a:solidFill>
                  <a:schemeClr val="tx1"/>
                </a:solidFill>
                <a:effectLst/>
                <a:uLnTx/>
                <a:uFillTx/>
                <a:cs typeface="B Lotus" pitchFamily="2" charset="-78"/>
              </a:rPr>
              <a:t>Se</a:t>
            </a:r>
            <a:r>
              <a:rPr lang="en-US" sz="3200" dirty="0">
                <a:cs typeface="B Lotus" pitchFamily="2" charset="-78"/>
              </a:rPr>
              <a:t>t</a:t>
            </a:r>
            <a:r>
              <a:rPr lang="fa-IR" sz="3200" dirty="0">
                <a:cs typeface="B Lotus" pitchFamily="2" charset="-78"/>
              </a:rPr>
              <a:t>(معادل مجموعه در ریاضی) دارای عناصری بدون ترتیب و تکرار عناصر است. می‏توانیم ترتیب را به کلاسهای آن اضافه کنیم.</a:t>
            </a:r>
          </a:p>
          <a:p>
            <a:pPr marL="342900" marR="0" lvl="0" indent="-342900" algn="just" defTabSz="914400" rtl="1" eaLnBrk="1" fontAlgn="auto" latinLnBrk="0" hangingPunct="1">
              <a:lnSpc>
                <a:spcPct val="100000"/>
              </a:lnSpc>
              <a:spcBef>
                <a:spcPct val="20000"/>
              </a:spcBef>
              <a:spcAft>
                <a:spcPts val="0"/>
              </a:spcAft>
              <a:buClrTx/>
              <a:buSzTx/>
              <a:buFont typeface="Arial" pitchFamily="34" charset="0"/>
              <a:buChar char="•"/>
              <a:tabLst/>
              <a:defRPr/>
            </a:pPr>
            <a:r>
              <a:rPr kumimoji="0" lang="fa-IR" sz="3200" b="0" i="0" u="none" strike="noStrike" kern="1200" cap="none" spc="0" normalizeH="0" baseline="0" noProof="0" dirty="0">
                <a:ln>
                  <a:noFill/>
                </a:ln>
                <a:solidFill>
                  <a:schemeClr val="tx1"/>
                </a:solidFill>
                <a:effectLst/>
                <a:uLnTx/>
                <a:uFillTx/>
                <a:cs typeface="B Lotus" pitchFamily="2" charset="-78"/>
              </a:rPr>
              <a:t>عملیاتش همانهایی هستند که در </a:t>
            </a:r>
            <a:r>
              <a:rPr kumimoji="0" lang="en-US" sz="3200" b="0" i="0" u="none" strike="noStrike" kern="1200" cap="none" spc="0" normalizeH="0" baseline="0" noProof="0" dirty="0">
                <a:ln>
                  <a:noFill/>
                </a:ln>
                <a:solidFill>
                  <a:schemeClr val="tx1"/>
                </a:solidFill>
                <a:effectLst/>
                <a:uLnTx/>
                <a:uFillTx/>
                <a:cs typeface="B Lotus" pitchFamily="2" charset="-78"/>
              </a:rPr>
              <a:t>Collection</a:t>
            </a:r>
            <a:r>
              <a:rPr kumimoji="0" lang="fa-IR" sz="3200" b="0" i="0" u="none" strike="noStrike" kern="1200" cap="none" spc="0" normalizeH="0" noProof="0" dirty="0">
                <a:ln>
                  <a:noFill/>
                </a:ln>
                <a:solidFill>
                  <a:schemeClr val="tx1"/>
                </a:solidFill>
                <a:effectLst/>
                <a:uLnTx/>
                <a:uFillTx/>
                <a:cs typeface="B Lotus" pitchFamily="2" charset="-78"/>
              </a:rPr>
              <a:t> موجود است.</a:t>
            </a:r>
            <a:endParaRPr kumimoji="0" lang="fa-IR" sz="3200" b="0" i="0" u="none" strike="noStrike" kern="1200" cap="none" spc="0" normalizeH="0" baseline="0" noProof="0" dirty="0">
              <a:ln>
                <a:noFill/>
              </a:ln>
              <a:solidFill>
                <a:schemeClr val="tx1"/>
              </a:solidFill>
              <a:effectLst/>
              <a:uLnTx/>
              <a:uFillTx/>
              <a:cs typeface="B Lotus" pitchFamily="2" charset="-78"/>
            </a:endParaRPr>
          </a:p>
        </p:txBody>
      </p:sp>
      <p:sp>
        <p:nvSpPr>
          <p:cNvPr id="6" name="Text Box 4"/>
          <p:cNvSpPr txBox="1">
            <a:spLocks noChangeArrowheads="1"/>
          </p:cNvSpPr>
          <p:nvPr/>
        </p:nvSpPr>
        <p:spPr bwMode="auto">
          <a:xfrm>
            <a:off x="361255" y="3068960"/>
            <a:ext cx="3886200" cy="1949450"/>
          </a:xfrm>
          <a:prstGeom prst="rect">
            <a:avLst/>
          </a:prstGeom>
          <a:noFill/>
          <a:ln w="9525">
            <a:noFill/>
            <a:miter lim="800000"/>
            <a:headEnd/>
            <a:tailEnd/>
          </a:ln>
          <a:effectLst/>
        </p:spPr>
        <p:txBody>
          <a:bodyPr>
            <a:spAutoFit/>
          </a:bodyPr>
          <a:lstStyle/>
          <a:p>
            <a:r>
              <a:rPr lang="en-US" sz="2000" dirty="0" err="1">
                <a:solidFill>
                  <a:schemeClr val="accent2"/>
                </a:solidFill>
                <a:latin typeface="Verdana" pitchFamily="34" charset="0"/>
              </a:rPr>
              <a:t>int</a:t>
            </a:r>
            <a:r>
              <a:rPr lang="en-US" sz="2000" dirty="0">
                <a:solidFill>
                  <a:schemeClr val="accent2"/>
                </a:solidFill>
                <a:latin typeface="Verdana" pitchFamily="34" charset="0"/>
              </a:rPr>
              <a:t> size( );</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isEmpty</a:t>
            </a:r>
            <a:r>
              <a:rPr lang="en-US" sz="2000" dirty="0">
                <a:solidFill>
                  <a:schemeClr val="accent2"/>
                </a:solidFill>
                <a:latin typeface="Verdana" pitchFamily="34" charset="0"/>
              </a:rPr>
              <a:t>( );</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contains(Object e);</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add(Object e);       </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remove(Object e); </a:t>
            </a:r>
          </a:p>
          <a:p>
            <a:r>
              <a:rPr lang="en-US" sz="2000" dirty="0" err="1">
                <a:solidFill>
                  <a:schemeClr val="accent2"/>
                </a:solidFill>
                <a:latin typeface="Verdana" pitchFamily="34" charset="0"/>
              </a:rPr>
              <a:t>Iterator</a:t>
            </a:r>
            <a:r>
              <a:rPr lang="en-US" sz="2000" dirty="0">
                <a:solidFill>
                  <a:schemeClr val="accent2"/>
                </a:solidFill>
                <a:latin typeface="Verdana" pitchFamily="34" charset="0"/>
              </a:rPr>
              <a:t> </a:t>
            </a:r>
            <a:r>
              <a:rPr lang="en-US" sz="2000" dirty="0" err="1">
                <a:solidFill>
                  <a:schemeClr val="accent2"/>
                </a:solidFill>
                <a:latin typeface="Verdana" pitchFamily="34" charset="0"/>
              </a:rPr>
              <a:t>iterator</a:t>
            </a:r>
            <a:r>
              <a:rPr lang="en-US" sz="2000" dirty="0">
                <a:solidFill>
                  <a:schemeClr val="accent2"/>
                </a:solidFill>
                <a:latin typeface="Verdana" pitchFamily="34" charset="0"/>
              </a:rPr>
              <a:t>( );</a:t>
            </a:r>
          </a:p>
        </p:txBody>
      </p:sp>
      <p:sp>
        <p:nvSpPr>
          <p:cNvPr id="7" name="Text Box 5"/>
          <p:cNvSpPr txBox="1">
            <a:spLocks noChangeArrowheads="1"/>
          </p:cNvSpPr>
          <p:nvPr/>
        </p:nvSpPr>
        <p:spPr bwMode="auto">
          <a:xfrm>
            <a:off x="4414854" y="3102266"/>
            <a:ext cx="4495800" cy="1639888"/>
          </a:xfrm>
          <a:prstGeom prst="rect">
            <a:avLst/>
          </a:prstGeom>
          <a:noFill/>
          <a:ln w="9525">
            <a:noFill/>
            <a:miter lim="800000"/>
            <a:headEnd/>
            <a:tailEnd/>
          </a:ln>
          <a:effectLst/>
        </p:spPr>
        <p:txBody>
          <a:bodyPr>
            <a:spAutoFit/>
          </a:bodyPr>
          <a:lstStyle/>
          <a:p>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containsAll</a:t>
            </a:r>
            <a:r>
              <a:rPr lang="en-US" sz="2000" dirty="0">
                <a:solidFill>
                  <a:schemeClr val="accent2"/>
                </a:solidFill>
                <a:latin typeface="Verdana" pitchFamily="34" charset="0"/>
              </a:rPr>
              <a:t>(Collection c);</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addAll</a:t>
            </a:r>
            <a:r>
              <a:rPr lang="en-US" sz="2000" dirty="0">
                <a:solidFill>
                  <a:schemeClr val="accent2"/>
                </a:solidFill>
                <a:latin typeface="Verdana" pitchFamily="34" charset="0"/>
              </a:rPr>
              <a:t>(Collection c); </a:t>
            </a:r>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removeAll</a:t>
            </a:r>
            <a:r>
              <a:rPr lang="en-US" sz="2000" dirty="0">
                <a:solidFill>
                  <a:schemeClr val="accent2"/>
                </a:solidFill>
                <a:latin typeface="Verdana" pitchFamily="34" charset="0"/>
              </a:rPr>
              <a:t>(Collection c);</a:t>
            </a:r>
          </a:p>
          <a:p>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retainAll</a:t>
            </a:r>
            <a:r>
              <a:rPr lang="en-US" sz="2000" dirty="0">
                <a:solidFill>
                  <a:schemeClr val="accent2"/>
                </a:solidFill>
                <a:latin typeface="Verdana" pitchFamily="34" charset="0"/>
              </a:rPr>
              <a:t>(Collection c);</a:t>
            </a:r>
          </a:p>
          <a:p>
            <a:r>
              <a:rPr lang="en-US" sz="2000" dirty="0">
                <a:solidFill>
                  <a:schemeClr val="accent2"/>
                </a:solidFill>
                <a:latin typeface="Verdana" pitchFamily="34" charset="0"/>
              </a:rPr>
              <a:t>void clear( );</a:t>
            </a:r>
          </a:p>
        </p:txBody>
      </p:sp>
      <p:sp>
        <p:nvSpPr>
          <p:cNvPr id="8" name="Text Box 6"/>
          <p:cNvSpPr txBox="1">
            <a:spLocks noChangeArrowheads="1"/>
          </p:cNvSpPr>
          <p:nvPr/>
        </p:nvSpPr>
        <p:spPr bwMode="auto">
          <a:xfrm>
            <a:off x="4419600" y="5432444"/>
            <a:ext cx="4267200" cy="711200"/>
          </a:xfrm>
          <a:prstGeom prst="rect">
            <a:avLst/>
          </a:prstGeom>
          <a:noFill/>
          <a:ln w="9525">
            <a:noFill/>
            <a:miter lim="800000"/>
            <a:headEnd/>
            <a:tailEnd/>
          </a:ln>
          <a:effectLst/>
        </p:spPr>
        <p:txBody>
          <a:bodyPr>
            <a:spAutoFit/>
          </a:bodyPr>
          <a:lstStyle/>
          <a:p>
            <a:r>
              <a:rPr lang="en-US" sz="2000" dirty="0">
                <a:solidFill>
                  <a:srgbClr val="C00000"/>
                </a:solidFill>
                <a:latin typeface="Verdana" pitchFamily="34" charset="0"/>
              </a:rPr>
              <a:t>Object[ ] </a:t>
            </a:r>
            <a:r>
              <a:rPr lang="en-US" sz="2000" dirty="0" err="1">
                <a:solidFill>
                  <a:srgbClr val="C00000"/>
                </a:solidFill>
                <a:latin typeface="Verdana" pitchFamily="34" charset="0"/>
              </a:rPr>
              <a:t>toArray</a:t>
            </a:r>
            <a:r>
              <a:rPr lang="en-US" sz="2000" dirty="0">
                <a:solidFill>
                  <a:srgbClr val="C00000"/>
                </a:solidFill>
                <a:latin typeface="Verdana" pitchFamily="34" charset="0"/>
              </a:rPr>
              <a:t>( );</a:t>
            </a:r>
          </a:p>
          <a:p>
            <a:r>
              <a:rPr lang="en-US" sz="2000" dirty="0">
                <a:solidFill>
                  <a:srgbClr val="C00000"/>
                </a:solidFill>
                <a:latin typeface="Verdana" pitchFamily="34" charset="0"/>
              </a:rPr>
              <a:t>Object[ ] </a:t>
            </a:r>
            <a:r>
              <a:rPr lang="en-US" sz="2000" dirty="0" err="1">
                <a:solidFill>
                  <a:srgbClr val="C00000"/>
                </a:solidFill>
                <a:latin typeface="Verdana" pitchFamily="34" charset="0"/>
              </a:rPr>
              <a:t>toArray</a:t>
            </a:r>
            <a:r>
              <a:rPr lang="en-US" sz="2000" dirty="0">
                <a:solidFill>
                  <a:srgbClr val="C00000"/>
                </a:solidFill>
                <a:latin typeface="Verdana" pitchFamily="34" charset="0"/>
              </a:rPr>
              <a:t>(Object a[ ]);</a:t>
            </a:r>
            <a:endParaRPr lang="en-US" dirty="0">
              <a:solidFill>
                <a:srgbClr val="C00000"/>
              </a:solidFill>
              <a:latin typeface="Verdan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autoUpdateAnimBg="0"/>
      <p:bldP spid="6" grpId="0" autoUpdateAnimBg="0"/>
      <p:bldP spid="7" grpId="0" autoUpdateAnimBg="0"/>
      <p:bldP spid="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368280"/>
          </a:xfrm>
        </p:spPr>
        <p:txBody>
          <a:bodyPr>
            <a:normAutofit fontScale="90000"/>
          </a:bodyPr>
          <a:lstStyle/>
          <a:p>
            <a:pPr rtl="1"/>
            <a:r>
              <a:rPr lang="fa-IR" sz="3200" dirty="0">
                <a:solidFill>
                  <a:schemeClr val="bg1"/>
                </a:solidFill>
                <a:cs typeface="B Lotus" pitchFamily="2" charset="-78"/>
              </a:rPr>
              <a:t>پیاده‏سازیهای </a:t>
            </a:r>
            <a:r>
              <a:rPr lang="en-US" sz="3200" dirty="0">
                <a:solidFill>
                  <a:schemeClr val="bg1"/>
                </a:solidFill>
                <a:cs typeface="B Lotus" pitchFamily="2" charset="-78"/>
              </a:rPr>
              <a:t>set</a:t>
            </a:r>
          </a:p>
        </p:txBody>
      </p:sp>
      <p:sp>
        <p:nvSpPr>
          <p:cNvPr id="4" name="Slide Number Placeholder 3"/>
          <p:cNvSpPr>
            <a:spLocks noGrp="1"/>
          </p:cNvSpPr>
          <p:nvPr>
            <p:ph type="sldNum" sz="quarter" idx="12"/>
          </p:nvPr>
        </p:nvSpPr>
        <p:spPr/>
        <p:txBody>
          <a:bodyPr/>
          <a:lstStyle/>
          <a:p>
            <a:fld id="{79E6E8FA-B1EB-4DD1-845A-B9015C921A1C}" type="slidenum">
              <a:rPr lang="en-US" smtClean="0"/>
              <a:pPr/>
              <a:t>5</a:t>
            </a:fld>
            <a:endParaRPr lang="en-US"/>
          </a:p>
        </p:txBody>
      </p:sp>
      <p:sp>
        <p:nvSpPr>
          <p:cNvPr id="5" name="Rectangle 3"/>
          <p:cNvSpPr txBox="1">
            <a:spLocks noChangeArrowheads="1"/>
          </p:cNvSpPr>
          <p:nvPr/>
        </p:nvSpPr>
        <p:spPr>
          <a:xfrm>
            <a:off x="357158" y="1000108"/>
            <a:ext cx="8574088" cy="5572164"/>
          </a:xfrm>
          <a:prstGeom prst="rect">
            <a:avLst/>
          </a:prstGeom>
        </p:spPr>
        <p:txBody>
          <a:bodyPr vert="horz" lIns="91440" tIns="45720" rIns="91440" bIns="45720" rtlCol="0">
            <a:normAutofit/>
          </a:bodyPr>
          <a:lstStyle/>
          <a:p>
            <a:pPr algn="just" rtl="1">
              <a:lnSpc>
                <a:spcPct val="160000"/>
              </a:lnSpc>
              <a:buFont typeface="Arial" pitchFamily="34" charset="0"/>
              <a:buChar char="•"/>
            </a:pPr>
            <a:r>
              <a:rPr lang="en-US" sz="2000" dirty="0">
                <a:latin typeface="Verdana" pitchFamily="34" charset="0"/>
                <a:cs typeface="B Lotus" pitchFamily="2" charset="-78"/>
              </a:rPr>
              <a:t>Set</a:t>
            </a:r>
            <a:r>
              <a:rPr lang="fa-IR" sz="2000" dirty="0">
                <a:latin typeface="Verdana" pitchFamily="34" charset="0"/>
                <a:cs typeface="B Lotus" pitchFamily="2" charset="-78"/>
              </a:rPr>
              <a:t> یک واسط است و لذا نمی‏توانیم بگوییم: </a:t>
            </a:r>
            <a:r>
              <a:rPr lang="en-US" sz="2000" dirty="0">
                <a:latin typeface="Verdana" pitchFamily="34" charset="0"/>
                <a:cs typeface="B Lotus" pitchFamily="2" charset="-78"/>
              </a:rPr>
              <a:t>new Set( )</a:t>
            </a:r>
            <a:endParaRPr lang="fa-IR" sz="2000" dirty="0">
              <a:latin typeface="Verdana" pitchFamily="34" charset="0"/>
              <a:cs typeface="B Lotus" pitchFamily="2" charset="-78"/>
            </a:endParaRPr>
          </a:p>
          <a:p>
            <a:pPr algn="just" rtl="1">
              <a:lnSpc>
                <a:spcPct val="160000"/>
              </a:lnSpc>
              <a:buFont typeface="Arial" pitchFamily="34" charset="0"/>
              <a:buChar char="•"/>
            </a:pPr>
            <a:r>
              <a:rPr lang="en-US" sz="2000" dirty="0">
                <a:latin typeface="Verdana" pitchFamily="34" charset="0"/>
                <a:cs typeface="B Lotus" pitchFamily="2" charset="-78"/>
              </a:rPr>
              <a:t>Set</a:t>
            </a:r>
            <a:r>
              <a:rPr lang="fa-IR" sz="2000" dirty="0">
                <a:latin typeface="Verdana" pitchFamily="34" charset="0"/>
                <a:cs typeface="B Lotus" pitchFamily="2" charset="-78"/>
              </a:rPr>
              <a:t> را چهار کلاس زیر پیاده‏سازی می‏کنند:</a:t>
            </a:r>
          </a:p>
          <a:p>
            <a:pPr lvl="1" algn="just" rtl="1">
              <a:lnSpc>
                <a:spcPct val="160000"/>
              </a:lnSpc>
              <a:buFont typeface="Arial" pitchFamily="34" charset="0"/>
              <a:buChar char="•"/>
            </a:pPr>
            <a:r>
              <a:rPr lang="en-US" sz="2000" dirty="0" err="1">
                <a:solidFill>
                  <a:schemeClr val="accent2"/>
                </a:solidFill>
                <a:latin typeface="Verdana" pitchFamily="34" charset="0"/>
                <a:cs typeface="B Lotus" pitchFamily="2" charset="-78"/>
              </a:rPr>
              <a:t>HashSet</a:t>
            </a:r>
            <a:r>
              <a:rPr lang="en-US" sz="2000" dirty="0">
                <a:latin typeface="Verdana" pitchFamily="34" charset="0"/>
                <a:cs typeface="B Lotus" pitchFamily="2" charset="-78"/>
              </a:rPr>
              <a:t> </a:t>
            </a:r>
            <a:r>
              <a:rPr lang="fa-IR" sz="2000" dirty="0">
                <a:latin typeface="Verdana" pitchFamily="34" charset="0"/>
                <a:cs typeface="B Lotus" pitchFamily="2" charset="-78"/>
              </a:rPr>
              <a:t> برای بیشتر کارها بهترین گزینه می‏باشد.</a:t>
            </a:r>
          </a:p>
          <a:p>
            <a:pPr lvl="1" algn="just" rtl="1">
              <a:lnSpc>
                <a:spcPct val="160000"/>
              </a:lnSpc>
              <a:buFont typeface="Arial" pitchFamily="34" charset="0"/>
              <a:buChar char="•"/>
            </a:pPr>
            <a:r>
              <a:rPr lang="en-US" sz="2000" dirty="0" err="1">
                <a:solidFill>
                  <a:schemeClr val="accent2"/>
                </a:solidFill>
                <a:latin typeface="Verdana" pitchFamily="34" charset="0"/>
                <a:cs typeface="B Lotus" pitchFamily="2" charset="-78"/>
              </a:rPr>
              <a:t>TreeSet</a:t>
            </a:r>
            <a:r>
              <a:rPr lang="en-US" sz="2000" dirty="0">
                <a:latin typeface="Verdana" pitchFamily="34" charset="0"/>
                <a:cs typeface="B Lotus" pitchFamily="2" charset="-78"/>
              </a:rPr>
              <a:t> </a:t>
            </a:r>
            <a:r>
              <a:rPr lang="fa-IR" sz="2000" dirty="0">
                <a:latin typeface="Verdana" pitchFamily="34" charset="0"/>
                <a:cs typeface="B Lotus" pitchFamily="2" charset="-78"/>
              </a:rPr>
              <a:t> تضمین می‏کند که </a:t>
            </a:r>
            <a:r>
              <a:rPr lang="en-US" sz="2000" dirty="0" err="1">
                <a:cs typeface="B Lotus" pitchFamily="2" charset="-78"/>
              </a:rPr>
              <a:t>iterator</a:t>
            </a:r>
            <a:r>
              <a:rPr lang="en-US" sz="2000" dirty="0">
                <a:cs typeface="B Lotus" pitchFamily="2" charset="-78"/>
              </a:rPr>
              <a:t> </a:t>
            </a:r>
            <a:r>
              <a:rPr lang="fa-IR" sz="2000" dirty="0">
                <a:cs typeface="B Lotus" pitchFamily="2" charset="-78"/>
              </a:rPr>
              <a:t> </a:t>
            </a:r>
            <a:r>
              <a:rPr lang="fa-IR" sz="2000" dirty="0">
                <a:latin typeface="Verdana" pitchFamily="34" charset="0"/>
                <a:cs typeface="B Lotus" pitchFamily="2" charset="-78"/>
              </a:rPr>
              <a:t>عناصر را به طور مرتب‏شده برگرداند و این ترتیب در طول زمان تغییر نکند.</a:t>
            </a:r>
          </a:p>
          <a:p>
            <a:pPr lvl="1" algn="just" rtl="1">
              <a:lnSpc>
                <a:spcPct val="160000"/>
              </a:lnSpc>
              <a:buFont typeface="Arial" pitchFamily="34" charset="0"/>
              <a:buChar char="•"/>
            </a:pPr>
            <a:r>
              <a:rPr lang="en-US" sz="2000" dirty="0" err="1">
                <a:solidFill>
                  <a:schemeClr val="accent2"/>
                </a:solidFill>
                <a:latin typeface="Verdana" pitchFamily="34" charset="0"/>
                <a:cs typeface="B Lotus" pitchFamily="2" charset="-78"/>
              </a:rPr>
              <a:t>LinkedHashSet</a:t>
            </a:r>
            <a:r>
              <a:rPr lang="en-US" sz="2000" dirty="0">
                <a:cs typeface="B Lotus" pitchFamily="2" charset="-78"/>
              </a:rPr>
              <a:t> </a:t>
            </a:r>
            <a:r>
              <a:rPr lang="fa-IR" sz="2000" dirty="0">
                <a:cs typeface="B Lotus" pitchFamily="2" charset="-78"/>
              </a:rPr>
              <a:t> </a:t>
            </a:r>
            <a:r>
              <a:rPr lang="fa-IR" sz="2000" dirty="0">
                <a:latin typeface="Verdana" pitchFamily="34" charset="0"/>
                <a:cs typeface="B Lotus" pitchFamily="2" charset="-78"/>
              </a:rPr>
              <a:t>تضمین می‏کند که </a:t>
            </a:r>
            <a:r>
              <a:rPr lang="en-US" sz="2000" dirty="0" err="1">
                <a:cs typeface="B Lotus" pitchFamily="2" charset="-78"/>
              </a:rPr>
              <a:t>iterator</a:t>
            </a:r>
            <a:r>
              <a:rPr lang="en-US" sz="2000" dirty="0">
                <a:cs typeface="B Lotus" pitchFamily="2" charset="-78"/>
              </a:rPr>
              <a:t> </a:t>
            </a:r>
            <a:r>
              <a:rPr lang="fa-IR" sz="2000" dirty="0">
                <a:cs typeface="B Lotus" pitchFamily="2" charset="-78"/>
              </a:rPr>
              <a:t> </a:t>
            </a:r>
            <a:r>
              <a:rPr lang="fa-IR" sz="2000" dirty="0">
                <a:latin typeface="Verdana" pitchFamily="34" charset="0"/>
                <a:cs typeface="B Lotus" pitchFamily="2" charset="-78"/>
              </a:rPr>
              <a:t>عناصر را به ترتیب وارد شدن </a:t>
            </a:r>
            <a:r>
              <a:rPr lang="en-US" sz="2000" dirty="0">
                <a:latin typeface="Verdana" pitchFamily="34" charset="0"/>
                <a:cs typeface="B Lotus" pitchFamily="2" charset="-78"/>
              </a:rPr>
              <a:t>(insert)</a:t>
            </a:r>
            <a:r>
              <a:rPr lang="fa-IR" sz="2000" dirty="0">
                <a:latin typeface="Verdana" pitchFamily="34" charset="0"/>
                <a:cs typeface="B Lotus" pitchFamily="2" charset="-78"/>
              </a:rPr>
              <a:t> به مجموعه، برگرداند.</a:t>
            </a:r>
          </a:p>
          <a:p>
            <a:pPr lvl="1" algn="just" rtl="1">
              <a:lnSpc>
                <a:spcPct val="160000"/>
              </a:lnSpc>
              <a:buFont typeface="Arial" pitchFamily="34" charset="0"/>
              <a:buChar char="•"/>
            </a:pPr>
            <a:r>
              <a:rPr lang="en-US" sz="2000" dirty="0" err="1">
                <a:solidFill>
                  <a:schemeClr val="accent2"/>
                </a:solidFill>
                <a:latin typeface="Verdana" pitchFamily="34" charset="0"/>
                <a:cs typeface="B Lotus" pitchFamily="2" charset="-78"/>
              </a:rPr>
              <a:t>AbstractSet</a:t>
            </a:r>
            <a:r>
              <a:rPr lang="fa-IR" sz="2000" dirty="0">
                <a:solidFill>
                  <a:schemeClr val="accent2"/>
                </a:solidFill>
                <a:latin typeface="Verdana" pitchFamily="34" charset="0"/>
                <a:cs typeface="B Lotus" pitchFamily="2" charset="-78"/>
              </a:rPr>
              <a:t> </a:t>
            </a:r>
            <a:r>
              <a:rPr lang="fa-IR" sz="2000" dirty="0">
                <a:latin typeface="Verdana" pitchFamily="34" charset="0"/>
                <a:cs typeface="B Lotus" pitchFamily="2" charset="-78"/>
              </a:rPr>
              <a:t>یک کلاس انتزاعی است که امکان ایجاد پیاده‏سازیهای جدید را میسر می‏کند. </a:t>
            </a:r>
          </a:p>
          <a:p>
            <a:pPr lvl="2" algn="r" rtl="1">
              <a:lnSpc>
                <a:spcPct val="90000"/>
              </a:lnSpc>
              <a:buFont typeface="Arial" pitchFamily="34" charset="0"/>
              <a:buChar char="•"/>
            </a:pPr>
            <a:endParaRPr lang="fa-IR" sz="2400" dirty="0">
              <a:solidFill>
                <a:schemeClr val="accent2"/>
              </a:solidFill>
              <a:latin typeface="Verdana" pitchFamily="34" charset="0"/>
              <a:cs typeface="B Lotus" pitchFamily="2" charset="-78"/>
            </a:endParaRPr>
          </a:p>
          <a:p>
            <a:pPr>
              <a:lnSpc>
                <a:spcPct val="90000"/>
              </a:lnSpc>
            </a:pPr>
            <a:r>
              <a:rPr lang="fa-IR" sz="2400" dirty="0">
                <a:cs typeface="B Lotus" pitchFamily="2" charset="-78"/>
              </a:rPr>
              <a:t>(گزینه بهتر) مثال</a:t>
            </a:r>
            <a:r>
              <a:rPr lang="en-US" sz="2400" dirty="0">
                <a:cs typeface="B Lotus" pitchFamily="2" charset="-78"/>
              </a:rPr>
              <a:t>:  </a:t>
            </a:r>
            <a:r>
              <a:rPr lang="en-US" sz="2400" dirty="0">
                <a:solidFill>
                  <a:schemeClr val="accent2"/>
                </a:solidFill>
                <a:latin typeface="Verdana" pitchFamily="34" charset="0"/>
                <a:cs typeface="B Lotus" pitchFamily="2" charset="-78"/>
              </a:rPr>
              <a:t>Set s = new </a:t>
            </a:r>
            <a:r>
              <a:rPr lang="en-US" sz="2400" dirty="0" err="1">
                <a:solidFill>
                  <a:schemeClr val="accent2"/>
                </a:solidFill>
                <a:latin typeface="Verdana" pitchFamily="34" charset="0"/>
                <a:cs typeface="B Lotus" pitchFamily="2" charset="-78"/>
              </a:rPr>
              <a:t>HashSet</a:t>
            </a:r>
            <a:r>
              <a:rPr lang="en-US" sz="2400" dirty="0">
                <a:solidFill>
                  <a:schemeClr val="accent2"/>
                </a:solidFill>
                <a:latin typeface="Verdana" pitchFamily="34" charset="0"/>
                <a:cs typeface="B Lotus" pitchFamily="2" charset="-78"/>
              </a:rPr>
              <a:t>( );</a:t>
            </a:r>
            <a:br>
              <a:rPr lang="en-US" sz="2400" dirty="0">
                <a:solidFill>
                  <a:schemeClr val="accent2"/>
                </a:solidFill>
                <a:latin typeface="Verdana" pitchFamily="34" charset="0"/>
                <a:cs typeface="B Lotus" pitchFamily="2" charset="-78"/>
              </a:rPr>
            </a:br>
            <a:r>
              <a:rPr lang="fa-IR" sz="2400" dirty="0">
                <a:cs typeface="B Lotus" pitchFamily="2" charset="-78"/>
              </a:rPr>
              <a:t>مثال</a:t>
            </a:r>
            <a:r>
              <a:rPr lang="en-US" sz="2400" dirty="0">
                <a:cs typeface="B Lotus" pitchFamily="2" charset="-78"/>
              </a:rPr>
              <a:t>     </a:t>
            </a:r>
            <a:r>
              <a:rPr lang="en-US" sz="2400" dirty="0" err="1">
                <a:solidFill>
                  <a:schemeClr val="accent2"/>
                </a:solidFill>
                <a:latin typeface="Verdana" pitchFamily="34" charset="0"/>
                <a:cs typeface="B Lotus" pitchFamily="2" charset="-78"/>
              </a:rPr>
              <a:t>HashSet</a:t>
            </a:r>
            <a:r>
              <a:rPr lang="en-US" sz="2400" dirty="0">
                <a:solidFill>
                  <a:schemeClr val="accent2"/>
                </a:solidFill>
                <a:latin typeface="Verdana" pitchFamily="34" charset="0"/>
                <a:cs typeface="B Lotus" pitchFamily="2" charset="-78"/>
              </a:rPr>
              <a:t> s = new </a:t>
            </a:r>
            <a:r>
              <a:rPr lang="en-US" sz="2400" dirty="0" err="1">
                <a:solidFill>
                  <a:schemeClr val="accent2"/>
                </a:solidFill>
                <a:latin typeface="Verdana" pitchFamily="34" charset="0"/>
                <a:cs typeface="B Lotus" pitchFamily="2" charset="-78"/>
              </a:rPr>
              <a:t>HashSet</a:t>
            </a:r>
            <a:r>
              <a:rPr lang="en-US" sz="2400" dirty="0">
                <a:solidFill>
                  <a:schemeClr val="accent2"/>
                </a:solidFill>
                <a:latin typeface="Verdana" pitchFamily="34" charset="0"/>
                <a:cs typeface="B Lotus" pitchFamily="2" charset="-78"/>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wipe(left)">
                                      <p:cBhvr>
                                        <p:cTn id="3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4290"/>
            <a:ext cx="8229600" cy="368280"/>
          </a:xfrm>
        </p:spPr>
        <p:txBody>
          <a:bodyPr>
            <a:normAutofit fontScale="90000"/>
          </a:bodyPr>
          <a:lstStyle/>
          <a:p>
            <a:pPr rtl="1"/>
            <a:r>
              <a:rPr lang="fa-IR" sz="3200" dirty="0">
                <a:solidFill>
                  <a:schemeClr val="bg1"/>
                </a:solidFill>
                <a:cs typeface="B Lotus" pitchFamily="2" charset="-78"/>
              </a:rPr>
              <a:t>پیمایش </a:t>
            </a:r>
            <a:r>
              <a:rPr lang="en-US" sz="3200" dirty="0">
                <a:solidFill>
                  <a:schemeClr val="bg1"/>
                </a:solidFill>
                <a:cs typeface="B Lotus" pitchFamily="2" charset="-78"/>
              </a:rPr>
              <a:t>set</a:t>
            </a:r>
          </a:p>
        </p:txBody>
      </p:sp>
      <p:sp>
        <p:nvSpPr>
          <p:cNvPr id="6" name="Rectangle 3"/>
          <p:cNvSpPr>
            <a:spLocks noGrp="1" noChangeArrowheads="1"/>
          </p:cNvSpPr>
          <p:nvPr>
            <p:ph idx="1"/>
          </p:nvPr>
        </p:nvSpPr>
        <p:spPr>
          <a:xfrm>
            <a:off x="428596" y="3394440"/>
            <a:ext cx="8229600" cy="3463560"/>
          </a:xfrm>
          <a:prstGeom prst="rect">
            <a:avLst/>
          </a:prstGeom>
        </p:spPr>
        <p:style>
          <a:lnRef idx="2">
            <a:schemeClr val="dk1">
              <a:shade val="50000"/>
            </a:schemeClr>
          </a:lnRef>
          <a:fillRef idx="1">
            <a:schemeClr val="dk1"/>
          </a:fillRef>
          <a:effectRef idx="0">
            <a:schemeClr val="dk1"/>
          </a:effectRef>
          <a:fontRef idx="minor">
            <a:schemeClr val="lt1"/>
          </a:fontRef>
        </p:style>
        <p:txBody>
          <a:bodyPr>
            <a:normAutofit fontScale="62500" lnSpcReduction="20000"/>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Trebuchet MS" pitchFamily="34" charset="0"/>
              </a:rPr>
              <a:t>import </a:t>
            </a:r>
            <a:r>
              <a:rPr kumimoji="0" lang="en-US" sz="1800" b="0" i="0" u="none" strike="noStrike" kern="0" cap="none" spc="0" normalizeH="0" baseline="0" noProof="0" dirty="0" err="1">
                <a:ln>
                  <a:noFill/>
                </a:ln>
                <a:solidFill>
                  <a:schemeClr val="bg1"/>
                </a:solidFill>
                <a:effectLst/>
                <a:uLnTx/>
                <a:uFillTx/>
                <a:latin typeface="Trebuchet MS" pitchFamily="34" charset="0"/>
              </a:rPr>
              <a:t>java.util</a:t>
            </a:r>
            <a:r>
              <a:rPr kumimoji="0" lang="en-US" sz="1800" b="0" i="0" u="none" strike="noStrike" kern="0" cap="none" spc="0" normalizeH="0" baseline="0" noProof="0" dirty="0">
                <a:ln>
                  <a:noFill/>
                </a:ln>
                <a:solidFill>
                  <a:schemeClr val="bg1"/>
                </a:solidFill>
                <a:effectLst/>
                <a:uLnTx/>
                <a:uFillTx/>
                <a:latin typeface="Trebuchet MS" pitchFamily="34" charset="0"/>
              </a:rPr>
              <a:t>.*;</a:t>
            </a:r>
            <a:br>
              <a:rPr kumimoji="0" lang="en-US" sz="1800" b="0" i="0" u="none" strike="noStrike" kern="0" cap="none" spc="0" normalizeH="0" baseline="0" noProof="0" dirty="0">
                <a:ln>
                  <a:noFill/>
                </a:ln>
                <a:solidFill>
                  <a:schemeClr val="bg1"/>
                </a:solidFill>
                <a:effectLst/>
                <a:uLnTx/>
                <a:uFillTx/>
                <a:latin typeface="Trebuchet MS" pitchFamily="34" charset="0"/>
              </a:rPr>
            </a:b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public class SetExample2 {</a:t>
            </a:r>
            <a:br>
              <a:rPr kumimoji="0" lang="en-US" sz="1800" b="0" i="0" u="none" strike="noStrike" kern="0" cap="none" spc="0" normalizeH="0" baseline="0" noProof="0" dirty="0">
                <a:ln>
                  <a:noFill/>
                </a:ln>
                <a:solidFill>
                  <a:schemeClr val="bg1"/>
                </a:solidFill>
                <a:effectLst/>
                <a:uLnTx/>
                <a:uFillTx/>
                <a:latin typeface="Trebuchet MS" pitchFamily="34" charset="0"/>
              </a:rPr>
            </a:b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public static void main(String[] </a:t>
            </a:r>
            <a:r>
              <a:rPr kumimoji="0" lang="en-US" sz="1800" b="0" i="0" u="none" strike="noStrike" kern="0" cap="none" spc="0" normalizeH="0" baseline="0" noProof="0" dirty="0" err="1">
                <a:ln>
                  <a:noFill/>
                </a:ln>
                <a:solidFill>
                  <a:schemeClr val="bg1"/>
                </a:solidFill>
                <a:effectLst/>
                <a:uLnTx/>
                <a:uFillTx/>
                <a:latin typeface="Trebuchet MS" pitchFamily="34" charset="0"/>
              </a:rPr>
              <a:t>args</a:t>
            </a: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String[ ] words = { "When", "all", "is", "said", "and", "done",</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"more", "has", "been", "said", "than", "done"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Set </a:t>
            </a:r>
            <a:r>
              <a:rPr kumimoji="0" lang="en-US" sz="1800" b="0" i="0" u="none" strike="noStrike" kern="0" cap="none" spc="0" normalizeH="0" baseline="0" noProof="0" dirty="0" err="1">
                <a:ln>
                  <a:noFill/>
                </a:ln>
                <a:solidFill>
                  <a:schemeClr val="bg1"/>
                </a:solidFill>
                <a:effectLst/>
                <a:uLnTx/>
                <a:uFillTx/>
                <a:latin typeface="Trebuchet MS" pitchFamily="34" charset="0"/>
              </a:rPr>
              <a:t>mySet</a:t>
            </a:r>
            <a:r>
              <a:rPr kumimoji="0" lang="en-US" sz="1800" b="0" i="0" u="none" strike="noStrike" kern="0" cap="none" spc="0" normalizeH="0" baseline="0" noProof="0" dirty="0">
                <a:ln>
                  <a:noFill/>
                </a:ln>
                <a:solidFill>
                  <a:schemeClr val="bg1"/>
                </a:solidFill>
                <a:effectLst/>
                <a:uLnTx/>
                <a:uFillTx/>
                <a:latin typeface="Trebuchet MS" pitchFamily="34" charset="0"/>
              </a:rPr>
              <a:t> = new </a:t>
            </a:r>
            <a:r>
              <a:rPr kumimoji="0" lang="en-US" sz="1800" b="0" i="0" u="none" strike="noStrike" kern="0" cap="none" spc="0" normalizeH="0" baseline="0" noProof="0" dirty="0" err="1">
                <a:ln>
                  <a:noFill/>
                </a:ln>
                <a:solidFill>
                  <a:schemeClr val="bg1"/>
                </a:solidFill>
                <a:effectLst/>
                <a:uLnTx/>
                <a:uFillTx/>
                <a:latin typeface="Trebuchet MS" pitchFamily="34" charset="0"/>
              </a:rPr>
              <a:t>HashSet</a:t>
            </a:r>
            <a:r>
              <a:rPr kumimoji="0" lang="en-US" sz="1800" b="0" i="0" u="none" strike="noStrike" kern="0" cap="none" spc="0" normalizeH="0" baseline="0" noProof="0" dirty="0">
                <a:ln>
                  <a:noFill/>
                </a:ln>
                <a:solidFill>
                  <a:schemeClr val="bg1"/>
                </a:solidFill>
                <a:effectLst/>
                <a:uLnTx/>
                <a:uFillTx/>
                <a:latin typeface="Trebuchet MS" pitchFamily="34" charset="0"/>
              </a:rPr>
              <a:t>();</a:t>
            </a:r>
            <a:br>
              <a:rPr kumimoji="0" lang="en-US" sz="1800" b="0" i="0" u="none" strike="noStrike" kern="0" cap="none" spc="0" normalizeH="0" baseline="0" noProof="0" dirty="0">
                <a:ln>
                  <a:noFill/>
                </a:ln>
                <a:solidFill>
                  <a:schemeClr val="bg1"/>
                </a:solidFill>
                <a:effectLst/>
                <a:uLnTx/>
                <a:uFillTx/>
                <a:latin typeface="Trebuchet MS" pitchFamily="34" charset="0"/>
              </a:rPr>
            </a:b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for (</a:t>
            </a:r>
            <a:r>
              <a:rPr kumimoji="0" lang="en-US" sz="1800" b="0" i="0" u="none" strike="noStrike" kern="0" cap="none" spc="0" normalizeH="0" baseline="0" noProof="0" dirty="0" err="1">
                <a:ln>
                  <a:noFill/>
                </a:ln>
                <a:solidFill>
                  <a:schemeClr val="bg1"/>
                </a:solidFill>
                <a:effectLst/>
                <a:uLnTx/>
                <a:uFillTx/>
                <a:latin typeface="Trebuchet MS" pitchFamily="34" charset="0"/>
              </a:rPr>
              <a:t>int</a:t>
            </a: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i</a:t>
            </a:r>
            <a:r>
              <a:rPr kumimoji="0" lang="en-US" sz="1800" b="0" i="0" u="none" strike="noStrike" kern="0" cap="none" spc="0" normalizeH="0" baseline="0" noProof="0" dirty="0">
                <a:ln>
                  <a:noFill/>
                </a:ln>
                <a:solidFill>
                  <a:schemeClr val="bg1"/>
                </a:solidFill>
                <a:effectLst/>
                <a:uLnTx/>
                <a:uFillTx/>
                <a:latin typeface="Trebuchet MS" pitchFamily="34" charset="0"/>
              </a:rPr>
              <a:t> = 0; </a:t>
            </a:r>
            <a:r>
              <a:rPr kumimoji="0" lang="en-US" sz="1800" b="0" i="0" u="none" strike="noStrike" kern="0" cap="none" spc="0" normalizeH="0" baseline="0" noProof="0" dirty="0" err="1">
                <a:ln>
                  <a:noFill/>
                </a:ln>
                <a:solidFill>
                  <a:schemeClr val="bg1"/>
                </a:solidFill>
                <a:effectLst/>
                <a:uLnTx/>
                <a:uFillTx/>
                <a:latin typeface="Trebuchet MS" pitchFamily="34" charset="0"/>
              </a:rPr>
              <a:t>i</a:t>
            </a:r>
            <a:r>
              <a:rPr kumimoji="0" lang="en-US" sz="1800" b="0" i="0" u="none" strike="noStrike" kern="0" cap="none" spc="0" normalizeH="0" baseline="0" noProof="0" dirty="0">
                <a:ln>
                  <a:noFill/>
                </a:ln>
                <a:solidFill>
                  <a:schemeClr val="bg1"/>
                </a:solidFill>
                <a:effectLst/>
                <a:uLnTx/>
                <a:uFillTx/>
                <a:latin typeface="Trebuchet MS" pitchFamily="34" charset="0"/>
              </a:rPr>
              <a:t> &lt; </a:t>
            </a:r>
            <a:r>
              <a:rPr kumimoji="0" lang="en-US" sz="1800" b="0" i="0" u="none" strike="noStrike" kern="0" cap="none" spc="0" normalizeH="0" baseline="0" noProof="0" dirty="0" err="1">
                <a:ln>
                  <a:noFill/>
                </a:ln>
                <a:solidFill>
                  <a:schemeClr val="bg1"/>
                </a:solidFill>
                <a:effectLst/>
                <a:uLnTx/>
                <a:uFillTx/>
                <a:latin typeface="Trebuchet MS" pitchFamily="34" charset="0"/>
              </a:rPr>
              <a:t>words.length</a:t>
            </a: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i</a:t>
            </a: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mySet.add</a:t>
            </a:r>
            <a:r>
              <a:rPr kumimoji="0" lang="en-US" sz="1800" b="0" i="0" u="none" strike="noStrike" kern="0" cap="none" spc="0" normalizeH="0" baseline="0" noProof="0" dirty="0">
                <a:ln>
                  <a:noFill/>
                </a:ln>
                <a:solidFill>
                  <a:schemeClr val="bg1"/>
                </a:solidFill>
                <a:effectLst/>
                <a:uLnTx/>
                <a:uFillTx/>
                <a:latin typeface="Trebuchet MS" pitchFamily="34" charset="0"/>
              </a:rPr>
              <a:t>(words[</a:t>
            </a:r>
            <a:r>
              <a:rPr kumimoji="0" lang="en-US" sz="1800" b="0" i="0" u="none" strike="noStrike" kern="0" cap="none" spc="0" normalizeH="0" baseline="0" noProof="0" dirty="0" err="1">
                <a:ln>
                  <a:noFill/>
                </a:ln>
                <a:solidFill>
                  <a:schemeClr val="bg1"/>
                </a:solidFill>
                <a:effectLst/>
                <a:uLnTx/>
                <a:uFillTx/>
                <a:latin typeface="Trebuchet MS" pitchFamily="34" charset="0"/>
              </a:rPr>
              <a:t>i</a:t>
            </a:r>
            <a:r>
              <a:rPr kumimoji="0" lang="en-US" sz="1800" b="0" i="0" u="none" strike="noStrike" kern="0" cap="none" spc="0" normalizeH="0" baseline="0" noProof="0" dirty="0">
                <a:ln>
                  <a:noFill/>
                </a:ln>
                <a:solidFill>
                  <a:schemeClr val="bg1"/>
                </a:solidFill>
                <a:effectLst/>
                <a:uLnTx/>
                <a:uFillTx/>
                <a:latin typeface="Trebuchet MS" pitchFamily="34" charset="0"/>
              </a:rPr>
              <a:t>]);</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for (</a:t>
            </a:r>
            <a:r>
              <a:rPr kumimoji="0" lang="en-US" sz="1800" b="0" i="0" u="none" strike="noStrike" kern="0" cap="none" spc="0" normalizeH="0" baseline="0" noProof="0" dirty="0" err="1">
                <a:ln>
                  <a:noFill/>
                </a:ln>
                <a:solidFill>
                  <a:schemeClr val="bg1"/>
                </a:solidFill>
                <a:effectLst/>
                <a:uLnTx/>
                <a:uFillTx/>
                <a:latin typeface="Trebuchet MS" pitchFamily="34" charset="0"/>
              </a:rPr>
              <a:t>Iterator</a:t>
            </a: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iter</a:t>
            </a:r>
            <a:r>
              <a:rPr kumimoji="0" lang="en-US" sz="1800" b="0" i="0" u="none" strike="noStrike" kern="0" cap="none" spc="0" normalizeH="0" baseline="0" noProof="0" dirty="0">
                <a:ln>
                  <a:noFill/>
                </a:ln>
                <a:solidFill>
                  <a:schemeClr val="bg1"/>
                </a:solidFill>
                <a:effectLst/>
                <a:uLnTx/>
                <a:uFillTx/>
                <a:latin typeface="Trebuchet MS" pitchFamily="34" charset="0"/>
              </a:rPr>
              <a:t> = </a:t>
            </a:r>
            <a:r>
              <a:rPr kumimoji="0" lang="en-US" sz="1800" b="0" i="0" u="none" strike="noStrike" kern="0" cap="none" spc="0" normalizeH="0" baseline="0" noProof="0" dirty="0" err="1">
                <a:ln>
                  <a:noFill/>
                </a:ln>
                <a:solidFill>
                  <a:schemeClr val="bg1"/>
                </a:solidFill>
                <a:effectLst/>
                <a:uLnTx/>
                <a:uFillTx/>
                <a:latin typeface="Trebuchet MS" pitchFamily="34" charset="0"/>
              </a:rPr>
              <a:t>mySet.iterator</a:t>
            </a: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iter.hasNext</a:t>
            </a: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String word = (String) </a:t>
            </a:r>
            <a:r>
              <a:rPr kumimoji="0" lang="en-US" sz="1800" b="0" i="0" u="none" strike="noStrike" kern="0" cap="none" spc="0" normalizeH="0" baseline="0" noProof="0" dirty="0" err="1">
                <a:ln>
                  <a:noFill/>
                </a:ln>
                <a:solidFill>
                  <a:schemeClr val="bg1"/>
                </a:solidFill>
                <a:effectLst/>
                <a:uLnTx/>
                <a:uFillTx/>
                <a:latin typeface="Trebuchet MS" pitchFamily="34" charset="0"/>
              </a:rPr>
              <a:t>iter.next</a:t>
            </a: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System.out.print</a:t>
            </a:r>
            <a:r>
              <a:rPr kumimoji="0" lang="en-US" sz="1800" b="0" i="0" u="none" strike="noStrike" kern="0" cap="none" spc="0" normalizeH="0" baseline="0" noProof="0" dirty="0">
                <a:ln>
                  <a:noFill/>
                </a:ln>
                <a:solidFill>
                  <a:schemeClr val="bg1"/>
                </a:solidFill>
                <a:effectLst/>
                <a:uLnTx/>
                <a:uFillTx/>
                <a:latin typeface="Trebuchet MS" pitchFamily="34" charset="0"/>
              </a:rPr>
              <a:t>(word + "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r>
              <a:rPr kumimoji="0" lang="en-US" sz="1800" b="0" i="0" u="none" strike="noStrike" kern="0" cap="none" spc="0" normalizeH="0" baseline="0" noProof="0" dirty="0" err="1">
                <a:ln>
                  <a:noFill/>
                </a:ln>
                <a:solidFill>
                  <a:schemeClr val="bg1"/>
                </a:solidFill>
                <a:effectLst/>
                <a:uLnTx/>
                <a:uFillTx/>
                <a:latin typeface="Trebuchet MS" pitchFamily="34" charset="0"/>
              </a:rPr>
              <a:t>System.out.println</a:t>
            </a:r>
            <a:r>
              <a:rPr kumimoji="0" lang="en-US" sz="1800" b="0" i="0" u="none" strike="noStrike" kern="0" cap="none" spc="0" normalizeH="0" baseline="0" noProof="0" dirty="0">
                <a:ln>
                  <a:noFill/>
                </a:ln>
                <a:solidFill>
                  <a:schemeClr val="bg1"/>
                </a:solidFill>
                <a:effectLst/>
                <a:uLnTx/>
                <a:uFillTx/>
                <a:latin typeface="Trebuchet MS" pitchFamily="34" charset="0"/>
              </a:rPr>
              <a:t>();</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    }</a:t>
            </a:r>
            <a:br>
              <a:rPr kumimoji="0" lang="en-US" sz="1800" b="0" i="0" u="none" strike="noStrike" kern="0" cap="none" spc="0" normalizeH="0" baseline="0" noProof="0" dirty="0">
                <a:ln>
                  <a:noFill/>
                </a:ln>
                <a:solidFill>
                  <a:schemeClr val="bg1"/>
                </a:solidFill>
                <a:effectLst/>
                <a:uLnTx/>
                <a:uFillTx/>
                <a:latin typeface="Trebuchet MS" pitchFamily="34" charset="0"/>
              </a:rPr>
            </a:br>
            <a:r>
              <a:rPr kumimoji="0" lang="en-US" sz="1800" b="0" i="0" u="none" strike="noStrike" kern="0" cap="none" spc="0" normalizeH="0" baseline="0" noProof="0" dirty="0">
                <a:ln>
                  <a:noFill/>
                </a:ln>
                <a:solidFill>
                  <a:schemeClr val="bg1"/>
                </a:solidFill>
                <a:effectLst/>
                <a:uLnTx/>
                <a:uFillTx/>
                <a:latin typeface="Trebuchet MS" pitchFamily="34" charset="0"/>
              </a:rPr>
              <a:t>}</a:t>
            </a:r>
            <a:endParaRPr kumimoji="0" lang="en-US" sz="1800" b="0" i="0" u="none" strike="noStrike" kern="0" cap="none" spc="0" normalizeH="0" baseline="0" noProof="0" dirty="0">
              <a:ln>
                <a:noFill/>
              </a:ln>
              <a:solidFill>
                <a:schemeClr val="bg1"/>
              </a:solidFill>
              <a:effectLst/>
              <a:uLnTx/>
              <a:uFillTx/>
              <a:latin typeface="Courier New" pitchFamily="49" charset="0"/>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6</a:t>
            </a:fld>
            <a:endParaRPr lang="en-US"/>
          </a:p>
        </p:txBody>
      </p:sp>
      <p:sp>
        <p:nvSpPr>
          <p:cNvPr id="5" name="Rectangle 4"/>
          <p:cNvSpPr/>
          <p:nvPr/>
        </p:nvSpPr>
        <p:spPr>
          <a:xfrm>
            <a:off x="357158" y="642918"/>
            <a:ext cx="8501122" cy="2751522"/>
          </a:xfrm>
          <a:prstGeom prst="rect">
            <a:avLst/>
          </a:prstGeom>
        </p:spPr>
        <p:txBody>
          <a:bodyPr wrap="square">
            <a:spAutoFit/>
          </a:bodyPr>
          <a:lstStyle/>
          <a:p>
            <a:pPr algn="just" rtl="1">
              <a:lnSpc>
                <a:spcPct val="90000"/>
              </a:lnSpc>
              <a:buFont typeface="Arial" pitchFamily="34" charset="0"/>
              <a:buChar char="•"/>
            </a:pPr>
            <a:r>
              <a:rPr lang="en-US" sz="2000" dirty="0">
                <a:cs typeface="B Lotus" pitchFamily="2" charset="-78"/>
              </a:rPr>
              <a:t>Set</a:t>
            </a:r>
            <a:r>
              <a:rPr lang="fa-IR" sz="2000" dirty="0">
                <a:cs typeface="B Lotus" pitchFamily="2" charset="-78"/>
              </a:rPr>
              <a:t> هم دارای متد </a:t>
            </a:r>
            <a:r>
              <a:rPr lang="en-US" sz="2000" dirty="0">
                <a:solidFill>
                  <a:schemeClr val="accent2"/>
                </a:solidFill>
                <a:latin typeface="Verdana" pitchFamily="34" charset="0"/>
                <a:cs typeface="B Lotus" pitchFamily="2" charset="-78"/>
              </a:rPr>
              <a:t>Iterator iterator()</a:t>
            </a:r>
            <a:r>
              <a:rPr lang="fa-IR" sz="2000" dirty="0">
                <a:cs typeface="B Lotus" pitchFamily="2" charset="-78"/>
              </a:rPr>
              <a:t> می‏باشد که یک شیئ </a:t>
            </a:r>
            <a:r>
              <a:rPr lang="en-US" sz="2000" dirty="0" err="1">
                <a:cs typeface="B Lotus" pitchFamily="2" charset="-78"/>
              </a:rPr>
              <a:t>iterator</a:t>
            </a:r>
            <a:r>
              <a:rPr lang="en-US" sz="2000" dirty="0">
                <a:cs typeface="B Lotus" pitchFamily="2" charset="-78"/>
              </a:rPr>
              <a:t> </a:t>
            </a:r>
            <a:r>
              <a:rPr lang="fa-IR" sz="2000" dirty="0">
                <a:cs typeface="B Lotus" pitchFamily="2" charset="-78"/>
              </a:rPr>
              <a:t> را برروی مجموعه ایجاد می‏کند و پیمایش برروی اعضای مجموعه را انجام می‏دهد.</a:t>
            </a:r>
          </a:p>
          <a:p>
            <a:pPr algn="just" rtl="1">
              <a:lnSpc>
                <a:spcPct val="90000"/>
              </a:lnSpc>
              <a:buFont typeface="Arial" pitchFamily="34" charset="0"/>
              <a:buChar char="•"/>
            </a:pPr>
            <a:r>
              <a:rPr lang="fa-IR" sz="2000" dirty="0">
                <a:cs typeface="B Lotus" pitchFamily="2" charset="-78"/>
              </a:rPr>
              <a:t>این شیئ، حاوی سه متد زیر است:</a:t>
            </a:r>
            <a:endParaRPr lang="en-US" sz="2000" dirty="0">
              <a:cs typeface="B Lotus" pitchFamily="2" charset="-78"/>
            </a:endParaRPr>
          </a:p>
          <a:p>
            <a:pPr lvl="1">
              <a:lnSpc>
                <a:spcPct val="90000"/>
              </a:lnSpc>
            </a:pPr>
            <a:r>
              <a:rPr lang="en-US" sz="2000" dirty="0" err="1">
                <a:solidFill>
                  <a:schemeClr val="accent2"/>
                </a:solidFill>
                <a:latin typeface="Verdana" pitchFamily="34" charset="0"/>
              </a:rPr>
              <a:t>boolean</a:t>
            </a:r>
            <a:r>
              <a:rPr lang="en-US" sz="2000" dirty="0">
                <a:solidFill>
                  <a:schemeClr val="accent2"/>
                </a:solidFill>
                <a:latin typeface="Verdana" pitchFamily="34" charset="0"/>
              </a:rPr>
              <a:t> </a:t>
            </a:r>
            <a:r>
              <a:rPr lang="en-US" sz="2000" dirty="0" err="1">
                <a:solidFill>
                  <a:schemeClr val="accent2"/>
                </a:solidFill>
                <a:latin typeface="Verdana" pitchFamily="34" charset="0"/>
              </a:rPr>
              <a:t>hasNext</a:t>
            </a:r>
            <a:r>
              <a:rPr lang="en-US" sz="2000" dirty="0">
                <a:solidFill>
                  <a:schemeClr val="accent2"/>
                </a:solidFill>
                <a:latin typeface="Verdana" pitchFamily="34" charset="0"/>
              </a:rPr>
              <a:t>()</a:t>
            </a:r>
          </a:p>
          <a:p>
            <a:pPr lvl="1">
              <a:lnSpc>
                <a:spcPct val="90000"/>
              </a:lnSpc>
            </a:pPr>
            <a:r>
              <a:rPr lang="en-US" sz="2000" dirty="0">
                <a:solidFill>
                  <a:schemeClr val="accent2"/>
                </a:solidFill>
                <a:latin typeface="Verdana" pitchFamily="34" charset="0"/>
              </a:rPr>
              <a:t>Object next()</a:t>
            </a:r>
          </a:p>
          <a:p>
            <a:pPr lvl="1">
              <a:lnSpc>
                <a:spcPct val="90000"/>
              </a:lnSpc>
            </a:pPr>
            <a:r>
              <a:rPr lang="en-US" sz="2000" dirty="0">
                <a:solidFill>
                  <a:schemeClr val="accent2"/>
                </a:solidFill>
                <a:latin typeface="Verdana" pitchFamily="34" charset="0"/>
              </a:rPr>
              <a:t>void remove()</a:t>
            </a:r>
          </a:p>
          <a:p>
            <a:pPr algn="just" rtl="1">
              <a:lnSpc>
                <a:spcPct val="90000"/>
              </a:lnSpc>
              <a:buFont typeface="Arial" pitchFamily="34" charset="0"/>
              <a:buChar char="•"/>
            </a:pPr>
            <a:r>
              <a:rPr lang="fa-IR" sz="2400" dirty="0">
                <a:cs typeface="B Lotus" pitchFamily="2" charset="-78"/>
              </a:rPr>
              <a:t>می‏توانید از حلقه </a:t>
            </a:r>
            <a:r>
              <a:rPr lang="en-US" sz="2400" dirty="0">
                <a:cs typeface="B Lotus" pitchFamily="2" charset="-78"/>
              </a:rPr>
              <a:t>for</a:t>
            </a:r>
            <a:r>
              <a:rPr lang="fa-IR" sz="2400" dirty="0">
                <a:cs typeface="B Lotus" pitchFamily="2" charset="-78"/>
              </a:rPr>
              <a:t> تغییریافته برای انجام پیمایش برروی مجموعه استفاده کنید.</a:t>
            </a:r>
          </a:p>
          <a:p>
            <a:pPr algn="just" rtl="1">
              <a:lnSpc>
                <a:spcPct val="90000"/>
              </a:lnSpc>
              <a:buFont typeface="Arial" pitchFamily="34" charset="0"/>
              <a:buChar char="•"/>
            </a:pPr>
            <a:r>
              <a:rPr lang="fa-IR" sz="2400" dirty="0">
                <a:cs typeface="B Lotus" pitchFamily="2" charset="-78"/>
              </a:rPr>
              <a:t>متد </a:t>
            </a:r>
            <a:r>
              <a:rPr lang="en-US" sz="2400" dirty="0">
                <a:solidFill>
                  <a:schemeClr val="accent2"/>
                </a:solidFill>
                <a:latin typeface="Verdana" pitchFamily="34" charset="0"/>
                <a:cs typeface="B Lotus" pitchFamily="2" charset="-78"/>
              </a:rPr>
              <a:t>remove()</a:t>
            </a:r>
            <a:r>
              <a:rPr lang="fa-IR" sz="2400" dirty="0">
                <a:solidFill>
                  <a:schemeClr val="accent2"/>
                </a:solidFill>
                <a:latin typeface="Verdana" pitchFamily="34" charset="0"/>
                <a:cs typeface="B Lotus" pitchFamily="2" charset="-78"/>
              </a:rPr>
              <a:t> </a:t>
            </a:r>
            <a:r>
              <a:rPr lang="fa-IR" sz="2400" dirty="0">
                <a:cs typeface="B Lotus" pitchFamily="2" charset="-78"/>
              </a:rPr>
              <a:t>به شما امکان می‏دهد در حین پیمایش هر عنصر، عنصر مربوطه را از مجموعه حذف کنید. </a:t>
            </a:r>
            <a:endParaRPr lang="en-US" sz="2400" dirty="0">
              <a:cs typeface="B Lotus" pitchFamily="2" charset="-78"/>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Autofit/>
          </a:bodyPr>
          <a:lstStyle/>
          <a:p>
            <a:pPr rtl="1"/>
            <a:r>
              <a:rPr lang="fa-IR" sz="2800" b="1" dirty="0">
                <a:solidFill>
                  <a:schemeClr val="bg1"/>
                </a:solidFill>
                <a:cs typeface="B Lotus" pitchFamily="2" charset="-78"/>
              </a:rPr>
              <a:t>عملیات متداول </a:t>
            </a:r>
            <a:r>
              <a:rPr lang="en-US" sz="2800" b="1" dirty="0">
                <a:solidFill>
                  <a:schemeClr val="bg1"/>
                </a:solidFill>
                <a:cs typeface="B Lotus" pitchFamily="2" charset="-78"/>
              </a:rPr>
              <a:t>set</a:t>
            </a:r>
          </a:p>
        </p:txBody>
      </p:sp>
      <p:sp>
        <p:nvSpPr>
          <p:cNvPr id="5" name="Rectangle 3"/>
          <p:cNvSpPr>
            <a:spLocks noGrp="1" noChangeArrowheads="1"/>
          </p:cNvSpPr>
          <p:nvPr>
            <p:ph idx="1"/>
          </p:nvPr>
        </p:nvSpPr>
        <p:spPr>
          <a:xfrm>
            <a:off x="500034" y="1285860"/>
            <a:ext cx="8229600" cy="4525963"/>
          </a:xfrm>
        </p:spPr>
        <p:txBody>
          <a:bodyPr>
            <a:normAutofit lnSpcReduction="10000"/>
          </a:bodyPr>
          <a:lstStyle/>
          <a:p>
            <a:r>
              <a:rPr lang="en-US" dirty="0"/>
              <a:t>Testing if </a:t>
            </a:r>
            <a:r>
              <a:rPr lang="en-US" dirty="0">
                <a:solidFill>
                  <a:schemeClr val="accent2"/>
                </a:solidFill>
                <a:latin typeface="Verdana" pitchFamily="34" charset="0"/>
              </a:rPr>
              <a:t>s2</a:t>
            </a:r>
            <a:r>
              <a:rPr lang="en-US" dirty="0"/>
              <a:t> is a </a:t>
            </a:r>
            <a:r>
              <a:rPr lang="en-US" i="1" dirty="0"/>
              <a:t>subset</a:t>
            </a:r>
            <a:r>
              <a:rPr lang="en-US" dirty="0"/>
              <a:t> of </a:t>
            </a:r>
            <a:r>
              <a:rPr lang="en-US" dirty="0">
                <a:solidFill>
                  <a:schemeClr val="accent2"/>
                </a:solidFill>
                <a:latin typeface="Verdana" pitchFamily="34" charset="0"/>
              </a:rPr>
              <a:t>s1</a:t>
            </a:r>
            <a:endParaRPr lang="fa-IR" dirty="0">
              <a:solidFill>
                <a:schemeClr val="accent2"/>
              </a:solidFill>
              <a:latin typeface="Verdana" pitchFamily="34" charset="0"/>
            </a:endParaRPr>
          </a:p>
          <a:p>
            <a:pPr marL="0" indent="0">
              <a:buNone/>
            </a:pPr>
            <a:r>
              <a:rPr lang="fa-IR" dirty="0">
                <a:latin typeface="Verdana" pitchFamily="34" charset="0"/>
              </a:rPr>
              <a:t>  </a:t>
            </a:r>
            <a:r>
              <a:rPr lang="en-US" dirty="0">
                <a:latin typeface="Verdana" pitchFamily="34" charset="0"/>
              </a:rPr>
              <a:t>      </a:t>
            </a:r>
            <a:r>
              <a:rPr lang="en-US" dirty="0">
                <a:solidFill>
                  <a:schemeClr val="accent2"/>
                </a:solidFill>
                <a:latin typeface="Verdana" pitchFamily="34" charset="0"/>
              </a:rPr>
              <a:t>s1.containsAll(s2)</a:t>
            </a:r>
          </a:p>
          <a:p>
            <a:r>
              <a:rPr lang="en-US" dirty="0"/>
              <a:t>Setting </a:t>
            </a:r>
            <a:r>
              <a:rPr lang="en-US" dirty="0">
                <a:solidFill>
                  <a:schemeClr val="accent2"/>
                </a:solidFill>
                <a:latin typeface="Verdana" pitchFamily="34" charset="0"/>
              </a:rPr>
              <a:t>s1</a:t>
            </a:r>
            <a:r>
              <a:rPr lang="en-US" dirty="0"/>
              <a:t> to the </a:t>
            </a:r>
            <a:r>
              <a:rPr lang="en-US" i="1" dirty="0"/>
              <a:t>union</a:t>
            </a:r>
            <a:r>
              <a:rPr lang="en-US" dirty="0"/>
              <a:t> of </a:t>
            </a:r>
            <a:r>
              <a:rPr lang="en-US" dirty="0">
                <a:solidFill>
                  <a:schemeClr val="accent2"/>
                </a:solidFill>
                <a:latin typeface="Verdana" pitchFamily="34" charset="0"/>
              </a:rPr>
              <a:t>s1</a:t>
            </a:r>
            <a:r>
              <a:rPr lang="en-US" dirty="0"/>
              <a:t> and </a:t>
            </a:r>
            <a:r>
              <a:rPr lang="en-US" dirty="0">
                <a:solidFill>
                  <a:schemeClr val="accent2"/>
                </a:solidFill>
                <a:latin typeface="Verdana" pitchFamily="34" charset="0"/>
              </a:rPr>
              <a:t>s2</a:t>
            </a:r>
            <a:endParaRPr lang="fa-IR" dirty="0">
              <a:solidFill>
                <a:schemeClr val="accent2"/>
              </a:solidFill>
              <a:latin typeface="Verdana" pitchFamily="34" charset="0"/>
            </a:endParaRPr>
          </a:p>
          <a:p>
            <a:pPr marL="0" indent="0">
              <a:buNone/>
            </a:pPr>
            <a:r>
              <a:rPr lang="fa-IR" dirty="0">
                <a:latin typeface="Verdana" pitchFamily="34" charset="0"/>
              </a:rPr>
              <a:t>   </a:t>
            </a:r>
            <a:r>
              <a:rPr lang="en-US" dirty="0">
                <a:latin typeface="Verdana" pitchFamily="34" charset="0"/>
              </a:rPr>
              <a:t>    </a:t>
            </a:r>
            <a:r>
              <a:rPr lang="en-US" dirty="0">
                <a:solidFill>
                  <a:schemeClr val="accent2"/>
                </a:solidFill>
                <a:latin typeface="Verdana" pitchFamily="34" charset="0"/>
              </a:rPr>
              <a:t> s1.addAll(s2)</a:t>
            </a:r>
            <a:endParaRPr lang="fa-IR" dirty="0">
              <a:solidFill>
                <a:schemeClr val="accent2"/>
              </a:solidFill>
              <a:latin typeface="Verdana" pitchFamily="34" charset="0"/>
            </a:endParaRPr>
          </a:p>
          <a:p>
            <a:r>
              <a:rPr lang="en-US" dirty="0"/>
              <a:t>Setting </a:t>
            </a:r>
            <a:r>
              <a:rPr lang="en-US" dirty="0">
                <a:solidFill>
                  <a:schemeClr val="accent2"/>
                </a:solidFill>
                <a:latin typeface="Verdana" pitchFamily="34" charset="0"/>
              </a:rPr>
              <a:t>s1</a:t>
            </a:r>
            <a:r>
              <a:rPr lang="en-US" dirty="0"/>
              <a:t> to the </a:t>
            </a:r>
            <a:r>
              <a:rPr lang="en-US" i="1" dirty="0"/>
              <a:t>intersection</a:t>
            </a:r>
            <a:r>
              <a:rPr lang="en-US" dirty="0"/>
              <a:t> of </a:t>
            </a:r>
            <a:r>
              <a:rPr lang="en-US" dirty="0">
                <a:solidFill>
                  <a:schemeClr val="accent2"/>
                </a:solidFill>
                <a:latin typeface="Verdana" pitchFamily="34" charset="0"/>
              </a:rPr>
              <a:t>s1</a:t>
            </a:r>
            <a:r>
              <a:rPr lang="en-US" dirty="0"/>
              <a:t> and </a:t>
            </a:r>
            <a:r>
              <a:rPr lang="en-US" dirty="0">
                <a:solidFill>
                  <a:schemeClr val="accent2"/>
                </a:solidFill>
                <a:latin typeface="Verdana" pitchFamily="34" charset="0"/>
              </a:rPr>
              <a:t>s2</a:t>
            </a:r>
            <a:endParaRPr lang="fa-IR" dirty="0">
              <a:solidFill>
                <a:schemeClr val="accent2"/>
              </a:solidFill>
              <a:latin typeface="Verdana" pitchFamily="34" charset="0"/>
            </a:endParaRPr>
          </a:p>
          <a:p>
            <a:pPr marL="0" indent="0">
              <a:buNone/>
            </a:pPr>
            <a:r>
              <a:rPr lang="en-US" dirty="0">
                <a:latin typeface="Verdana" pitchFamily="34" charset="0"/>
              </a:rPr>
              <a:t>    </a:t>
            </a:r>
            <a:r>
              <a:rPr lang="en-US" dirty="0">
                <a:solidFill>
                  <a:schemeClr val="accent2"/>
                </a:solidFill>
                <a:latin typeface="Verdana" pitchFamily="34" charset="0"/>
              </a:rPr>
              <a:t> s1.retainAll(s2)</a:t>
            </a:r>
          </a:p>
          <a:p>
            <a:r>
              <a:rPr lang="en-US" dirty="0"/>
              <a:t>Setting </a:t>
            </a:r>
            <a:r>
              <a:rPr lang="en-US" dirty="0">
                <a:solidFill>
                  <a:schemeClr val="accent2"/>
                </a:solidFill>
                <a:latin typeface="Verdana" pitchFamily="34" charset="0"/>
              </a:rPr>
              <a:t>s1</a:t>
            </a:r>
            <a:r>
              <a:rPr lang="en-US" dirty="0"/>
              <a:t> to the </a:t>
            </a:r>
            <a:r>
              <a:rPr lang="en-US" i="1" dirty="0"/>
              <a:t>set difference</a:t>
            </a:r>
            <a:r>
              <a:rPr lang="en-US" dirty="0"/>
              <a:t> of </a:t>
            </a:r>
            <a:r>
              <a:rPr lang="en-US" dirty="0">
                <a:solidFill>
                  <a:schemeClr val="accent2"/>
                </a:solidFill>
                <a:latin typeface="Verdana" pitchFamily="34" charset="0"/>
              </a:rPr>
              <a:t>s1</a:t>
            </a:r>
            <a:r>
              <a:rPr lang="en-US" dirty="0"/>
              <a:t> and </a:t>
            </a:r>
            <a:r>
              <a:rPr lang="en-US" dirty="0">
                <a:solidFill>
                  <a:schemeClr val="accent2"/>
                </a:solidFill>
                <a:latin typeface="Verdana" pitchFamily="34" charset="0"/>
              </a:rPr>
              <a:t>s2</a:t>
            </a:r>
            <a:endParaRPr lang="fa-IR" dirty="0">
              <a:solidFill>
                <a:schemeClr val="accent2"/>
              </a:solidFill>
              <a:latin typeface="Verdana" pitchFamily="34" charset="0"/>
            </a:endParaRPr>
          </a:p>
          <a:p>
            <a:pPr marL="0" indent="0">
              <a:buNone/>
            </a:pPr>
            <a:r>
              <a:rPr lang="en-US" dirty="0">
                <a:latin typeface="Verdana" pitchFamily="34" charset="0"/>
              </a:rPr>
              <a:t>     </a:t>
            </a:r>
            <a:r>
              <a:rPr lang="en-US" dirty="0">
                <a:solidFill>
                  <a:schemeClr val="accent2"/>
                </a:solidFill>
                <a:latin typeface="Verdana" pitchFamily="34" charset="0"/>
              </a:rPr>
              <a:t>s1.removeAll(s2)</a:t>
            </a:r>
          </a:p>
        </p:txBody>
      </p:sp>
      <p:sp>
        <p:nvSpPr>
          <p:cNvPr id="4" name="Slide Number Placeholder 3"/>
          <p:cNvSpPr>
            <a:spLocks noGrp="1"/>
          </p:cNvSpPr>
          <p:nvPr>
            <p:ph type="sldNum" sz="quarter" idx="12"/>
          </p:nvPr>
        </p:nvSpPr>
        <p:spPr/>
        <p:txBody>
          <a:bodyPr/>
          <a:lstStyle/>
          <a:p>
            <a:fld id="{79E6E8FA-B1EB-4DD1-845A-B9015C921A1C}" type="slidenum">
              <a:rPr lang="en-US" smtClean="0"/>
              <a:pPr/>
              <a:t>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en-US" sz="3600" dirty="0">
                <a:solidFill>
                  <a:schemeClr val="bg1"/>
                </a:solidFill>
              </a:rPr>
              <a:t>Hashing</a:t>
            </a:r>
          </a:p>
        </p:txBody>
      </p:sp>
      <p:sp>
        <p:nvSpPr>
          <p:cNvPr id="3" name="Content Placeholder 2"/>
          <p:cNvSpPr>
            <a:spLocks noGrp="1"/>
          </p:cNvSpPr>
          <p:nvPr>
            <p:ph idx="1"/>
          </p:nvPr>
        </p:nvSpPr>
        <p:spPr>
          <a:xfrm>
            <a:off x="285720" y="1142984"/>
            <a:ext cx="5043494" cy="5357850"/>
          </a:xfrm>
        </p:spPr>
        <p:txBody>
          <a:bodyPr>
            <a:normAutofit fontScale="70000" lnSpcReduction="20000"/>
          </a:bodyPr>
          <a:lstStyle/>
          <a:p>
            <a:pPr algn="r" rtl="1"/>
            <a:r>
              <a:rPr lang="fa-IR" dirty="0">
                <a:cs typeface="B Lotus" pitchFamily="2" charset="-78"/>
              </a:rPr>
              <a:t>جستجو یک مسئله مهم در ساختمان داده‏ها می‏باشد.</a:t>
            </a:r>
          </a:p>
          <a:p>
            <a:pPr algn="r" rtl="1"/>
            <a:r>
              <a:rPr lang="fa-IR" dirty="0">
                <a:cs typeface="B Lotus" pitchFamily="2" charset="-78"/>
              </a:rPr>
              <a:t>فرض کنید بخواهیم مقداری را در یک آرایه نامرتب جستجو کنیم.</a:t>
            </a:r>
          </a:p>
          <a:p>
            <a:pPr algn="just" rtl="1"/>
            <a:r>
              <a:rPr lang="fa-IR" dirty="0">
                <a:cs typeface="B Lotus" pitchFamily="2" charset="-78"/>
              </a:rPr>
              <a:t>برای یافتن عنصر حاویِ آن مقدار، تک‏تک عناصر آرایه باید بررسی شوند.</a:t>
            </a:r>
          </a:p>
          <a:p>
            <a:pPr algn="just" rtl="1"/>
            <a:r>
              <a:rPr lang="fa-IR" dirty="0">
                <a:cs typeface="B Lotus" pitchFamily="2" charset="-78"/>
              </a:rPr>
              <a:t>اگر آرایه مرتب بود، با جستجوی دودویی، پیچیدگی زمانی </a:t>
            </a:r>
            <a:r>
              <a:rPr lang="en-US" dirty="0">
                <a:cs typeface="B Lotus" pitchFamily="2" charset="-78"/>
              </a:rPr>
              <a:t>O(log n)</a:t>
            </a:r>
            <a:r>
              <a:rPr lang="fa-IR" dirty="0">
                <a:cs typeface="B Lotus" pitchFamily="2" charset="-78"/>
              </a:rPr>
              <a:t> می‏بود. </a:t>
            </a:r>
          </a:p>
          <a:p>
            <a:pPr algn="just" rtl="1"/>
            <a:r>
              <a:rPr lang="fa-IR" dirty="0">
                <a:cs typeface="B Lotus" pitchFamily="2" charset="-78"/>
              </a:rPr>
              <a:t>اگر بدانیم اندیس مکان احتمالی مقدار موردنظر چیست، سرعت جستجو به مراتب بالا خواهد رفت.</a:t>
            </a:r>
          </a:p>
          <a:p>
            <a:pPr algn="just" rtl="1">
              <a:lnSpc>
                <a:spcPct val="120000"/>
              </a:lnSpc>
            </a:pPr>
            <a:r>
              <a:rPr lang="fa-IR" dirty="0">
                <a:cs typeface="B Lotus" pitchFamily="2" charset="-78"/>
              </a:rPr>
              <a:t>تصور کنید یک تابع جادویی داریم که به ما می‏گوید، اندیس عنصر موردنظر چیست.</a:t>
            </a:r>
          </a:p>
          <a:p>
            <a:pPr algn="just" rtl="1"/>
            <a:r>
              <a:rPr lang="fa-IR" dirty="0">
                <a:cs typeface="B Lotus" pitchFamily="2" charset="-78"/>
              </a:rPr>
              <a:t>با این تابع جادویی زمان جستجو به </a:t>
            </a:r>
            <a:r>
              <a:rPr lang="en-US" dirty="0">
                <a:cs typeface="B Lotus" pitchFamily="2" charset="-78"/>
              </a:rPr>
              <a:t> O(1)</a:t>
            </a:r>
            <a:r>
              <a:rPr lang="fa-IR" dirty="0">
                <a:cs typeface="B Lotus" pitchFamily="2" charset="-78"/>
              </a:rPr>
              <a:t>کاهش خواهد یافت!</a:t>
            </a:r>
            <a:endParaRPr lang="en-US" dirty="0">
              <a:cs typeface="B Lotus" pitchFamily="2" charset="-78"/>
            </a:endParaRPr>
          </a:p>
          <a:p>
            <a:pPr algn="just" rtl="1"/>
            <a:r>
              <a:rPr lang="fa-IR" dirty="0">
                <a:cs typeface="B Lotus" pitchFamily="2" charset="-78"/>
              </a:rPr>
              <a:t>این تابع جادویی، تابع هَش </a:t>
            </a:r>
            <a:r>
              <a:rPr lang="en-US" dirty="0">
                <a:cs typeface="B Lotus" pitchFamily="2" charset="-78"/>
              </a:rPr>
              <a:t>(Hash Function)</a:t>
            </a:r>
            <a:r>
              <a:rPr lang="fa-IR" dirty="0">
                <a:cs typeface="B Lotus" pitchFamily="2" charset="-78"/>
              </a:rPr>
              <a:t> نامیده می‏شود. </a:t>
            </a:r>
          </a:p>
          <a:p>
            <a:pPr algn="just" rtl="1"/>
            <a:r>
              <a:rPr lang="fa-IR" dirty="0">
                <a:cs typeface="B Lotus" pitchFamily="2" charset="-78"/>
              </a:rPr>
              <a:t>تابع هَش، تابعی است که با داشتن یک کلید، آدرسی را در جدول هش تولید می‏کند.</a:t>
            </a:r>
          </a:p>
          <a:p>
            <a:pPr algn="r" rtl="1"/>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8</a:t>
            </a:fld>
            <a:endParaRPr lang="en-US"/>
          </a:p>
        </p:txBody>
      </p:sp>
      <p:pic>
        <p:nvPicPr>
          <p:cNvPr id="27650" name="Picture 2" descr="http://www.cs.cmu.edu/%7Eadamchik/15-121/lectures/Hashing/pix/hashing0.bmp"/>
          <p:cNvPicPr>
            <a:picLocks noChangeAspect="1" noChangeArrowheads="1"/>
          </p:cNvPicPr>
          <p:nvPr/>
        </p:nvPicPr>
        <p:blipFill>
          <a:blip r:embed="rId2"/>
          <a:srcRect r="10833"/>
          <a:stretch>
            <a:fillRect/>
          </a:stretch>
        </p:blipFill>
        <p:spPr bwMode="auto">
          <a:xfrm>
            <a:off x="5214910" y="1357298"/>
            <a:ext cx="3929090" cy="4200534"/>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02185"/>
            <a:ext cx="8229600" cy="418503"/>
          </a:xfrm>
        </p:spPr>
        <p:txBody>
          <a:bodyPr>
            <a:noAutofit/>
          </a:bodyPr>
          <a:lstStyle/>
          <a:p>
            <a:r>
              <a:rPr lang="en-US" sz="2800" dirty="0">
                <a:solidFill>
                  <a:schemeClr val="bg1"/>
                </a:solidFill>
              </a:rPr>
              <a:t>Hashing</a:t>
            </a:r>
            <a:endParaRPr lang="en-US" sz="2800" dirty="0"/>
          </a:p>
        </p:txBody>
      </p:sp>
      <p:sp>
        <p:nvSpPr>
          <p:cNvPr id="4" name="Slide Number Placeholder 3"/>
          <p:cNvSpPr>
            <a:spLocks noGrp="1"/>
          </p:cNvSpPr>
          <p:nvPr>
            <p:ph type="sldNum" sz="quarter" idx="12"/>
          </p:nvPr>
        </p:nvSpPr>
        <p:spPr/>
        <p:txBody>
          <a:bodyPr/>
          <a:lstStyle/>
          <a:p>
            <a:fld id="{79E6E8FA-B1EB-4DD1-845A-B9015C921A1C}" type="slidenum">
              <a:rPr lang="en-US" smtClean="0"/>
              <a:pPr/>
              <a:t>9</a:t>
            </a:fld>
            <a:endParaRPr lang="en-US"/>
          </a:p>
        </p:txBody>
      </p:sp>
      <p:pic>
        <p:nvPicPr>
          <p:cNvPr id="121858" name="Picture 2" descr="http://eclipsesource.com/blogs/wp-content/uploads/2012/09/527px-Setzkasten.jpg"/>
          <p:cNvPicPr>
            <a:picLocks noChangeAspect="1" noChangeArrowheads="1"/>
          </p:cNvPicPr>
          <p:nvPr/>
        </p:nvPicPr>
        <p:blipFill>
          <a:blip r:embed="rId2"/>
          <a:srcRect/>
          <a:stretch>
            <a:fillRect/>
          </a:stretch>
        </p:blipFill>
        <p:spPr bwMode="auto">
          <a:xfrm>
            <a:off x="1428728" y="714356"/>
            <a:ext cx="5882473" cy="5357850"/>
          </a:xfrm>
          <a:prstGeom prst="rect">
            <a:avLst/>
          </a:prstGeom>
          <a:noFill/>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en-US" sz="3600" dirty="0">
                <a:solidFill>
                  <a:schemeClr val="bg1"/>
                </a:solidFill>
              </a:rPr>
              <a:t>Hashing</a:t>
            </a:r>
          </a:p>
        </p:txBody>
      </p:sp>
      <p:sp>
        <p:nvSpPr>
          <p:cNvPr id="3" name="Content Placeholder 2"/>
          <p:cNvSpPr>
            <a:spLocks noGrp="1"/>
          </p:cNvSpPr>
          <p:nvPr>
            <p:ph idx="1"/>
          </p:nvPr>
        </p:nvSpPr>
        <p:spPr>
          <a:xfrm>
            <a:off x="2857456" y="642918"/>
            <a:ext cx="6286544" cy="6215082"/>
          </a:xfrm>
        </p:spPr>
        <p:txBody>
          <a:bodyPr>
            <a:normAutofit fontScale="55000" lnSpcReduction="20000"/>
          </a:bodyPr>
          <a:lstStyle/>
          <a:p>
            <a:pPr algn="r" rtl="1"/>
            <a:r>
              <a:rPr lang="fa-IR" dirty="0">
                <a:cs typeface="B Lotus" pitchFamily="2" charset="-78"/>
              </a:rPr>
              <a:t>مثالی از یک تابع هش، کدکتاب در کتابخانه می‏باشد.</a:t>
            </a:r>
          </a:p>
          <a:p>
            <a:pPr algn="r" rtl="1"/>
            <a:r>
              <a:rPr lang="fa-IR" dirty="0">
                <a:cs typeface="B Lotus" pitchFamily="2" charset="-78"/>
              </a:rPr>
              <a:t>هر کدکتاب در یک کتابخانه دارای یک شماره منحصربفرد می‏باشد.</a:t>
            </a:r>
          </a:p>
          <a:p>
            <a:pPr algn="just" rtl="1"/>
            <a:r>
              <a:rPr lang="fa-IR" dirty="0">
                <a:cs typeface="B Lotus" pitchFamily="2" charset="-78"/>
              </a:rPr>
              <a:t>این کد به مثابه یک آدرس بوده و به ما می‏گوید کتاب دقیقاً در کجای کتابخانه قرار دارد.</a:t>
            </a:r>
          </a:p>
          <a:p>
            <a:pPr algn="just" rtl="1"/>
            <a:r>
              <a:rPr lang="fa-IR" dirty="0">
                <a:cs typeface="B Lotus" pitchFamily="2" charset="-78"/>
              </a:rPr>
              <a:t>این کد، ترکیبی استاندارد از حروف و اعداد می‏باشد که امکان دسته‏بندی موضوعی و ماهیتی کتابها را فراهم می‏کند. </a:t>
            </a:r>
          </a:p>
          <a:p>
            <a:pPr algn="just" rtl="1"/>
            <a:r>
              <a:rPr lang="fa-IR" dirty="0">
                <a:cs typeface="B Lotus" pitchFamily="2" charset="-78"/>
              </a:rPr>
              <a:t>یک تابع هش که یک شماره هش برمی‏گرداند،</a:t>
            </a:r>
            <a:r>
              <a:rPr lang="en-US" b="1" dirty="0"/>
              <a:t> universal hash function</a:t>
            </a:r>
            <a:r>
              <a:rPr lang="fa-IR" dirty="0">
                <a:cs typeface="B Lotus" pitchFamily="2" charset="-78"/>
              </a:rPr>
              <a:t> نامیده می‏شود.</a:t>
            </a:r>
          </a:p>
          <a:p>
            <a:pPr algn="r" rtl="1"/>
            <a:r>
              <a:rPr lang="fa-IR" dirty="0">
                <a:cs typeface="B Lotus" pitchFamily="2" charset="-78"/>
              </a:rPr>
              <a:t>در عمل، اختصاص دادن شماره‏های منحصربفرد به اشیا دشوار می‏باشد. </a:t>
            </a:r>
          </a:p>
          <a:p>
            <a:pPr algn="r" rtl="1"/>
            <a:r>
              <a:rPr lang="fa-IR" dirty="0">
                <a:cs typeface="B Lotus" pitchFamily="2" charset="-78"/>
              </a:rPr>
              <a:t>برای اینکار از شماره اشیایی که ایجاد و پردازش می‏کنیم، استفاده می‏شود.</a:t>
            </a:r>
          </a:p>
          <a:p>
            <a:pPr algn="r" rtl="1"/>
            <a:r>
              <a:rPr lang="fa-IR" dirty="0">
                <a:cs typeface="B Lotus" pitchFamily="2" charset="-78"/>
              </a:rPr>
              <a:t>تابع هش باید خصوصیات زیر را داشته باشد:</a:t>
            </a:r>
          </a:p>
          <a:p>
            <a:pPr lvl="1" algn="r" rtl="1"/>
            <a:r>
              <a:rPr lang="fa-IR" dirty="0">
                <a:cs typeface="B Lotus" pitchFamily="2" charset="-78"/>
              </a:rPr>
              <a:t>برای یک شیئ، شماره آن را برگرداند.</a:t>
            </a:r>
          </a:p>
          <a:p>
            <a:pPr lvl="1" algn="r" rtl="1"/>
            <a:r>
              <a:rPr lang="fa-IR" dirty="0">
                <a:cs typeface="B Lotus" pitchFamily="2" charset="-78"/>
              </a:rPr>
              <a:t>دوشیئی معادل هم، باید یک شماره داشته باشند.</a:t>
            </a:r>
          </a:p>
          <a:p>
            <a:pPr lvl="1" algn="r" rtl="1"/>
            <a:r>
              <a:rPr lang="fa-IR" dirty="0">
                <a:cs typeface="B Lotus" pitchFamily="2" charset="-78"/>
              </a:rPr>
              <a:t>دو شیئی نابرابر باید شماره متفاوت داشته باشند. </a:t>
            </a:r>
          </a:p>
          <a:p>
            <a:pPr algn="r" rtl="1"/>
            <a:r>
              <a:rPr lang="fa-IR" dirty="0">
                <a:cs typeface="B Lotus" pitchFamily="2" charset="-78"/>
              </a:rPr>
              <a:t>فرآیند ذخیره‏سازی اشیا با استفاده از تابع هش به صورت زیر می‏باشد:</a:t>
            </a:r>
          </a:p>
          <a:p>
            <a:pPr lvl="1" algn="r" rtl="1"/>
            <a:r>
              <a:rPr lang="fa-IR" dirty="0">
                <a:cs typeface="B Lotus" pitchFamily="2" charset="-78"/>
              </a:rPr>
              <a:t>یک آرایه به اندازه </a:t>
            </a:r>
            <a:r>
              <a:rPr lang="en-US" dirty="0">
                <a:cs typeface="B Lotus" pitchFamily="2" charset="-78"/>
              </a:rPr>
              <a:t>M</a:t>
            </a:r>
            <a:r>
              <a:rPr lang="fa-IR" dirty="0">
                <a:cs typeface="B Lotus" pitchFamily="2" charset="-78"/>
              </a:rPr>
              <a:t> ساخته می‏شود. </a:t>
            </a:r>
          </a:p>
          <a:p>
            <a:pPr lvl="1" algn="just" rtl="1">
              <a:lnSpc>
                <a:spcPct val="120000"/>
              </a:lnSpc>
            </a:pPr>
            <a:r>
              <a:rPr lang="fa-IR" dirty="0">
                <a:cs typeface="B Lotus" pitchFamily="2" charset="-78"/>
              </a:rPr>
              <a:t>یک تابع هش </a:t>
            </a:r>
            <a:r>
              <a:rPr lang="en-US" dirty="0">
                <a:cs typeface="B Lotus" pitchFamily="2" charset="-78"/>
              </a:rPr>
              <a:t>h</a:t>
            </a:r>
            <a:r>
              <a:rPr lang="fa-IR" dirty="0">
                <a:cs typeface="B Lotus" pitchFamily="2" charset="-78"/>
              </a:rPr>
              <a:t> انتخاب می‏شود که قادر است اشیا را به ترتیب به اعداد </a:t>
            </a:r>
            <a:r>
              <a:rPr lang="en-US" dirty="0">
                <a:cs typeface="B Lotus" pitchFamily="2" charset="-78"/>
              </a:rPr>
              <a:t>M-1,….,1,0</a:t>
            </a:r>
            <a:r>
              <a:rPr lang="fa-IR" dirty="0">
                <a:cs typeface="B Lotus" pitchFamily="2" charset="-78"/>
              </a:rPr>
              <a:t> نگاشت کند.</a:t>
            </a:r>
          </a:p>
          <a:p>
            <a:pPr lvl="1" algn="r" rtl="1"/>
            <a:r>
              <a:rPr lang="fa-IR" sz="2900" dirty="0">
                <a:cs typeface="B Lotus" pitchFamily="2" charset="-78"/>
              </a:rPr>
              <a:t>این اشیا را درون آرایه در اندیسهایی قرار می‏دهیم که با تابع هش مشخص شده‏اند:  </a:t>
            </a:r>
          </a:p>
          <a:p>
            <a:pPr lvl="1" algn="r" rtl="1"/>
            <a:endParaRPr lang="fa-IR" sz="2900" i="1" dirty="0">
              <a:cs typeface="B Lotus" pitchFamily="2" charset="-78"/>
            </a:endParaRPr>
          </a:p>
          <a:p>
            <a:pPr marL="457200" lvl="1" indent="0" rtl="1">
              <a:buNone/>
            </a:pPr>
            <a:r>
              <a:rPr lang="en-US" sz="2900" i="1" dirty="0"/>
              <a:t>index= h(object)</a:t>
            </a:r>
            <a:endParaRPr lang="fa-IR" sz="2900" dirty="0">
              <a:cs typeface="B Lotus" pitchFamily="2" charset="-78"/>
            </a:endParaRPr>
          </a:p>
          <a:p>
            <a:pPr lvl="1" algn="r" rtl="1"/>
            <a:endParaRPr lang="fa-IR" dirty="0">
              <a:cs typeface="B Lotus" pitchFamily="2" charset="-78"/>
            </a:endParaRPr>
          </a:p>
          <a:p>
            <a:pPr algn="r" rtl="1"/>
            <a:r>
              <a:rPr lang="fa-IR" dirty="0">
                <a:cs typeface="B Lotus" pitchFamily="2" charset="-78"/>
              </a:rPr>
              <a:t>به این جدول، اصطلاحاً </a:t>
            </a:r>
            <a:r>
              <a:rPr lang="en-US" dirty="0">
                <a:cs typeface="B Lotus" pitchFamily="2" charset="-78"/>
              </a:rPr>
              <a:t>hash table</a:t>
            </a:r>
            <a:r>
              <a:rPr lang="fa-IR" dirty="0">
                <a:cs typeface="B Lotus" pitchFamily="2" charset="-78"/>
              </a:rPr>
              <a:t> گفته می‏شود. </a:t>
            </a:r>
          </a:p>
        </p:txBody>
      </p:sp>
      <p:sp>
        <p:nvSpPr>
          <p:cNvPr id="4" name="Slide Number Placeholder 3"/>
          <p:cNvSpPr>
            <a:spLocks noGrp="1"/>
          </p:cNvSpPr>
          <p:nvPr>
            <p:ph type="sldNum" sz="quarter" idx="12"/>
          </p:nvPr>
        </p:nvSpPr>
        <p:spPr/>
        <p:txBody>
          <a:bodyPr/>
          <a:lstStyle/>
          <a:p>
            <a:fld id="{79E6E8FA-B1EB-4DD1-845A-B9015C921A1C}" type="slidenum">
              <a:rPr lang="en-US" smtClean="0"/>
              <a:pPr/>
              <a:t>10</a:t>
            </a:fld>
            <a:endParaRPr lang="en-US"/>
          </a:p>
        </p:txBody>
      </p:sp>
      <p:pic>
        <p:nvPicPr>
          <p:cNvPr id="6" name="Picture 2" descr="http://www.cs.cmu.edu/%7Eadamchik/15-121/lectures/Hashing/pix/hashing1.bmp"/>
          <p:cNvPicPr>
            <a:picLocks noChangeAspect="1" noChangeArrowheads="1"/>
          </p:cNvPicPr>
          <p:nvPr/>
        </p:nvPicPr>
        <p:blipFill>
          <a:blip r:embed="rId2"/>
          <a:srcRect/>
          <a:stretch>
            <a:fillRect/>
          </a:stretch>
        </p:blipFill>
        <p:spPr bwMode="auto">
          <a:xfrm>
            <a:off x="214282" y="1928802"/>
            <a:ext cx="2714644" cy="3500462"/>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linds(horizont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linds(horizontal)">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blinds(horizontal)">
                                      <p:cBhvr>
                                        <p:cTn id="82" dur="5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
                                            <p:txEl>
                                              <p:pRg st="18" end="18"/>
                                            </p:txEl>
                                          </p:spTgt>
                                        </p:tgtEl>
                                        <p:attrNameLst>
                                          <p:attrName>style.visibility</p:attrName>
                                        </p:attrNameLst>
                                      </p:cBhvr>
                                      <p:to>
                                        <p:strVal val="visible"/>
                                      </p:to>
                                    </p:set>
                                    <p:animEffect transition="in" filter="blinds(horizontal)">
                                      <p:cBhvr>
                                        <p:cTn id="87"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Autofit/>
          </a:bodyPr>
          <a:lstStyle/>
          <a:p>
            <a:r>
              <a:rPr lang="fa-IR" sz="2800" dirty="0">
                <a:solidFill>
                  <a:schemeClr val="bg1"/>
                </a:solidFill>
                <a:cs typeface="B Lotus" pitchFamily="2" charset="-78"/>
              </a:rPr>
              <a:t>یک تابع هش چگونه انتخاب شود؟</a:t>
            </a:r>
            <a:endParaRPr lang="en-US" sz="2800" dirty="0">
              <a:solidFill>
                <a:schemeClr val="bg1"/>
              </a:solidFill>
              <a:cs typeface="B Lotus" pitchFamily="2" charset="-78"/>
            </a:endParaRPr>
          </a:p>
        </p:txBody>
      </p:sp>
      <p:sp>
        <p:nvSpPr>
          <p:cNvPr id="3" name="Content Placeholder 2"/>
          <p:cNvSpPr>
            <a:spLocks noGrp="1"/>
          </p:cNvSpPr>
          <p:nvPr>
            <p:ph idx="1"/>
          </p:nvPr>
        </p:nvSpPr>
        <p:spPr>
          <a:xfrm>
            <a:off x="285720" y="642918"/>
            <a:ext cx="8643998" cy="4525963"/>
          </a:xfrm>
        </p:spPr>
        <p:txBody>
          <a:bodyPr>
            <a:normAutofit fontScale="92500" lnSpcReduction="20000"/>
          </a:bodyPr>
          <a:lstStyle/>
          <a:p>
            <a:pPr algn="r" rtl="1"/>
            <a:r>
              <a:rPr lang="fa-IR" sz="2400" dirty="0">
                <a:cs typeface="B Lotus" pitchFamily="2" charset="-78"/>
              </a:rPr>
              <a:t>یک روش ایجاد این تابع، استفاده از متد </a:t>
            </a:r>
            <a:r>
              <a:rPr lang="en-US" sz="2400" i="1" dirty="0">
                <a:cs typeface="B Lotus" pitchFamily="2" charset="-78"/>
              </a:rPr>
              <a:t>hashCode()</a:t>
            </a:r>
            <a:r>
              <a:rPr lang="en-US" sz="2400" dirty="0">
                <a:cs typeface="B Lotus" pitchFamily="2" charset="-78"/>
              </a:rPr>
              <a:t> </a:t>
            </a:r>
            <a:r>
              <a:rPr lang="fa-IR" sz="2400" dirty="0">
                <a:cs typeface="B Lotus" pitchFamily="2" charset="-78"/>
              </a:rPr>
              <a:t> جاوا می‏باشد.</a:t>
            </a:r>
          </a:p>
          <a:p>
            <a:pPr algn="r" rtl="1"/>
            <a:r>
              <a:rPr lang="fa-IR" sz="2400" dirty="0">
                <a:cs typeface="B Lotus" pitchFamily="2" charset="-78"/>
              </a:rPr>
              <a:t>این متد در کلاس پدرجد </a:t>
            </a:r>
            <a:r>
              <a:rPr lang="en-US" sz="2400" dirty="0">
                <a:cs typeface="B Lotus" pitchFamily="2" charset="-78"/>
              </a:rPr>
              <a:t>(Object)</a:t>
            </a:r>
            <a:r>
              <a:rPr lang="fa-IR" sz="2400" dirty="0">
                <a:cs typeface="B Lotus" pitchFamily="2" charset="-78"/>
              </a:rPr>
              <a:t> پیاده‏سازی شده است و در نتیجه همه کلاسهای جاوا، آن را به ارث می‏برند.</a:t>
            </a:r>
          </a:p>
          <a:p>
            <a:pPr algn="r" rtl="1"/>
            <a:r>
              <a:rPr lang="fa-IR" sz="2400" dirty="0">
                <a:cs typeface="B Lotus" pitchFamily="2" charset="-78"/>
              </a:rPr>
              <a:t>کد هش، یک نمایش عددی از یک شیئ ایجاد می‏کند</a:t>
            </a:r>
            <a:r>
              <a:rPr lang="en-US" sz="2400" dirty="0">
                <a:cs typeface="B Lotus" pitchFamily="2" charset="-78"/>
              </a:rPr>
              <a:t> ;</a:t>
            </a:r>
            <a:r>
              <a:rPr lang="fa-IR" sz="2400" dirty="0">
                <a:cs typeface="B Lotus" pitchFamily="2" charset="-78"/>
              </a:rPr>
              <a:t>مشابه متد </a:t>
            </a:r>
            <a:r>
              <a:rPr lang="en-US" sz="2400" dirty="0">
                <a:cs typeface="B Lotus" pitchFamily="2" charset="-78"/>
              </a:rPr>
              <a:t>toString()</a:t>
            </a:r>
            <a:r>
              <a:rPr lang="fa-IR" sz="2400" dirty="0">
                <a:cs typeface="B Lotus" pitchFamily="2" charset="-78"/>
              </a:rPr>
              <a:t> که اگر بازنویسی نشده باشد، رشته‏ای به عنوان نمایش آن شیئ را برمی‏گرداند</a:t>
            </a:r>
            <a:r>
              <a:rPr lang="en-US" sz="2400" dirty="0">
                <a:cs typeface="B Lotus" pitchFamily="2" charset="-78"/>
              </a:rPr>
              <a:t>:</a:t>
            </a:r>
          </a:p>
          <a:p>
            <a:pPr algn="r" rtl="1"/>
            <a:r>
              <a:rPr lang="en-US" sz="2400" dirty="0"/>
              <a:t>ClassName@Hexadecimal Representation of hashCode for that object</a:t>
            </a:r>
            <a:endParaRPr lang="fa-IR" sz="2400" dirty="0">
              <a:cs typeface="B Lotus" pitchFamily="2" charset="-78"/>
            </a:endParaRPr>
          </a:p>
          <a:p>
            <a:pPr algn="r" rtl="1"/>
            <a:r>
              <a:rPr lang="fa-IR" sz="2400" dirty="0">
                <a:cs typeface="B Lotus" pitchFamily="2" charset="-78"/>
              </a:rPr>
              <a:t>مثال زیر را درنظر بگیرید:</a:t>
            </a:r>
            <a:endParaRPr lang="fa-IR" sz="1900" dirty="0">
              <a:cs typeface="B Lotus" pitchFamily="2" charset="-78"/>
            </a:endParaRPr>
          </a:p>
          <a:p>
            <a:pPr algn="l"/>
            <a:r>
              <a:rPr lang="en-US" sz="2200" dirty="0"/>
              <a:t>Integer obj1 = new Integer(2009); </a:t>
            </a:r>
            <a:endParaRPr lang="fa-IR" sz="2200" dirty="0"/>
          </a:p>
          <a:p>
            <a:pPr algn="l"/>
            <a:r>
              <a:rPr lang="en-US" sz="2200" dirty="0"/>
              <a:t>String obj2 = new String("2009");</a:t>
            </a:r>
            <a:endParaRPr lang="fa-IR" sz="2200" dirty="0"/>
          </a:p>
          <a:p>
            <a:pPr algn="l"/>
            <a:r>
              <a:rPr lang="en-US" sz="2200" dirty="0"/>
              <a:t> System.out.println("hashCode for an integer is " + obj1.hashCode()); System.out.println("hashCode for a string is " + obj2.hashCode()); </a:t>
            </a:r>
            <a:endParaRPr lang="fa-IR" sz="2200" dirty="0"/>
          </a:p>
          <a:p>
            <a:pPr algn="r" rtl="1"/>
            <a:r>
              <a:rPr lang="fa-IR" sz="2200" dirty="0">
                <a:cs typeface="B Lotus" pitchFamily="2" charset="-78"/>
              </a:rPr>
              <a:t>خروجی</a:t>
            </a:r>
            <a:r>
              <a:rPr lang="fa-IR" sz="2200" dirty="0"/>
              <a:t>:</a:t>
            </a:r>
          </a:p>
          <a:p>
            <a:pPr algn="l"/>
            <a:r>
              <a:rPr lang="en-US" sz="2200" dirty="0"/>
              <a:t> hashCode for an integer is 2009 </a:t>
            </a:r>
            <a:endParaRPr lang="fa-IR" sz="2200" dirty="0"/>
          </a:p>
          <a:p>
            <a:pPr algn="l"/>
            <a:r>
              <a:rPr lang="en-US" sz="2200" dirty="0"/>
              <a:t>hashCode for a string is 1537223</a:t>
            </a:r>
          </a:p>
        </p:txBody>
      </p:sp>
      <p:sp>
        <p:nvSpPr>
          <p:cNvPr id="4" name="Slide Number Placeholder 3"/>
          <p:cNvSpPr>
            <a:spLocks noGrp="1"/>
          </p:cNvSpPr>
          <p:nvPr>
            <p:ph type="sldNum" sz="quarter" idx="12"/>
          </p:nvPr>
        </p:nvSpPr>
        <p:spPr/>
        <p:txBody>
          <a:bodyPr/>
          <a:lstStyle/>
          <a:p>
            <a:fld id="{79E6E8FA-B1EB-4DD1-845A-B9015C921A1C}" type="slidenum">
              <a:rPr lang="en-US" smtClean="0"/>
              <a:pPr/>
              <a:t>11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Autofit/>
          </a:bodyPr>
          <a:lstStyle/>
          <a:p>
            <a:r>
              <a:rPr lang="fa-IR" sz="2800" dirty="0">
                <a:solidFill>
                  <a:schemeClr val="bg1"/>
                </a:solidFill>
                <a:cs typeface="B Lotus" pitchFamily="2" charset="-78"/>
              </a:rPr>
              <a:t>یک تابع هش چگونه انتخاب شود؟</a:t>
            </a:r>
            <a:endParaRPr lang="en-US" sz="2800" dirty="0">
              <a:solidFill>
                <a:schemeClr val="bg1"/>
              </a:solidFill>
              <a:cs typeface="B Lotus" pitchFamily="2" charset="-78"/>
            </a:endParaRPr>
          </a:p>
        </p:txBody>
      </p:sp>
      <p:sp>
        <p:nvSpPr>
          <p:cNvPr id="3" name="Content Placeholder 2"/>
          <p:cNvSpPr>
            <a:spLocks noGrp="1"/>
          </p:cNvSpPr>
          <p:nvPr>
            <p:ph idx="1"/>
          </p:nvPr>
        </p:nvSpPr>
        <p:spPr>
          <a:xfrm>
            <a:off x="285720" y="642918"/>
            <a:ext cx="8643998" cy="4525963"/>
          </a:xfrm>
        </p:spPr>
        <p:txBody>
          <a:bodyPr>
            <a:normAutofit/>
          </a:bodyPr>
          <a:lstStyle/>
          <a:p>
            <a:pPr algn="r" rtl="1"/>
            <a:r>
              <a:rPr lang="fa-IR" sz="2400" dirty="0">
                <a:cs typeface="B Lotus" pitchFamily="2" charset="-78"/>
              </a:rPr>
              <a:t>متد </a:t>
            </a:r>
            <a:r>
              <a:rPr lang="en-US" sz="2400" dirty="0">
                <a:cs typeface="B Lotus" pitchFamily="2" charset="-78"/>
              </a:rPr>
              <a:t>hashCode</a:t>
            </a:r>
            <a:r>
              <a:rPr lang="fa-IR" sz="2400" dirty="0">
                <a:cs typeface="B Lotus" pitchFamily="2" charset="-78"/>
              </a:rPr>
              <a:t> در کلاسهای مختلف به شیوه‏های مختلف پیاده‏سازی می‏شود.</a:t>
            </a:r>
          </a:p>
          <a:p>
            <a:pPr algn="r" rtl="1"/>
            <a:r>
              <a:rPr lang="fa-IR" sz="2400" dirty="0">
                <a:cs typeface="B Lotus" pitchFamily="2" charset="-78"/>
              </a:rPr>
              <a:t>در کلاس </a:t>
            </a:r>
            <a:r>
              <a:rPr lang="en-US" sz="2400" dirty="0">
                <a:cs typeface="B Lotus" pitchFamily="2" charset="-78"/>
              </a:rPr>
              <a:t>String</a:t>
            </a:r>
            <a:r>
              <a:rPr lang="fa-IR" sz="2400" dirty="0">
                <a:cs typeface="B Lotus" pitchFamily="2" charset="-78"/>
              </a:rPr>
              <a:t> کد هَش با فرمول زیر محاسبه می‏شود:</a:t>
            </a:r>
          </a:p>
          <a:p>
            <a:r>
              <a:rPr lang="en-US" sz="2400" dirty="0">
                <a:cs typeface="B Lotus" pitchFamily="2" charset="-78"/>
              </a:rPr>
              <a:t>s.charAt(0) * 31</a:t>
            </a:r>
            <a:r>
              <a:rPr lang="en-US" sz="2400" baseline="30000" dirty="0">
                <a:cs typeface="B Lotus" pitchFamily="2" charset="-78"/>
              </a:rPr>
              <a:t>n-1</a:t>
            </a:r>
            <a:r>
              <a:rPr lang="en-US" sz="2400" dirty="0">
                <a:cs typeface="B Lotus" pitchFamily="2" charset="-78"/>
              </a:rPr>
              <a:t> + s.charAt(1) * 31</a:t>
            </a:r>
            <a:r>
              <a:rPr lang="en-US" sz="2400" baseline="30000" dirty="0">
                <a:cs typeface="B Lotus" pitchFamily="2" charset="-78"/>
              </a:rPr>
              <a:t>n-2</a:t>
            </a:r>
            <a:r>
              <a:rPr lang="en-US" sz="2400" dirty="0">
                <a:cs typeface="B Lotus" pitchFamily="2" charset="-78"/>
              </a:rPr>
              <a:t> + ... + s.charAt(n-1) </a:t>
            </a:r>
            <a:endParaRPr lang="fa-IR" sz="2400" dirty="0">
              <a:cs typeface="B Lotus" pitchFamily="2" charset="-78"/>
            </a:endParaRPr>
          </a:p>
          <a:p>
            <a:r>
              <a:rPr lang="en-US" sz="2400" i="1" dirty="0">
                <a:cs typeface="B Lotus" pitchFamily="2" charset="-78"/>
              </a:rPr>
              <a:t>s</a:t>
            </a:r>
            <a:r>
              <a:rPr lang="en-US" sz="2400" dirty="0">
                <a:cs typeface="B Lotus" pitchFamily="2" charset="-78"/>
              </a:rPr>
              <a:t> is a string and </a:t>
            </a:r>
            <a:r>
              <a:rPr lang="en-US" sz="2400" i="1" dirty="0">
                <a:cs typeface="B Lotus" pitchFamily="2" charset="-78"/>
              </a:rPr>
              <a:t>n</a:t>
            </a:r>
            <a:r>
              <a:rPr lang="en-US" sz="2400" dirty="0">
                <a:cs typeface="B Lotus" pitchFamily="2" charset="-78"/>
              </a:rPr>
              <a:t> is its length.</a:t>
            </a:r>
            <a:endParaRPr lang="fa-IR" sz="2400" dirty="0">
              <a:cs typeface="B Lotus" pitchFamily="2" charset="-78"/>
            </a:endParaRPr>
          </a:p>
          <a:p>
            <a:pPr algn="r" rtl="1"/>
            <a:r>
              <a:rPr lang="fa-IR" sz="2400" dirty="0">
                <a:cs typeface="B Lotus" pitchFamily="2" charset="-78"/>
              </a:rPr>
              <a:t>برای مثال:</a:t>
            </a:r>
          </a:p>
          <a:p>
            <a:r>
              <a:rPr lang="en-US" sz="2400" dirty="0">
                <a:cs typeface="B Lotus" pitchFamily="2" charset="-78"/>
              </a:rPr>
              <a:t>"ABC" = 'A' * 31</a:t>
            </a:r>
            <a:r>
              <a:rPr lang="en-US" sz="2400" baseline="30000" dirty="0">
                <a:cs typeface="B Lotus" pitchFamily="2" charset="-78"/>
              </a:rPr>
              <a:t>2</a:t>
            </a:r>
            <a:r>
              <a:rPr lang="en-US" sz="2400" dirty="0">
                <a:cs typeface="B Lotus" pitchFamily="2" charset="-78"/>
              </a:rPr>
              <a:t> + 'B' * 31 + 'C' = 65 * 31</a:t>
            </a:r>
            <a:r>
              <a:rPr lang="en-US" sz="2400" baseline="30000" dirty="0">
                <a:cs typeface="B Lotus" pitchFamily="2" charset="-78"/>
              </a:rPr>
              <a:t>2</a:t>
            </a:r>
            <a:r>
              <a:rPr lang="en-US" sz="2400" dirty="0">
                <a:cs typeface="B Lotus" pitchFamily="2" charset="-78"/>
              </a:rPr>
              <a:t> + 66 * 31 + 67 = 64578 </a:t>
            </a:r>
            <a:endParaRPr lang="fa-IR" sz="2400" dirty="0">
              <a:cs typeface="B Lotus" pitchFamily="2" charset="-78"/>
            </a:endParaRPr>
          </a:p>
          <a:p>
            <a:pPr algn="r" rtl="1"/>
            <a:r>
              <a:rPr lang="fa-IR" sz="2400" dirty="0">
                <a:cs typeface="B Lotus" pitchFamily="2" charset="-78"/>
              </a:rPr>
              <a:t>ممکن است متد </a:t>
            </a:r>
            <a:r>
              <a:rPr lang="en-US" sz="2400" dirty="0">
                <a:cs typeface="B Lotus" pitchFamily="2" charset="-78"/>
              </a:rPr>
              <a:t>hashCode</a:t>
            </a:r>
            <a:r>
              <a:rPr lang="fa-IR" sz="2400" dirty="0">
                <a:cs typeface="B Lotus" pitchFamily="2" charset="-78"/>
              </a:rPr>
              <a:t> مقدار منفی برگرداند.</a:t>
            </a:r>
          </a:p>
          <a:p>
            <a:pPr algn="r" rtl="1"/>
            <a:r>
              <a:rPr lang="fa-IR" sz="2400" dirty="0">
                <a:cs typeface="B Lotus" pitchFamily="2" charset="-78"/>
              </a:rPr>
              <a:t>در مواقعی که رشته بزرگ باشد، کدهش آن ممکن است در فضای 32 بیتی </a:t>
            </a:r>
            <a:r>
              <a:rPr lang="en-US" sz="2400" dirty="0">
                <a:cs typeface="B Lotus" pitchFamily="2" charset="-78"/>
              </a:rPr>
              <a:t>CPU</a:t>
            </a:r>
            <a:r>
              <a:rPr lang="fa-IR" sz="2400" dirty="0">
                <a:cs typeface="B Lotus" pitchFamily="2" charset="-78"/>
              </a:rPr>
              <a:t> جا نشود. در نتیجه به خاطر سرریزی ممکن است مقدار کد هش، منفی گردد!</a:t>
            </a:r>
          </a:p>
        </p:txBody>
      </p:sp>
      <p:sp>
        <p:nvSpPr>
          <p:cNvPr id="4" name="Slide Number Placeholder 3"/>
          <p:cNvSpPr>
            <a:spLocks noGrp="1"/>
          </p:cNvSpPr>
          <p:nvPr>
            <p:ph type="sldNum" sz="quarter" idx="12"/>
          </p:nvPr>
        </p:nvSpPr>
        <p:spPr/>
        <p:txBody>
          <a:bodyPr/>
          <a:lstStyle/>
          <a:p>
            <a:fld id="{79E6E8FA-B1EB-4DD1-845A-B9015C921A1C}" type="slidenum">
              <a:rPr lang="en-US" smtClean="0"/>
              <a:pPr/>
              <a:t>12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439718"/>
          </a:xfrm>
        </p:spPr>
        <p:txBody>
          <a:bodyPr>
            <a:normAutofit fontScale="90000"/>
          </a:bodyPr>
          <a:lstStyle/>
          <a:p>
            <a:pPr rtl="1"/>
            <a:r>
              <a:rPr lang="fa-IR" sz="3200" dirty="0">
                <a:solidFill>
                  <a:schemeClr val="bg1"/>
                </a:solidFill>
                <a:cs typeface="B Lotus" pitchFamily="2" charset="-78"/>
              </a:rPr>
              <a:t>تصادمها </a:t>
            </a:r>
            <a:r>
              <a:rPr lang="en-US" sz="3200" dirty="0">
                <a:solidFill>
                  <a:schemeClr val="bg1"/>
                </a:solidFill>
                <a:cs typeface="B Lotus" pitchFamily="2" charset="-78"/>
              </a:rPr>
              <a:t>(collisions)</a:t>
            </a:r>
          </a:p>
        </p:txBody>
      </p:sp>
      <p:sp>
        <p:nvSpPr>
          <p:cNvPr id="3" name="Content Placeholder 2"/>
          <p:cNvSpPr>
            <a:spLocks noGrp="1"/>
          </p:cNvSpPr>
          <p:nvPr>
            <p:ph idx="1"/>
          </p:nvPr>
        </p:nvSpPr>
        <p:spPr>
          <a:xfrm>
            <a:off x="214282" y="642918"/>
            <a:ext cx="5929354" cy="6215082"/>
          </a:xfrm>
        </p:spPr>
        <p:txBody>
          <a:bodyPr>
            <a:normAutofit fontScale="92500" lnSpcReduction="10000"/>
          </a:bodyPr>
          <a:lstStyle/>
          <a:p>
            <a:pPr algn="just" rtl="1"/>
            <a:r>
              <a:rPr lang="fa-IR" sz="2400" dirty="0">
                <a:cs typeface="B Lotus" pitchFamily="2" charset="-78"/>
              </a:rPr>
              <a:t>هنگامی که اشیا را در یک جدول هش قرار می‏دهیم، این احتمال وجود دارد که اشیای مختلف دارای کد هش یکسانی باشند.</a:t>
            </a:r>
          </a:p>
          <a:p>
            <a:pPr algn="just" rtl="1"/>
            <a:r>
              <a:rPr lang="fa-IR" sz="2400" dirty="0">
                <a:cs typeface="B Lotus" pitchFamily="2" charset="-78"/>
              </a:rPr>
              <a:t>به این اتفاق ،</a:t>
            </a:r>
            <a:r>
              <a:rPr lang="en-US" sz="2400" dirty="0">
                <a:cs typeface="B Lotus" pitchFamily="2" charset="-78"/>
              </a:rPr>
              <a:t>collision</a:t>
            </a:r>
            <a:r>
              <a:rPr lang="fa-IR" sz="2400" dirty="0">
                <a:cs typeface="B Lotus" pitchFamily="2" charset="-78"/>
              </a:rPr>
              <a:t> گفته می‏شود.</a:t>
            </a:r>
          </a:p>
          <a:p>
            <a:pPr algn="just" rtl="1"/>
            <a:r>
              <a:rPr lang="fa-IR" sz="2400" dirty="0">
                <a:cs typeface="B Lotus" pitchFamily="2" charset="-78"/>
              </a:rPr>
              <a:t>مثالی از </a:t>
            </a:r>
            <a:r>
              <a:rPr lang="en-US" sz="2400" dirty="0">
                <a:cs typeface="B Lotus" pitchFamily="2" charset="-78"/>
              </a:rPr>
              <a:t>collision</a:t>
            </a:r>
            <a:r>
              <a:rPr lang="fa-IR" sz="2400" dirty="0">
                <a:cs typeface="B Lotus" pitchFamily="2" charset="-78"/>
              </a:rPr>
              <a:t> را ببینید که دو رشته مختلف</a:t>
            </a:r>
            <a:r>
              <a:rPr lang="en-US" sz="2400" dirty="0">
                <a:cs typeface="B Lotus" pitchFamily="2" charset="-78"/>
              </a:rPr>
              <a:t>"Aa"</a:t>
            </a:r>
            <a:r>
              <a:rPr lang="fa-IR" sz="2400" dirty="0">
                <a:cs typeface="B Lotus" pitchFamily="2" charset="-78"/>
              </a:rPr>
              <a:t> و </a:t>
            </a:r>
            <a:r>
              <a:rPr lang="en-US" sz="2400" dirty="0">
                <a:cs typeface="B Lotus" pitchFamily="2" charset="-78"/>
              </a:rPr>
              <a:t>"BB" </a:t>
            </a:r>
            <a:r>
              <a:rPr lang="fa-IR" sz="2400" dirty="0">
                <a:cs typeface="B Lotus" pitchFamily="2" charset="-78"/>
              </a:rPr>
              <a:t>کلید یکسانی دارند:</a:t>
            </a:r>
          </a:p>
          <a:p>
            <a:r>
              <a:rPr lang="en-US" dirty="0"/>
              <a:t>"Aa" = 'A' * 31 + 'a' = 2112</a:t>
            </a:r>
            <a:br>
              <a:rPr lang="en-US" dirty="0"/>
            </a:br>
            <a:r>
              <a:rPr lang="en-US" dirty="0"/>
              <a:t>"BB" = 'B' * 31 + 'B' = 2112</a:t>
            </a:r>
            <a:endParaRPr lang="fa-IR" dirty="0"/>
          </a:p>
          <a:p>
            <a:pPr algn="r" rtl="1"/>
            <a:r>
              <a:rPr lang="fa-IR" dirty="0">
                <a:cs typeface="B Lotus" pitchFamily="2" charset="-78"/>
              </a:rPr>
              <a:t>یک راه‏حل در چنین مواقعی استفاده از جدول هش زنجیره‏ای می‏باشد: </a:t>
            </a:r>
            <a:r>
              <a:rPr lang="en-US" sz="2800" i="1" dirty="0">
                <a:cs typeface="B Lotus" pitchFamily="2" charset="-78"/>
              </a:rPr>
              <a:t>separate</a:t>
            </a:r>
            <a:r>
              <a:rPr lang="en-US" i="1" dirty="0">
                <a:cs typeface="B Lotus" pitchFamily="2" charset="-78"/>
              </a:rPr>
              <a:t> </a:t>
            </a:r>
            <a:r>
              <a:rPr lang="en-US" sz="2800" i="1" dirty="0">
                <a:cs typeface="B Lotus" pitchFamily="2" charset="-78"/>
              </a:rPr>
              <a:t>chaining</a:t>
            </a:r>
            <a:r>
              <a:rPr lang="en-US" dirty="0">
                <a:cs typeface="B Lotus" pitchFamily="2" charset="-78"/>
              </a:rPr>
              <a:t> </a:t>
            </a:r>
            <a:r>
              <a:rPr lang="en-US" sz="2800" i="1" dirty="0">
                <a:cs typeface="B Lotus" pitchFamily="2" charset="-78"/>
              </a:rPr>
              <a:t>resolution</a:t>
            </a:r>
          </a:p>
          <a:p>
            <a:pPr algn="just" rtl="1"/>
            <a:r>
              <a:rPr lang="fa-IR" dirty="0">
                <a:cs typeface="B Lotus" pitchFamily="2" charset="-78"/>
              </a:rPr>
              <a:t>کافیست اشیایی با کد هش یکسان را در یک اندیس جدول اما به صورت زنجیره‏ای قرار دهیم.</a:t>
            </a:r>
          </a:p>
          <a:p>
            <a:pPr algn="just" rtl="1"/>
            <a:r>
              <a:rPr lang="fa-IR" dirty="0">
                <a:cs typeface="B Lotus" pitchFamily="2" charset="-78"/>
              </a:rPr>
              <a:t>بدیهی است که در این حالت، زمان جستجو اندکی بیشتر خواهد شد!</a:t>
            </a:r>
            <a:endParaRPr lang="en-US" dirty="0">
              <a:cs typeface="B Lotus" pitchFamily="2" charset="-78"/>
            </a:endParaRPr>
          </a:p>
          <a:p>
            <a:pPr algn="r" rtl="1"/>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13</a:t>
            </a:fld>
            <a:endParaRPr lang="en-US"/>
          </a:p>
        </p:txBody>
      </p:sp>
      <p:pic>
        <p:nvPicPr>
          <p:cNvPr id="122882" name="Picture 2" descr="http://www.cs.cmu.edu/%7Eadamchik/15-121/lectures/Hashing/pix/hashing2.bmp"/>
          <p:cNvPicPr>
            <a:picLocks noChangeAspect="1" noChangeArrowheads="1"/>
          </p:cNvPicPr>
          <p:nvPr/>
        </p:nvPicPr>
        <p:blipFill>
          <a:blip r:embed="rId2"/>
          <a:srcRect/>
          <a:stretch>
            <a:fillRect/>
          </a:stretch>
        </p:blipFill>
        <p:spPr bwMode="auto">
          <a:xfrm>
            <a:off x="6286512" y="3500414"/>
            <a:ext cx="2638425" cy="3357586"/>
          </a:xfrm>
          <a:prstGeom prst="rect">
            <a:avLst/>
          </a:prstGeom>
          <a:noFill/>
        </p:spPr>
      </p:pic>
      <p:pic>
        <p:nvPicPr>
          <p:cNvPr id="6" name="Picture 4"/>
          <p:cNvPicPr>
            <a:picLocks noChangeAspect="1" noChangeArrowheads="1"/>
          </p:cNvPicPr>
          <p:nvPr/>
        </p:nvPicPr>
        <p:blipFill>
          <a:blip r:embed="rId3"/>
          <a:srcRect/>
          <a:stretch>
            <a:fillRect/>
          </a:stretch>
        </p:blipFill>
        <p:spPr bwMode="auto">
          <a:xfrm>
            <a:off x="6072182" y="571480"/>
            <a:ext cx="3071818" cy="215678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22882"/>
                                        </p:tgtEl>
                                        <p:attrNameLst>
                                          <p:attrName>style.visibility</p:attrName>
                                        </p:attrNameLst>
                                      </p:cBhvr>
                                      <p:to>
                                        <p:strVal val="visible"/>
                                      </p:to>
                                    </p:set>
                                    <p:animEffect transition="in" filter="blinds(horizontal)">
                                      <p:cBhvr>
                                        <p:cTn id="42" dur="500"/>
                                        <p:tgtEl>
                                          <p:spTgt spid="122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Autofit/>
          </a:bodyPr>
          <a:lstStyle/>
          <a:p>
            <a:r>
              <a:rPr lang="en-US" sz="2800" dirty="0">
                <a:solidFill>
                  <a:schemeClr val="bg1"/>
                </a:solidFill>
              </a:rPr>
              <a:t>Perfect hash function</a:t>
            </a:r>
          </a:p>
        </p:txBody>
      </p:sp>
      <p:sp>
        <p:nvSpPr>
          <p:cNvPr id="3" name="Content Placeholder 2"/>
          <p:cNvSpPr>
            <a:spLocks noGrp="1"/>
          </p:cNvSpPr>
          <p:nvPr>
            <p:ph idx="1"/>
          </p:nvPr>
        </p:nvSpPr>
        <p:spPr>
          <a:xfrm>
            <a:off x="539552" y="908720"/>
            <a:ext cx="8229600" cy="5544616"/>
          </a:xfrm>
        </p:spPr>
        <p:txBody>
          <a:bodyPr>
            <a:normAutofit/>
          </a:bodyPr>
          <a:lstStyle/>
          <a:p>
            <a:pPr algn="r" rtl="1"/>
            <a:r>
              <a:rPr lang="fa-IR" sz="2400" dirty="0">
                <a:cs typeface="B Lotus" pitchFamily="2" charset="-78"/>
              </a:rPr>
              <a:t>تابع هش بی عیب، تابعی است که در آن </a:t>
            </a:r>
            <a:r>
              <a:rPr lang="en-US" sz="2400" dirty="0">
                <a:cs typeface="B Lotus" pitchFamily="2" charset="-78"/>
              </a:rPr>
              <a:t>collision </a:t>
            </a:r>
            <a:r>
              <a:rPr lang="fa-IR" sz="2400" dirty="0">
                <a:cs typeface="B Lotus" pitchFamily="2" charset="-78"/>
              </a:rPr>
              <a:t> وجود نداشته باشد. به جدول هش مربوطه، جدول هش بی عیب گفته می‏شود.</a:t>
            </a:r>
          </a:p>
          <a:p>
            <a:pPr algn="r" rtl="1"/>
            <a:r>
              <a:rPr lang="fa-IR" sz="2400" dirty="0">
                <a:cs typeface="B Lotus" pitchFamily="2" charset="-78"/>
              </a:rPr>
              <a:t>در این مثال، یک جدول هش بی عیب به طول 11 نشان داده شده است:</a:t>
            </a: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endParaRPr lang="fa-IR" sz="2400" dirty="0">
              <a:cs typeface="B Lotus" pitchFamily="2" charset="-78"/>
            </a:endParaRPr>
          </a:p>
          <a:p>
            <a:pPr algn="r" rtl="1"/>
            <a:r>
              <a:rPr lang="fa-IR" sz="2400" dirty="0">
                <a:cs typeface="B Lotus" pitchFamily="2" charset="-78"/>
              </a:rPr>
              <a:t>با اضافه شدن عنصر زیر، تصادم به وقوع می‏پیوندد:</a:t>
            </a:r>
            <a:endParaRPr lang="en-US" sz="2400"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14</a:t>
            </a:fld>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07" y="2348880"/>
            <a:ext cx="4235438"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132856"/>
            <a:ext cx="1157213" cy="363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6093296"/>
            <a:ext cx="23812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234677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346050"/>
          </a:xfrm>
        </p:spPr>
        <p:txBody>
          <a:bodyPr>
            <a:noAutofit/>
          </a:bodyPr>
          <a:lstStyle/>
          <a:p>
            <a:r>
              <a:rPr lang="fa-IR" sz="2800" dirty="0">
                <a:solidFill>
                  <a:schemeClr val="bg1"/>
                </a:solidFill>
                <a:cs typeface="B Lotus" pitchFamily="2" charset="-78"/>
              </a:rPr>
              <a:t>یک جدول هش حاوی تصادم</a:t>
            </a:r>
            <a:endParaRPr lang="en-US" sz="2800" dirty="0">
              <a:solidFill>
                <a:schemeClr val="bg1"/>
              </a:solidFill>
              <a:cs typeface="B Lotus" pitchFamily="2" charset="-78"/>
            </a:endParaRPr>
          </a:p>
        </p:txBody>
      </p:sp>
      <p:sp>
        <p:nvSpPr>
          <p:cNvPr id="3" name="Content Placeholder 2"/>
          <p:cNvSpPr>
            <a:spLocks noGrp="1"/>
          </p:cNvSpPr>
          <p:nvPr>
            <p:ph idx="1"/>
          </p:nvPr>
        </p:nvSpPr>
        <p:spPr>
          <a:xfrm>
            <a:off x="539552" y="5981700"/>
            <a:ext cx="8229600" cy="752947"/>
          </a:xfrm>
        </p:spPr>
        <p:txBody>
          <a:bodyPr>
            <a:normAutofit fontScale="70000" lnSpcReduction="20000"/>
          </a:bodyPr>
          <a:lstStyle/>
          <a:p>
            <a:pPr algn="r" rtl="1"/>
            <a:r>
              <a:rPr lang="fa-IR" dirty="0">
                <a:cs typeface="B Lotus" pitchFamily="2" charset="-78"/>
              </a:rPr>
              <a:t>مشخص است که در این ساختار، ترتیب عناصر وارد شده به جدول جایی ثبت نمی‏شود. در نتیجه ترتیب عناصر بازیابی شده، با ترتیب ورود آنها به جدول لزوماً یکی نخواهد بود.</a:t>
            </a:r>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15</a:t>
            </a:fld>
            <a:endParaRPr lang="en-US"/>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978" y="548680"/>
            <a:ext cx="673417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53141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638175" y="109538"/>
            <a:ext cx="8143875" cy="533380"/>
          </a:xfrm>
        </p:spPr>
        <p:txBody>
          <a:bodyPr vert="horz" lIns="91440" tIns="45720" rIns="91440" bIns="45720" rtlCol="0" anchor="ctr">
            <a:normAutofit/>
          </a:bodyPr>
          <a:lstStyle/>
          <a:p>
            <a:r>
              <a:rPr lang="en-US" sz="2800" dirty="0">
                <a:solidFill>
                  <a:schemeClr val="bg1"/>
                </a:solidFill>
              </a:rPr>
              <a:t>Set</a:t>
            </a:r>
            <a:r>
              <a:rPr lang="fa-IR" sz="2800" dirty="0">
                <a:solidFill>
                  <a:schemeClr val="bg1"/>
                </a:solidFill>
              </a:rPr>
              <a:t>:</a:t>
            </a:r>
            <a:r>
              <a:rPr lang="en-US" sz="2800" dirty="0">
                <a:solidFill>
                  <a:schemeClr val="bg1"/>
                </a:solidFill>
              </a:rPr>
              <a:t> </a:t>
            </a:r>
            <a:r>
              <a:rPr lang="en-US" sz="2800" dirty="0" err="1">
                <a:solidFill>
                  <a:schemeClr val="bg1"/>
                </a:solidFill>
              </a:rPr>
              <a:t>HashSet</a:t>
            </a:r>
            <a:endParaRPr lang="en-US" sz="2800" dirty="0">
              <a:solidFill>
                <a:schemeClr val="bg1"/>
              </a:solidFill>
            </a:endParaRPr>
          </a:p>
        </p:txBody>
      </p:sp>
      <p:sp>
        <p:nvSpPr>
          <p:cNvPr id="390152" name="Rectangle 8"/>
          <p:cNvSpPr>
            <a:spLocks noGrp="1" noChangeArrowheads="1"/>
          </p:cNvSpPr>
          <p:nvPr>
            <p:ph type="body" sz="half" idx="1"/>
          </p:nvPr>
        </p:nvSpPr>
        <p:spPr>
          <a:xfrm>
            <a:off x="311150" y="1447800"/>
            <a:ext cx="5503863" cy="4344988"/>
          </a:xfrm>
          <a:solidFill>
            <a:schemeClr val="bg2">
              <a:alpha val="25000"/>
            </a:schemeClr>
          </a:solidFill>
          <a:ln/>
        </p:spPr>
        <p:txBody>
          <a:bodyPr/>
          <a:lstStyle/>
          <a:p>
            <a:pPr>
              <a:lnSpc>
                <a:spcPct val="80000"/>
              </a:lnSpc>
              <a:buFontTx/>
              <a:buNone/>
            </a:pPr>
            <a:r>
              <a:rPr lang="en-US" sz="1400" b="1" dirty="0">
                <a:solidFill>
                  <a:srgbClr val="0066FF"/>
                </a:solidFill>
                <a:latin typeface="Courier New" pitchFamily="49" charset="0"/>
              </a:rPr>
              <a:t>import</a:t>
            </a:r>
            <a:r>
              <a:rPr lang="en-US" sz="1400" b="1" dirty="0">
                <a:latin typeface="Courier New" pitchFamily="49" charset="0"/>
              </a:rPr>
              <a:t> java.util.*;</a:t>
            </a:r>
          </a:p>
          <a:p>
            <a:pPr>
              <a:lnSpc>
                <a:spcPct val="80000"/>
              </a:lnSpc>
              <a:buFontTx/>
              <a:buNone/>
            </a:pPr>
            <a:endParaRPr lang="en-US" sz="1400" b="1" dirty="0">
              <a:latin typeface="Courier New" pitchFamily="49" charset="0"/>
            </a:endParaRPr>
          </a:p>
          <a:p>
            <a:pPr>
              <a:lnSpc>
                <a:spcPct val="80000"/>
              </a:lnSpc>
              <a:buFontTx/>
              <a:buNone/>
            </a:pPr>
            <a:r>
              <a:rPr lang="en-US" sz="1400" b="1" dirty="0">
                <a:solidFill>
                  <a:srgbClr val="0066FF"/>
                </a:solidFill>
                <a:latin typeface="Courier New" pitchFamily="49" charset="0"/>
              </a:rPr>
              <a:t>public class</a:t>
            </a:r>
            <a:r>
              <a:rPr lang="en-US" sz="1400" b="1" dirty="0">
                <a:latin typeface="Courier New" pitchFamily="49" charset="0"/>
              </a:rPr>
              <a:t> MyHashSet {</a:t>
            </a:r>
          </a:p>
          <a:p>
            <a:pPr>
              <a:lnSpc>
                <a:spcPct val="80000"/>
              </a:lnSpc>
              <a:buFontTx/>
              <a:buNone/>
            </a:pPr>
            <a:r>
              <a:rPr lang="en-US" sz="1400" b="1" dirty="0">
                <a:latin typeface="Courier New" pitchFamily="49" charset="0"/>
              </a:rPr>
              <a:t>	</a:t>
            </a:r>
          </a:p>
          <a:p>
            <a:pPr>
              <a:lnSpc>
                <a:spcPct val="80000"/>
              </a:lnSpc>
              <a:buFontTx/>
              <a:buNone/>
            </a:pPr>
            <a:r>
              <a:rPr lang="en-US" sz="1400" b="1" dirty="0">
                <a:solidFill>
                  <a:srgbClr val="0066FF"/>
                </a:solidFill>
                <a:latin typeface="Courier New" pitchFamily="49" charset="0"/>
              </a:rPr>
              <a:t>	public static void</a:t>
            </a:r>
            <a:r>
              <a:rPr lang="en-US" sz="1400" b="1" dirty="0">
                <a:latin typeface="Courier New" pitchFamily="49" charset="0"/>
              </a:rPr>
              <a:t> main(String args[ ]) {</a:t>
            </a:r>
          </a:p>
          <a:p>
            <a:pPr>
              <a:lnSpc>
                <a:spcPct val="80000"/>
              </a:lnSpc>
              <a:buFontTx/>
              <a:buNone/>
            </a:pPr>
            <a:r>
              <a:rPr lang="en-US" sz="1400" b="1" dirty="0">
                <a:latin typeface="Courier New" pitchFamily="49" charset="0"/>
              </a:rPr>
              <a:t>		</a:t>
            </a:r>
          </a:p>
          <a:p>
            <a:pPr>
              <a:lnSpc>
                <a:spcPct val="80000"/>
              </a:lnSpc>
              <a:buFontTx/>
              <a:buNone/>
            </a:pPr>
            <a:r>
              <a:rPr lang="en-US" sz="1400" b="1" dirty="0">
                <a:latin typeface="Courier New" pitchFamily="49" charset="0"/>
              </a:rPr>
              <a:t>		HashSet hash = </a:t>
            </a:r>
            <a:r>
              <a:rPr lang="en-US" sz="1400" b="1" dirty="0">
                <a:solidFill>
                  <a:srgbClr val="0066FF"/>
                </a:solidFill>
                <a:latin typeface="Courier New" pitchFamily="49" charset="0"/>
              </a:rPr>
              <a:t>new</a:t>
            </a:r>
            <a:r>
              <a:rPr lang="en-US" sz="1400" b="1" dirty="0">
                <a:latin typeface="Courier New" pitchFamily="49" charset="0"/>
              </a:rPr>
              <a:t> HashSet( );</a:t>
            </a:r>
          </a:p>
          <a:p>
            <a:pPr>
              <a:lnSpc>
                <a:spcPct val="80000"/>
              </a:lnSpc>
              <a:buFontTx/>
              <a:buNone/>
            </a:pPr>
            <a:r>
              <a:rPr lang="en-US" sz="1400" b="1" dirty="0">
                <a:latin typeface="Courier New" pitchFamily="49" charset="0"/>
              </a:rPr>
              <a:t>		</a:t>
            </a:r>
          </a:p>
          <a:p>
            <a:pPr>
              <a:lnSpc>
                <a:spcPct val="80000"/>
              </a:lnSpc>
              <a:buFontTx/>
              <a:buNone/>
            </a:pPr>
            <a:r>
              <a:rPr lang="en-US" sz="1400" b="1" dirty="0">
                <a:latin typeface="Courier New" pitchFamily="49" charset="0"/>
              </a:rPr>
              <a:t>		hash.add("a");</a:t>
            </a:r>
          </a:p>
          <a:p>
            <a:pPr>
              <a:lnSpc>
                <a:spcPct val="80000"/>
              </a:lnSpc>
              <a:buFontTx/>
              <a:buNone/>
            </a:pPr>
            <a:r>
              <a:rPr lang="en-US" sz="1400" b="1" dirty="0">
                <a:latin typeface="Courier New" pitchFamily="49" charset="0"/>
              </a:rPr>
              <a:t>		hash.add("b");</a:t>
            </a:r>
          </a:p>
          <a:p>
            <a:pPr>
              <a:lnSpc>
                <a:spcPct val="80000"/>
              </a:lnSpc>
              <a:buFontTx/>
              <a:buNone/>
            </a:pPr>
            <a:r>
              <a:rPr lang="en-US" sz="1400" b="1" dirty="0">
                <a:latin typeface="Courier New" pitchFamily="49" charset="0"/>
              </a:rPr>
              <a:t>		hash.add("c");</a:t>
            </a:r>
          </a:p>
          <a:p>
            <a:pPr>
              <a:lnSpc>
                <a:spcPct val="80000"/>
              </a:lnSpc>
              <a:buFontTx/>
              <a:buNone/>
            </a:pPr>
            <a:r>
              <a:rPr lang="en-US" sz="1400" b="1" dirty="0">
                <a:latin typeface="Courier New" pitchFamily="49" charset="0"/>
              </a:rPr>
              <a:t>		hash.add("d");</a:t>
            </a:r>
          </a:p>
          <a:p>
            <a:pPr>
              <a:lnSpc>
                <a:spcPct val="80000"/>
              </a:lnSpc>
              <a:buFontTx/>
              <a:buNone/>
            </a:pPr>
            <a:r>
              <a:rPr lang="en-US" sz="1400" b="1" dirty="0">
                <a:latin typeface="Courier New" pitchFamily="49" charset="0"/>
              </a:rPr>
              <a:t>				</a:t>
            </a:r>
          </a:p>
          <a:p>
            <a:pPr>
              <a:lnSpc>
                <a:spcPct val="80000"/>
              </a:lnSpc>
              <a:buFontTx/>
              <a:buNone/>
            </a:pPr>
            <a:r>
              <a:rPr lang="en-US" sz="1400" b="1" dirty="0">
                <a:latin typeface="Courier New" pitchFamily="49" charset="0"/>
              </a:rPr>
              <a:t>		Iterator iterator = hash.iterator( );</a:t>
            </a:r>
          </a:p>
          <a:p>
            <a:pPr>
              <a:lnSpc>
                <a:spcPct val="80000"/>
              </a:lnSpc>
              <a:buFontTx/>
              <a:buNone/>
            </a:pPr>
            <a:r>
              <a:rPr lang="en-US" sz="1400" b="1" dirty="0">
                <a:latin typeface="Courier New" pitchFamily="49" charset="0"/>
              </a:rPr>
              <a:t>		</a:t>
            </a:r>
          </a:p>
          <a:p>
            <a:pPr>
              <a:lnSpc>
                <a:spcPct val="80000"/>
              </a:lnSpc>
              <a:buFontTx/>
              <a:buNone/>
            </a:pPr>
            <a:r>
              <a:rPr lang="en-US" sz="1400" b="1" dirty="0">
                <a:latin typeface="Courier New" pitchFamily="49" charset="0"/>
              </a:rPr>
              <a:t>		</a:t>
            </a:r>
            <a:r>
              <a:rPr lang="en-US" sz="1400" b="1" dirty="0">
                <a:solidFill>
                  <a:srgbClr val="0066FF"/>
                </a:solidFill>
                <a:latin typeface="Courier New" pitchFamily="49" charset="0"/>
              </a:rPr>
              <a:t>while</a:t>
            </a:r>
            <a:r>
              <a:rPr lang="en-US" sz="1400" b="1" dirty="0">
                <a:latin typeface="Courier New" pitchFamily="49" charset="0"/>
              </a:rPr>
              <a:t>(iterator.hasNext( )) {</a:t>
            </a:r>
          </a:p>
          <a:p>
            <a:pPr>
              <a:lnSpc>
                <a:spcPct val="80000"/>
              </a:lnSpc>
              <a:buFontTx/>
              <a:buNone/>
            </a:pPr>
            <a:r>
              <a:rPr lang="en-US" sz="1400" b="1" dirty="0">
                <a:latin typeface="Courier New" pitchFamily="49" charset="0"/>
              </a:rPr>
              <a:t>		   System.out.println(iterator.next( ));</a:t>
            </a:r>
          </a:p>
          <a:p>
            <a:pPr>
              <a:lnSpc>
                <a:spcPct val="80000"/>
              </a:lnSpc>
              <a:buFontTx/>
              <a:buNone/>
            </a:pPr>
            <a:r>
              <a:rPr lang="en-US" sz="1400" b="1" dirty="0">
                <a:latin typeface="Courier New" pitchFamily="49" charset="0"/>
              </a:rPr>
              <a:t>		}		</a:t>
            </a:r>
          </a:p>
          <a:p>
            <a:pPr>
              <a:lnSpc>
                <a:spcPct val="80000"/>
              </a:lnSpc>
              <a:buFontTx/>
              <a:buNone/>
            </a:pPr>
            <a:r>
              <a:rPr lang="en-US" sz="1400" b="1" dirty="0">
                <a:latin typeface="Courier New" pitchFamily="49" charset="0"/>
              </a:rPr>
              <a:t>	}</a:t>
            </a:r>
          </a:p>
          <a:p>
            <a:pPr>
              <a:lnSpc>
                <a:spcPct val="80000"/>
              </a:lnSpc>
              <a:buFontTx/>
              <a:buNone/>
            </a:pPr>
            <a:r>
              <a:rPr lang="en-US" sz="1400" b="1" dirty="0">
                <a:latin typeface="Courier New" pitchFamily="49" charset="0"/>
              </a:rPr>
              <a:t>}</a:t>
            </a:r>
          </a:p>
        </p:txBody>
      </p:sp>
      <p:sp>
        <p:nvSpPr>
          <p:cNvPr id="6" name="Slide Number Placeholder 4"/>
          <p:cNvSpPr>
            <a:spLocks noGrp="1"/>
          </p:cNvSpPr>
          <p:nvPr>
            <p:ph type="sldNum" sz="quarter" idx="10"/>
          </p:nvPr>
        </p:nvSpPr>
        <p:spPr/>
        <p:txBody>
          <a:bodyPr/>
          <a:lstStyle/>
          <a:p>
            <a:fld id="{A359A749-C1C6-400B-80AF-786A6D584E71}" type="slidenum">
              <a:rPr lang="en-US"/>
              <a:pPr/>
              <a:t>16</a:t>
            </a:fld>
            <a:endParaRPr lang="en-US"/>
          </a:p>
        </p:txBody>
      </p:sp>
      <p:sp>
        <p:nvSpPr>
          <p:cNvPr id="390156" name="Rectangle 12"/>
          <p:cNvSpPr>
            <a:spLocks noChangeArrowheads="1"/>
          </p:cNvSpPr>
          <p:nvPr/>
        </p:nvSpPr>
        <p:spPr bwMode="auto">
          <a:xfrm>
            <a:off x="6015038" y="1495425"/>
            <a:ext cx="2854325" cy="892175"/>
          </a:xfrm>
          <a:prstGeom prst="rect">
            <a:avLst/>
          </a:prstGeom>
          <a:solidFill>
            <a:schemeClr val="tx1"/>
          </a:solidFill>
          <a:ln w="12700">
            <a:noFill/>
            <a:miter lim="800000"/>
            <a:headEnd/>
            <a:tailEnd/>
          </a:ln>
          <a:effectLst/>
        </p:spPr>
        <p:txBody>
          <a:bodyPr lIns="90488" tIns="44450" rIns="90488" bIns="44450"/>
          <a:lstStyle/>
          <a:p>
            <a:pPr marL="342900" indent="-342900" algn="l" eaLnBrk="1" hangingPunct="1">
              <a:lnSpc>
                <a:spcPct val="80000"/>
              </a:lnSpc>
              <a:spcBef>
                <a:spcPct val="20000"/>
              </a:spcBef>
              <a:buClr>
                <a:schemeClr val="hlink"/>
              </a:buClr>
            </a:pPr>
            <a:r>
              <a:rPr lang="en-US" sz="1400">
                <a:solidFill>
                  <a:schemeClr val="bg1"/>
                </a:solidFill>
                <a:latin typeface="Courier New" pitchFamily="49" charset="0"/>
              </a:rPr>
              <a:t>d</a:t>
            </a:r>
          </a:p>
          <a:p>
            <a:pPr marL="342900" indent="-342900" algn="l" eaLnBrk="1" hangingPunct="1">
              <a:lnSpc>
                <a:spcPct val="80000"/>
              </a:lnSpc>
              <a:spcBef>
                <a:spcPct val="20000"/>
              </a:spcBef>
              <a:buClr>
                <a:schemeClr val="hlink"/>
              </a:buClr>
            </a:pPr>
            <a:r>
              <a:rPr lang="en-US" sz="1400">
                <a:solidFill>
                  <a:schemeClr val="bg1"/>
                </a:solidFill>
                <a:latin typeface="Courier New" pitchFamily="49" charset="0"/>
              </a:rPr>
              <a:t>a</a:t>
            </a:r>
          </a:p>
          <a:p>
            <a:pPr marL="342900" indent="-342900" algn="l" eaLnBrk="1" hangingPunct="1">
              <a:lnSpc>
                <a:spcPct val="80000"/>
              </a:lnSpc>
              <a:spcBef>
                <a:spcPct val="20000"/>
              </a:spcBef>
              <a:buClr>
                <a:schemeClr val="hlink"/>
              </a:buClr>
            </a:pPr>
            <a:r>
              <a:rPr lang="en-US" sz="1400">
                <a:solidFill>
                  <a:schemeClr val="bg1"/>
                </a:solidFill>
                <a:latin typeface="Courier New" pitchFamily="49" charset="0"/>
              </a:rPr>
              <a:t>c</a:t>
            </a:r>
          </a:p>
          <a:p>
            <a:pPr marL="342900" indent="-342900" algn="l" eaLnBrk="1" hangingPunct="1">
              <a:lnSpc>
                <a:spcPct val="80000"/>
              </a:lnSpc>
              <a:spcBef>
                <a:spcPct val="20000"/>
              </a:spcBef>
              <a:buClr>
                <a:schemeClr val="hlink"/>
              </a:buClr>
            </a:pPr>
            <a:r>
              <a:rPr lang="en-US" sz="1400">
                <a:solidFill>
                  <a:schemeClr val="bg1"/>
                </a:solidFill>
                <a:latin typeface="Courier New" pitchFamily="49" charset="0"/>
              </a:rPr>
              <a:t>b</a:t>
            </a:r>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638175" y="109538"/>
            <a:ext cx="8143875" cy="533380"/>
          </a:xfrm>
        </p:spPr>
        <p:txBody>
          <a:bodyPr vert="horz" lIns="91440" tIns="45720" rIns="91440" bIns="45720" rtlCol="0" anchor="ctr">
            <a:normAutofit/>
          </a:bodyPr>
          <a:lstStyle/>
          <a:p>
            <a:r>
              <a:rPr lang="en-US" sz="2400" dirty="0">
                <a:solidFill>
                  <a:schemeClr val="bg1"/>
                </a:solidFill>
                <a:cs typeface="B Lotus" pitchFamily="2" charset="-78"/>
              </a:rPr>
              <a:t>  </a:t>
            </a:r>
            <a:r>
              <a:rPr lang="fa-IR" sz="2400" dirty="0">
                <a:solidFill>
                  <a:schemeClr val="bg1"/>
                </a:solidFill>
                <a:cs typeface="B Lotus" pitchFamily="2" charset="-78"/>
              </a:rPr>
              <a:t> چگونه کار می کند؟</a:t>
            </a:r>
            <a:r>
              <a:rPr lang="en-US" sz="2400" dirty="0" err="1">
                <a:solidFill>
                  <a:schemeClr val="bg1"/>
                </a:solidFill>
                <a:cs typeface="B Lotus" pitchFamily="2" charset="-78"/>
              </a:rPr>
              <a:t>HashSet</a:t>
            </a:r>
            <a:endParaRPr lang="en-US" sz="2400" dirty="0">
              <a:solidFill>
                <a:schemeClr val="bg1"/>
              </a:solidFill>
              <a:cs typeface="B Lotus" pitchFamily="2" charset="-78"/>
            </a:endParaRPr>
          </a:p>
        </p:txBody>
      </p:sp>
      <p:sp>
        <p:nvSpPr>
          <p:cNvPr id="390152" name="Rectangle 8"/>
          <p:cNvSpPr>
            <a:spLocks noGrp="1" noChangeArrowheads="1"/>
          </p:cNvSpPr>
          <p:nvPr>
            <p:ph type="body" sz="half" idx="1"/>
          </p:nvPr>
        </p:nvSpPr>
        <p:spPr>
          <a:xfrm>
            <a:off x="214282" y="1447800"/>
            <a:ext cx="6643734" cy="5149552"/>
          </a:xfrm>
          <a:solidFill>
            <a:schemeClr val="bg2">
              <a:alpha val="25000"/>
            </a:schemeClr>
          </a:solidFill>
          <a:ln/>
        </p:spPr>
        <p:txBody>
          <a:bodyPr>
            <a:normAutofit/>
          </a:bodyPr>
          <a:lstStyle/>
          <a:p>
            <a:pPr algn="just" rtl="1">
              <a:lnSpc>
                <a:spcPct val="80000"/>
              </a:lnSpc>
            </a:pPr>
            <a:r>
              <a:rPr lang="fa-IR" sz="2800" dirty="0">
                <a:cs typeface="B Lotus" pitchFamily="2" charset="-78"/>
              </a:rPr>
              <a:t> هر شیئی یک عدد منحصربفرد دارد که به آن        </a:t>
            </a:r>
            <a:r>
              <a:rPr lang="en-US" sz="2800" i="1" dirty="0">
                <a:cs typeface="B Lotus" pitchFamily="2" charset="-78"/>
              </a:rPr>
              <a:t>hash code</a:t>
            </a:r>
            <a:r>
              <a:rPr lang="fa-IR" sz="2800" dirty="0">
                <a:cs typeface="B Lotus" pitchFamily="2" charset="-78"/>
              </a:rPr>
              <a:t> گفته می‏شود.</a:t>
            </a:r>
          </a:p>
          <a:p>
            <a:pPr lvl="1">
              <a:lnSpc>
                <a:spcPct val="80000"/>
              </a:lnSpc>
              <a:buNone/>
            </a:pPr>
            <a:r>
              <a:rPr lang="en-US" sz="2400" dirty="0">
                <a:latin typeface="Times New Roman" pitchFamily="18" charset="0"/>
                <a:cs typeface="Times New Roman" pitchFamily="18" charset="0"/>
              </a:rPr>
              <a:t>public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hashCode</a:t>
            </a:r>
            <a:r>
              <a:rPr lang="en-US" sz="2400" dirty="0">
                <a:latin typeface="Times New Roman" pitchFamily="18" charset="0"/>
                <a:cs typeface="Times New Roman" pitchFamily="18" charset="0"/>
              </a:rPr>
              <a:t>() in class Object</a:t>
            </a:r>
            <a:endParaRPr lang="fa-IR" sz="2400" dirty="0">
              <a:latin typeface="Times New Roman" pitchFamily="18" charset="0"/>
              <a:cs typeface="Times New Roman" pitchFamily="18" charset="0"/>
            </a:endParaRPr>
          </a:p>
          <a:p>
            <a:pPr lvl="1" algn="just" rtl="1">
              <a:lnSpc>
                <a:spcPct val="110000"/>
              </a:lnSpc>
            </a:pPr>
            <a:r>
              <a:rPr lang="en-US" sz="2400" dirty="0" err="1">
                <a:latin typeface="Courier New" pitchFamily="49" charset="0"/>
                <a:cs typeface="B Lotus" pitchFamily="2" charset="-78"/>
              </a:rPr>
              <a:t>HashSet</a:t>
            </a:r>
            <a:r>
              <a:rPr lang="en-US" sz="2400" dirty="0">
                <a:cs typeface="B Lotus" pitchFamily="2" charset="-78"/>
              </a:rPr>
              <a:t> </a:t>
            </a:r>
            <a:r>
              <a:rPr lang="fa-IR" sz="2400" dirty="0">
                <a:cs typeface="B Lotus" pitchFamily="2" charset="-78"/>
              </a:rPr>
              <a:t> </a:t>
            </a:r>
            <a:r>
              <a:rPr lang="fa-IR" sz="2400" dirty="0">
                <a:latin typeface="Courier New" pitchFamily="49" charset="0"/>
                <a:cs typeface="B Lotus" pitchFamily="2" charset="-78"/>
              </a:rPr>
              <a:t>عناصرخود را در آرایه‏ای مثل </a:t>
            </a:r>
            <a:r>
              <a:rPr lang="en-US" sz="2400" dirty="0">
                <a:latin typeface="Courier New" pitchFamily="49" charset="0"/>
                <a:cs typeface="B Lotus" pitchFamily="2" charset="-78"/>
              </a:rPr>
              <a:t>a</a:t>
            </a:r>
            <a:r>
              <a:rPr lang="fa-IR" sz="2400" dirty="0">
                <a:latin typeface="Courier New" pitchFamily="49" charset="0"/>
                <a:cs typeface="B Lotus" pitchFamily="2" charset="-78"/>
              </a:rPr>
              <a:t> ذخیره می‏کند، به‏گونه‏ای که عنصر مربوطه مثلا </a:t>
            </a:r>
            <a:r>
              <a:rPr lang="en-US" sz="2400" dirty="0">
                <a:latin typeface="Courier New" pitchFamily="49" charset="0"/>
                <a:cs typeface="B Lotus" pitchFamily="2" charset="-78"/>
              </a:rPr>
              <a:t>o</a:t>
            </a:r>
            <a:r>
              <a:rPr lang="fa-IR" sz="2400" dirty="0">
                <a:latin typeface="Courier New" pitchFamily="49" charset="0"/>
                <a:cs typeface="B Lotus" pitchFamily="2" charset="-78"/>
              </a:rPr>
              <a:t> در اندیس زیر قرار گیرد:</a:t>
            </a:r>
            <a:endParaRPr lang="en-US" sz="2400" dirty="0">
              <a:latin typeface="Courier New" pitchFamily="49" charset="0"/>
              <a:cs typeface="B Lotus" pitchFamily="2" charset="-78"/>
            </a:endParaRPr>
          </a:p>
          <a:p>
            <a:pPr>
              <a:lnSpc>
                <a:spcPct val="80000"/>
              </a:lnSpc>
              <a:buNone/>
            </a:pPr>
            <a:r>
              <a:rPr lang="fa-IR"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o.hashCode</a:t>
            </a:r>
            <a:r>
              <a:rPr lang="en-US" sz="2600" dirty="0">
                <a:latin typeface="Times New Roman" pitchFamily="18" charset="0"/>
                <a:cs typeface="Times New Roman" pitchFamily="18" charset="0"/>
              </a:rPr>
              <a:t>() % </a:t>
            </a:r>
            <a:r>
              <a:rPr lang="en-US" sz="2600" dirty="0" err="1">
                <a:latin typeface="Times New Roman" pitchFamily="18" charset="0"/>
                <a:cs typeface="Times New Roman" pitchFamily="18" charset="0"/>
              </a:rPr>
              <a:t>array.length</a:t>
            </a:r>
            <a:endParaRPr lang="en-US" sz="2600" dirty="0">
              <a:latin typeface="Times New Roman" pitchFamily="18" charset="0"/>
              <a:cs typeface="Times New Roman" pitchFamily="18" charset="0"/>
            </a:endParaRPr>
          </a:p>
          <a:p>
            <a:pPr lvl="1" algn="r" rtl="1">
              <a:lnSpc>
                <a:spcPct val="80000"/>
              </a:lnSpc>
            </a:pPr>
            <a:r>
              <a:rPr lang="fa-IR" sz="2400" dirty="0">
                <a:cs typeface="B Lotus" pitchFamily="2" charset="-78"/>
              </a:rPr>
              <a:t>هر عنصر </a:t>
            </a:r>
            <a:r>
              <a:rPr lang="en-US" sz="2400" dirty="0">
                <a:cs typeface="B Lotus" pitchFamily="2" charset="-78"/>
              </a:rPr>
              <a:t>set</a:t>
            </a:r>
            <a:r>
              <a:rPr lang="fa-IR" sz="2400" dirty="0">
                <a:cs typeface="B Lotus" pitchFamily="2" charset="-78"/>
              </a:rPr>
              <a:t> باید دقیقا در یک اندیس آرایه قرار بگیرد.</a:t>
            </a:r>
            <a:endParaRPr lang="en-US" sz="2400" dirty="0">
              <a:cs typeface="B Lotus" pitchFamily="2" charset="-78"/>
            </a:endParaRPr>
          </a:p>
          <a:p>
            <a:pPr lvl="1" algn="r" rtl="1">
              <a:lnSpc>
                <a:spcPct val="80000"/>
              </a:lnSpc>
            </a:pPr>
            <a:r>
              <a:rPr lang="fa-IR" sz="2400" dirty="0">
                <a:cs typeface="B Lotus" pitchFamily="2" charset="-78"/>
              </a:rPr>
              <a:t>برای جستجوی عنصر مربوطه نیاز به بررسی کل آرایه نیست؛ بلکه مستقیماً به اندیس مربوطه مراجعه می‏کنیم:</a:t>
            </a:r>
            <a:endParaRPr lang="en-US" sz="2400" dirty="0">
              <a:cs typeface="B Lotus" pitchFamily="2" charset="-78"/>
            </a:endParaRPr>
          </a:p>
          <a:p>
            <a:pPr lvl="2">
              <a:lnSpc>
                <a:spcPct val="80000"/>
              </a:lnSpc>
            </a:pPr>
            <a:r>
              <a:rPr lang="en-US" sz="2000" dirty="0">
                <a:latin typeface="Times New Roman" pitchFamily="18" charset="0"/>
                <a:cs typeface="Times New Roman" pitchFamily="18" charset="0"/>
              </a:rPr>
              <a:t>"Tom </a:t>
            </a:r>
            <a:r>
              <a:rPr lang="en-US" sz="2000" dirty="0" err="1">
                <a:latin typeface="Times New Roman" pitchFamily="18" charset="0"/>
                <a:cs typeface="Times New Roman" pitchFamily="18" charset="0"/>
              </a:rPr>
              <a:t>Katz".hashCode</a:t>
            </a:r>
            <a:r>
              <a:rPr lang="en-US" sz="2000" dirty="0">
                <a:latin typeface="Times New Roman" pitchFamily="18" charset="0"/>
                <a:cs typeface="Times New Roman" pitchFamily="18" charset="0"/>
              </a:rPr>
              <a:t>() % 10 == 6</a:t>
            </a:r>
          </a:p>
          <a:p>
            <a:pPr lvl="2">
              <a:lnSpc>
                <a:spcPct val="80000"/>
              </a:lnSpc>
            </a:pPr>
            <a:r>
              <a:rPr lang="en-US" sz="2000" dirty="0">
                <a:latin typeface="Times New Roman" pitchFamily="18" charset="0"/>
                <a:cs typeface="Times New Roman" pitchFamily="18" charset="0"/>
              </a:rPr>
              <a:t>"Sarah </a:t>
            </a:r>
            <a:r>
              <a:rPr lang="en-US" sz="2000" dirty="0" err="1">
                <a:latin typeface="Times New Roman" pitchFamily="18" charset="0"/>
                <a:cs typeface="Times New Roman" pitchFamily="18" charset="0"/>
              </a:rPr>
              <a:t>Jones".hashCode</a:t>
            </a:r>
            <a:r>
              <a:rPr lang="en-US" sz="2000" dirty="0">
                <a:latin typeface="Times New Roman" pitchFamily="18" charset="0"/>
                <a:cs typeface="Times New Roman" pitchFamily="18" charset="0"/>
              </a:rPr>
              <a:t>() % 10 == 8</a:t>
            </a:r>
          </a:p>
          <a:p>
            <a:pPr lvl="2">
              <a:lnSpc>
                <a:spcPct val="80000"/>
              </a:lnSpc>
            </a:pPr>
            <a:r>
              <a:rPr lang="en-US" sz="2000" dirty="0">
                <a:latin typeface="Times New Roman" pitchFamily="18" charset="0"/>
                <a:cs typeface="Times New Roman" pitchFamily="18" charset="0"/>
              </a:rPr>
              <a:t>"Tony </a:t>
            </a:r>
            <a:r>
              <a:rPr lang="en-US" sz="2000" dirty="0" err="1">
                <a:latin typeface="Times New Roman" pitchFamily="18" charset="0"/>
                <a:cs typeface="Times New Roman" pitchFamily="18" charset="0"/>
              </a:rPr>
              <a:t>Balognie".hashCode</a:t>
            </a:r>
            <a:r>
              <a:rPr lang="en-US" sz="2000" dirty="0">
                <a:latin typeface="Times New Roman" pitchFamily="18" charset="0"/>
                <a:cs typeface="Times New Roman" pitchFamily="18" charset="0"/>
              </a:rPr>
              <a:t>() % 10 == 9</a:t>
            </a:r>
          </a:p>
        </p:txBody>
      </p:sp>
      <p:sp>
        <p:nvSpPr>
          <p:cNvPr id="6" name="Slide Number Placeholder 4"/>
          <p:cNvSpPr>
            <a:spLocks noGrp="1"/>
          </p:cNvSpPr>
          <p:nvPr>
            <p:ph type="sldNum" sz="quarter" idx="10"/>
          </p:nvPr>
        </p:nvSpPr>
        <p:spPr/>
        <p:txBody>
          <a:bodyPr/>
          <a:lstStyle/>
          <a:p>
            <a:fld id="{A359A749-C1C6-400B-80AF-786A6D584E71}" type="slidenum">
              <a:rPr lang="en-US"/>
              <a:pPr/>
              <a:t>17</a:t>
            </a:fld>
            <a:endParaRPr lang="en-US"/>
          </a:p>
        </p:txBody>
      </p:sp>
      <p:pic>
        <p:nvPicPr>
          <p:cNvPr id="7" name="Picture 4"/>
          <p:cNvPicPr>
            <a:picLocks noChangeAspect="1" noChangeArrowheads="1"/>
          </p:cNvPicPr>
          <p:nvPr/>
        </p:nvPicPr>
        <p:blipFill>
          <a:blip r:embed="rId3"/>
          <a:srcRect/>
          <a:stretch>
            <a:fillRect/>
          </a:stretch>
        </p:blipFill>
        <p:spPr bwMode="auto">
          <a:xfrm>
            <a:off x="6643702" y="1714488"/>
            <a:ext cx="2006600" cy="3914775"/>
          </a:xfrm>
          <a:prstGeom prst="rect">
            <a:avLst/>
          </a:prstGeom>
          <a:noFill/>
          <a:ln w="9525">
            <a:noFill/>
            <a:miter lim="800000"/>
            <a:headEnd/>
            <a:tailEnd/>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0152">
                                            <p:txEl>
                                              <p:pRg st="0" end="0"/>
                                            </p:txEl>
                                          </p:spTgt>
                                        </p:tgtEl>
                                        <p:attrNameLst>
                                          <p:attrName>style.visibility</p:attrName>
                                        </p:attrNameLst>
                                      </p:cBhvr>
                                      <p:to>
                                        <p:strVal val="visible"/>
                                      </p:to>
                                    </p:set>
                                    <p:animEffect transition="in" filter="blinds(horizontal)">
                                      <p:cBhvr>
                                        <p:cTn id="7" dur="500"/>
                                        <p:tgtEl>
                                          <p:spTgt spid="3901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0152">
                                            <p:txEl>
                                              <p:pRg st="1" end="1"/>
                                            </p:txEl>
                                          </p:spTgt>
                                        </p:tgtEl>
                                        <p:attrNameLst>
                                          <p:attrName>style.visibility</p:attrName>
                                        </p:attrNameLst>
                                      </p:cBhvr>
                                      <p:to>
                                        <p:strVal val="visible"/>
                                      </p:to>
                                    </p:set>
                                    <p:animEffect transition="in" filter="blinds(horizontal)">
                                      <p:cBhvr>
                                        <p:cTn id="12" dur="500"/>
                                        <p:tgtEl>
                                          <p:spTgt spid="3901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0152">
                                            <p:txEl>
                                              <p:pRg st="2" end="2"/>
                                            </p:txEl>
                                          </p:spTgt>
                                        </p:tgtEl>
                                        <p:attrNameLst>
                                          <p:attrName>style.visibility</p:attrName>
                                        </p:attrNameLst>
                                      </p:cBhvr>
                                      <p:to>
                                        <p:strVal val="visible"/>
                                      </p:to>
                                    </p:set>
                                    <p:animEffect transition="in" filter="blinds(horizontal)">
                                      <p:cBhvr>
                                        <p:cTn id="17" dur="500"/>
                                        <p:tgtEl>
                                          <p:spTgt spid="3901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0152">
                                            <p:txEl>
                                              <p:pRg st="3" end="3"/>
                                            </p:txEl>
                                          </p:spTgt>
                                        </p:tgtEl>
                                        <p:attrNameLst>
                                          <p:attrName>style.visibility</p:attrName>
                                        </p:attrNameLst>
                                      </p:cBhvr>
                                      <p:to>
                                        <p:strVal val="visible"/>
                                      </p:to>
                                    </p:set>
                                    <p:animEffect transition="in" filter="blinds(horizontal)">
                                      <p:cBhvr>
                                        <p:cTn id="22" dur="500"/>
                                        <p:tgtEl>
                                          <p:spTgt spid="3901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0152">
                                            <p:txEl>
                                              <p:pRg st="4" end="4"/>
                                            </p:txEl>
                                          </p:spTgt>
                                        </p:tgtEl>
                                        <p:attrNameLst>
                                          <p:attrName>style.visibility</p:attrName>
                                        </p:attrNameLst>
                                      </p:cBhvr>
                                      <p:to>
                                        <p:strVal val="visible"/>
                                      </p:to>
                                    </p:set>
                                    <p:animEffect transition="in" filter="blinds(horizontal)">
                                      <p:cBhvr>
                                        <p:cTn id="27" dur="500"/>
                                        <p:tgtEl>
                                          <p:spTgt spid="39015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0152">
                                            <p:txEl>
                                              <p:pRg st="5" end="5"/>
                                            </p:txEl>
                                          </p:spTgt>
                                        </p:tgtEl>
                                        <p:attrNameLst>
                                          <p:attrName>style.visibility</p:attrName>
                                        </p:attrNameLst>
                                      </p:cBhvr>
                                      <p:to>
                                        <p:strVal val="visible"/>
                                      </p:to>
                                    </p:set>
                                    <p:animEffect transition="in" filter="blinds(horizontal)">
                                      <p:cBhvr>
                                        <p:cTn id="32" dur="500"/>
                                        <p:tgtEl>
                                          <p:spTgt spid="39015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90152">
                                            <p:txEl>
                                              <p:pRg st="6" end="6"/>
                                            </p:txEl>
                                          </p:spTgt>
                                        </p:tgtEl>
                                        <p:attrNameLst>
                                          <p:attrName>style.visibility</p:attrName>
                                        </p:attrNameLst>
                                      </p:cBhvr>
                                      <p:to>
                                        <p:strVal val="visible"/>
                                      </p:to>
                                    </p:set>
                                    <p:animEffect transition="in" filter="blinds(horizontal)">
                                      <p:cBhvr>
                                        <p:cTn id="37" dur="500"/>
                                        <p:tgtEl>
                                          <p:spTgt spid="39015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90152">
                                            <p:txEl>
                                              <p:pRg st="7" end="7"/>
                                            </p:txEl>
                                          </p:spTgt>
                                        </p:tgtEl>
                                        <p:attrNameLst>
                                          <p:attrName>style.visibility</p:attrName>
                                        </p:attrNameLst>
                                      </p:cBhvr>
                                      <p:to>
                                        <p:strVal val="visible"/>
                                      </p:to>
                                    </p:set>
                                    <p:animEffect transition="in" filter="blinds(horizontal)">
                                      <p:cBhvr>
                                        <p:cTn id="42" dur="500"/>
                                        <p:tgtEl>
                                          <p:spTgt spid="39015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90152">
                                            <p:txEl>
                                              <p:pRg st="8" end="8"/>
                                            </p:txEl>
                                          </p:spTgt>
                                        </p:tgtEl>
                                        <p:attrNameLst>
                                          <p:attrName>style.visibility</p:attrName>
                                        </p:attrNameLst>
                                      </p:cBhvr>
                                      <p:to>
                                        <p:strVal val="visible"/>
                                      </p:to>
                                    </p:set>
                                    <p:animEffect transition="in" filter="blinds(horizontal)">
                                      <p:cBhvr>
                                        <p:cTn id="47" dur="500"/>
                                        <p:tgtEl>
                                          <p:spTgt spid="39015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r>
              <a:rPr lang="en-US" sz="2800" dirty="0" err="1">
                <a:solidFill>
                  <a:schemeClr val="bg1"/>
                </a:solidFill>
                <a:latin typeface="Courier New" pitchFamily="49" charset="0"/>
                <a:cs typeface="B Lotus" pitchFamily="2" charset="-78"/>
              </a:rPr>
              <a:t>HashSet</a:t>
            </a:r>
            <a:r>
              <a:rPr lang="en-US" sz="2800" dirty="0">
                <a:solidFill>
                  <a:schemeClr val="bg1"/>
                </a:solidFill>
                <a:cs typeface="B Lotus" pitchFamily="2" charset="-78"/>
              </a:rPr>
              <a:t> </a:t>
            </a:r>
            <a:r>
              <a:rPr lang="fa-IR" sz="2800" dirty="0">
                <a:solidFill>
                  <a:schemeClr val="bg1"/>
                </a:solidFill>
                <a:cs typeface="B Lotus" pitchFamily="2" charset="-78"/>
              </a:rPr>
              <a:t>تست عضویت در </a:t>
            </a:r>
            <a:endParaRPr lang="en-US" sz="2800" dirty="0">
              <a:solidFill>
                <a:schemeClr val="bg1"/>
              </a:solidFill>
              <a:cs typeface="B Lotus" pitchFamily="2" charset="-78"/>
            </a:endParaRPr>
          </a:p>
        </p:txBody>
      </p:sp>
      <p:sp>
        <p:nvSpPr>
          <p:cNvPr id="7" name="Content Placeholder 6"/>
          <p:cNvSpPr>
            <a:spLocks noGrp="1"/>
          </p:cNvSpPr>
          <p:nvPr>
            <p:ph idx="1"/>
          </p:nvPr>
        </p:nvSpPr>
        <p:spPr/>
        <p:txBody>
          <a:bodyPr/>
          <a:lstStyle/>
          <a:p>
            <a:pPr algn="r" rtl="1">
              <a:lnSpc>
                <a:spcPct val="90000"/>
              </a:lnSpc>
            </a:pPr>
            <a:r>
              <a:rPr lang="fa-IR" sz="2800" dirty="0">
                <a:cs typeface="B Lotus" pitchFamily="2" charset="-78"/>
              </a:rPr>
              <a:t>برای اینکه جاوا بفهمد آیا </a:t>
            </a:r>
            <a:r>
              <a:rPr lang="en-US" sz="2800" dirty="0" err="1">
                <a:latin typeface="Courier New" pitchFamily="49" charset="0"/>
                <a:cs typeface="B Lotus" pitchFamily="2" charset="-78"/>
              </a:rPr>
              <a:t>HashSet</a:t>
            </a:r>
            <a:r>
              <a:rPr lang="en-US" sz="2800" dirty="0">
                <a:cs typeface="B Lotus" pitchFamily="2" charset="-78"/>
              </a:rPr>
              <a:t> </a:t>
            </a:r>
            <a:r>
              <a:rPr lang="fa-IR" sz="2800" dirty="0">
                <a:cs typeface="B Lotus" pitchFamily="2" charset="-78"/>
              </a:rPr>
              <a:t> حاوی شیئ مربوطه است:</a:t>
            </a:r>
          </a:p>
          <a:p>
            <a:pPr lvl="1" algn="r" rtl="1">
              <a:lnSpc>
                <a:spcPct val="90000"/>
              </a:lnSpc>
            </a:pPr>
            <a:r>
              <a:rPr lang="fa-IR" sz="2400" dirty="0">
                <a:cs typeface="B Lotus" pitchFamily="2" charset="-78"/>
              </a:rPr>
              <a:t>ابتدا </a:t>
            </a:r>
            <a:r>
              <a:rPr lang="en-US" sz="2400" dirty="0" err="1">
                <a:latin typeface="Courier New" pitchFamily="49" charset="0"/>
                <a:cs typeface="B Lotus" pitchFamily="2" charset="-78"/>
              </a:rPr>
              <a:t>hashCode</a:t>
            </a:r>
            <a:r>
              <a:rPr lang="en-US" sz="2400" dirty="0">
                <a:cs typeface="B Lotus" pitchFamily="2" charset="-78"/>
              </a:rPr>
              <a:t> </a:t>
            </a:r>
            <a:r>
              <a:rPr lang="fa-IR" sz="2400" dirty="0">
                <a:cs typeface="B Lotus" pitchFamily="2" charset="-78"/>
              </a:rPr>
              <a:t> شیئ مربوطه محاسبه می‏شود.</a:t>
            </a:r>
          </a:p>
          <a:p>
            <a:pPr lvl="1" algn="r" rtl="1">
              <a:lnSpc>
                <a:spcPct val="90000"/>
              </a:lnSpc>
            </a:pPr>
            <a:r>
              <a:rPr lang="fa-IR" sz="2400" dirty="0">
                <a:cs typeface="B Lotus" pitchFamily="2" charset="-78"/>
              </a:rPr>
              <a:t>در اندیس مربوطه در آرایه داخلی </a:t>
            </a:r>
            <a:r>
              <a:rPr lang="en-US" sz="2400" dirty="0">
                <a:cs typeface="B Lotus" pitchFamily="2" charset="-78"/>
              </a:rPr>
              <a:t> </a:t>
            </a:r>
            <a:r>
              <a:rPr lang="en-US" sz="2400" dirty="0" err="1">
                <a:latin typeface="Courier New" pitchFamily="49" charset="0"/>
                <a:cs typeface="B Lotus" pitchFamily="2" charset="-78"/>
              </a:rPr>
              <a:t>HashSet</a:t>
            </a:r>
            <a:r>
              <a:rPr lang="fa-IR" sz="2400" dirty="0">
                <a:cs typeface="B Lotus" pitchFamily="2" charset="-78"/>
              </a:rPr>
              <a:t>رجوع می‏شود.</a:t>
            </a:r>
          </a:p>
          <a:p>
            <a:pPr lvl="1" algn="just" rtl="1">
              <a:lnSpc>
                <a:spcPct val="90000"/>
              </a:lnSpc>
            </a:pPr>
            <a:r>
              <a:rPr lang="fa-IR" sz="2400" dirty="0">
                <a:cs typeface="B Lotus" pitchFamily="2" charset="-78"/>
              </a:rPr>
              <a:t>شیئی داده شده با شیئ موجود در آن اندیس آرایه با متد </a:t>
            </a:r>
            <a:r>
              <a:rPr lang="en-US" sz="2400" dirty="0">
                <a:latin typeface="Courier New" pitchFamily="49" charset="0"/>
                <a:cs typeface="B Lotus" pitchFamily="2" charset="-78"/>
              </a:rPr>
              <a:t>equals</a:t>
            </a:r>
            <a:r>
              <a:rPr lang="fa-IR" sz="2400" dirty="0">
                <a:cs typeface="B Lotus" pitchFamily="2" charset="-78"/>
              </a:rPr>
              <a:t> مقایسه می‏شود، اگر باهم برابر بودند، مقدار </a:t>
            </a:r>
            <a:r>
              <a:rPr lang="en-US" sz="2400" dirty="0">
                <a:cs typeface="B Lotus" pitchFamily="2" charset="-78"/>
              </a:rPr>
              <a:t>true</a:t>
            </a:r>
            <a:r>
              <a:rPr lang="fa-IR" sz="2400" dirty="0">
                <a:cs typeface="B Lotus" pitchFamily="2" charset="-78"/>
              </a:rPr>
              <a:t> برگردانده می‏شود.</a:t>
            </a:r>
          </a:p>
          <a:p>
            <a:pPr lvl="1" algn="r" rtl="1">
              <a:lnSpc>
                <a:spcPct val="90000"/>
              </a:lnSpc>
            </a:pPr>
            <a:r>
              <a:rPr lang="fa-IR" sz="2400" dirty="0">
                <a:cs typeface="B Lotus" pitchFamily="2" charset="-78"/>
              </a:rPr>
              <a:t>در نتیجه می‏گوییم شیئ مورد نظر در </a:t>
            </a:r>
            <a:r>
              <a:rPr lang="en-US" sz="2400" dirty="0">
                <a:cs typeface="B Lotus" pitchFamily="2" charset="-78"/>
              </a:rPr>
              <a:t>set</a:t>
            </a:r>
            <a:r>
              <a:rPr lang="fa-IR" sz="2400" dirty="0">
                <a:cs typeface="B Lotus" pitchFamily="2" charset="-78"/>
              </a:rPr>
              <a:t> قرار دارد، اگر هر دو شرط زیر برقرار باشند:</a:t>
            </a:r>
          </a:p>
          <a:p>
            <a:pPr lvl="2" algn="r" rtl="1">
              <a:lnSpc>
                <a:spcPct val="90000"/>
              </a:lnSpc>
            </a:pPr>
            <a:r>
              <a:rPr lang="fa-IR" dirty="0">
                <a:cs typeface="B Lotus" pitchFamily="2" charset="-78"/>
              </a:rPr>
              <a:t>شیئی مربوطه دارای </a:t>
            </a:r>
            <a:r>
              <a:rPr lang="en-US" dirty="0">
                <a:cs typeface="B Lotus" pitchFamily="2" charset="-78"/>
              </a:rPr>
              <a:t>hash code</a:t>
            </a:r>
            <a:r>
              <a:rPr lang="fa-IR" dirty="0">
                <a:cs typeface="B Lotus" pitchFamily="2" charset="-78"/>
              </a:rPr>
              <a:t> برابر با شیئی موجود در آن خانه آرایه باشد.</a:t>
            </a:r>
          </a:p>
          <a:p>
            <a:pPr lvl="2" algn="r" rtl="1">
              <a:lnSpc>
                <a:spcPct val="90000"/>
              </a:lnSpc>
            </a:pPr>
            <a:r>
              <a:rPr lang="fa-IR" dirty="0">
                <a:cs typeface="B Lotus" pitchFamily="2" charset="-78"/>
              </a:rPr>
              <a:t>و متد </a:t>
            </a:r>
            <a:r>
              <a:rPr lang="en-US" dirty="0">
                <a:cs typeface="B Lotus" pitchFamily="2" charset="-78"/>
              </a:rPr>
              <a:t>equals</a:t>
            </a:r>
            <a:r>
              <a:rPr lang="fa-IR" dirty="0">
                <a:cs typeface="B Lotus" pitchFamily="2" charset="-78"/>
              </a:rPr>
              <a:t> مقدار </a:t>
            </a:r>
            <a:r>
              <a:rPr lang="en-US" dirty="0">
                <a:cs typeface="B Lotus" pitchFamily="2" charset="-78"/>
              </a:rPr>
              <a:t>true</a:t>
            </a:r>
            <a:r>
              <a:rPr lang="fa-IR" dirty="0">
                <a:cs typeface="B Lotus" pitchFamily="2" charset="-78"/>
              </a:rPr>
              <a:t> را برگرداند.</a:t>
            </a:r>
          </a:p>
          <a:p>
            <a:endParaRPr lang="en-US" dirty="0">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18</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linds(horizontal)">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blinds(horizontal)">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638175" y="38101"/>
            <a:ext cx="8143875" cy="676256"/>
          </a:xfrm>
        </p:spPr>
        <p:txBody>
          <a:bodyPr>
            <a:normAutofit/>
          </a:bodyPr>
          <a:lstStyle/>
          <a:p>
            <a:r>
              <a:rPr lang="en-US" sz="2800" dirty="0">
                <a:solidFill>
                  <a:schemeClr val="bg1"/>
                </a:solidFill>
              </a:rPr>
              <a:t>Set </a:t>
            </a:r>
            <a:r>
              <a:rPr lang="fa-IR" sz="2800" dirty="0">
                <a:solidFill>
                  <a:schemeClr val="bg1"/>
                </a:solidFill>
              </a:rPr>
              <a:t>:</a:t>
            </a:r>
            <a:r>
              <a:rPr lang="en-US" sz="2800" dirty="0" err="1">
                <a:solidFill>
                  <a:schemeClr val="bg1"/>
                </a:solidFill>
              </a:rPr>
              <a:t>LinkedHashSet</a:t>
            </a:r>
            <a:endParaRPr lang="en-US" sz="2800" dirty="0">
              <a:solidFill>
                <a:schemeClr val="bg1"/>
              </a:solidFill>
            </a:endParaRPr>
          </a:p>
        </p:txBody>
      </p:sp>
      <p:sp>
        <p:nvSpPr>
          <p:cNvPr id="391176" name="Rectangle 8"/>
          <p:cNvSpPr>
            <a:spLocks noGrp="1" noChangeArrowheads="1"/>
          </p:cNvSpPr>
          <p:nvPr>
            <p:ph type="body" sz="half" idx="1"/>
          </p:nvPr>
        </p:nvSpPr>
        <p:spPr>
          <a:xfrm>
            <a:off x="357158" y="1071546"/>
            <a:ext cx="8424936" cy="4713089"/>
          </a:xfrm>
          <a:solidFill>
            <a:schemeClr val="bg2">
              <a:alpha val="25000"/>
            </a:schemeClr>
          </a:solidFill>
          <a:ln/>
        </p:spPr>
        <p:txBody>
          <a:bodyPr>
            <a:normAutofit/>
          </a:bodyPr>
          <a:lstStyle/>
          <a:p>
            <a:pPr algn="r" rtl="1"/>
            <a:r>
              <a:rPr lang="fa-IR" sz="1600" dirty="0">
                <a:cs typeface="B Lotus" pitchFamily="2" charset="-78"/>
              </a:rPr>
              <a:t>یک شیئ </a:t>
            </a:r>
            <a:r>
              <a:rPr lang="en-US" sz="1600" dirty="0" err="1">
                <a:cs typeface="B Lotus" pitchFamily="2" charset="-78"/>
              </a:rPr>
              <a:t>LinkedHashSet</a:t>
            </a:r>
            <a:r>
              <a:rPr lang="en-US" sz="1600" dirty="0">
                <a:cs typeface="B Lotus" pitchFamily="2" charset="-78"/>
              </a:rPr>
              <a:t> </a:t>
            </a:r>
            <a:r>
              <a:rPr lang="fa-IR" sz="1600" dirty="0">
                <a:cs typeface="B Lotus" pitchFamily="2" charset="-78"/>
              </a:rPr>
              <a:t> ترتیب عناصر وارد شده را نگهداری کرده و عملیات</a:t>
            </a:r>
            <a:r>
              <a:rPr lang="en-US" sz="1600" dirty="0">
                <a:cs typeface="B Lotus" pitchFamily="2" charset="-78"/>
              </a:rPr>
              <a:t> </a:t>
            </a:r>
            <a:r>
              <a:rPr lang="fa-IR" sz="1600" dirty="0">
                <a:cs typeface="B Lotus" pitchFamily="2" charset="-78"/>
              </a:rPr>
              <a:t> جستجویی آن، پیچیدگی زمانی ثابت </a:t>
            </a:r>
            <a:r>
              <a:rPr lang="en-US" sz="1600" dirty="0">
                <a:cs typeface="B Lotus" pitchFamily="2" charset="-78"/>
              </a:rPr>
              <a:t>(Constant time speed)</a:t>
            </a:r>
            <a:r>
              <a:rPr lang="fa-IR" sz="1600" dirty="0">
                <a:cs typeface="B Lotus" pitchFamily="2" charset="-78"/>
              </a:rPr>
              <a:t> دارد.</a:t>
            </a:r>
          </a:p>
          <a:p>
            <a:pPr algn="r" rtl="1"/>
            <a:r>
              <a:rPr lang="fa-IR" sz="1600" dirty="0">
                <a:cs typeface="B Lotus" pitchFamily="2" charset="-78"/>
              </a:rPr>
              <a:t>برای رسیدن به این هدف، علاوه بر در اختیار داشتن جدول هش، یک لیست پیوندی دوطرفه </a:t>
            </a:r>
            <a:r>
              <a:rPr lang="en-US" sz="1600" dirty="0">
                <a:cs typeface="B Lotus" pitchFamily="2" charset="-78"/>
              </a:rPr>
              <a:t>(doubly) </a:t>
            </a:r>
            <a:r>
              <a:rPr lang="fa-IR" sz="1600" dirty="0">
                <a:cs typeface="B Lotus" pitchFamily="2" charset="-78"/>
              </a:rPr>
              <a:t> برای نگهداری عناصرش در اختیار دارد.</a:t>
            </a:r>
          </a:p>
        </p:txBody>
      </p:sp>
      <p:sp>
        <p:nvSpPr>
          <p:cNvPr id="6" name="Slide Number Placeholder 4"/>
          <p:cNvSpPr>
            <a:spLocks noGrp="1"/>
          </p:cNvSpPr>
          <p:nvPr>
            <p:ph type="sldNum" sz="quarter" idx="10"/>
          </p:nvPr>
        </p:nvSpPr>
        <p:spPr/>
        <p:txBody>
          <a:bodyPr/>
          <a:lstStyle/>
          <a:p>
            <a:fld id="{F399DC3C-D89F-4C72-9713-D337E357BC44}" type="slidenum">
              <a:rPr lang="en-US"/>
              <a:pPr/>
              <a:t>19</a:t>
            </a:fld>
            <a:endParaRPr lang="en-US"/>
          </a:p>
        </p:txBody>
      </p:sp>
      <p:pic>
        <p:nvPicPr>
          <p:cNvPr id="1026" name="Picture 2" descr="http://www.cs.wcupa.edu/rkline/assets/img/DS/linked-hashset.gif?13171512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132856"/>
            <a:ext cx="5848350" cy="443865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4208" y="2780928"/>
            <a:ext cx="1743075"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a:srcRect/>
          <a:stretch>
            <a:fillRect/>
          </a:stretch>
        </p:blipFill>
        <p:spPr bwMode="auto">
          <a:xfrm rot="5400000">
            <a:off x="7500950" y="-642988"/>
            <a:ext cx="857210" cy="2428891"/>
          </a:xfrm>
          <a:prstGeom prst="rect">
            <a:avLst/>
          </a:prstGeom>
          <a:noFill/>
          <a:ln w="9525">
            <a:noFill/>
            <a:miter lim="800000"/>
            <a:headEnd/>
            <a:tailEnd/>
          </a:ln>
        </p:spPr>
      </p:pic>
    </p:spTree>
    <p:extLst>
      <p:ext uri="{BB962C8B-B14F-4D97-AF65-F5344CB8AC3E}">
        <p14:creationId xmlns:p14="http://schemas.microsoft.com/office/powerpoint/2010/main" val="2494890561"/>
      </p:ext>
    </p:extLst>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638175" y="38101"/>
            <a:ext cx="8143875" cy="676256"/>
          </a:xfrm>
        </p:spPr>
        <p:txBody>
          <a:bodyPr>
            <a:normAutofit/>
          </a:bodyPr>
          <a:lstStyle/>
          <a:p>
            <a:r>
              <a:rPr lang="en-US" sz="2800" dirty="0">
                <a:solidFill>
                  <a:schemeClr val="bg1"/>
                </a:solidFill>
              </a:rPr>
              <a:t>Set </a:t>
            </a:r>
            <a:r>
              <a:rPr lang="fa-IR" sz="2800" dirty="0">
                <a:solidFill>
                  <a:schemeClr val="bg1"/>
                </a:solidFill>
              </a:rPr>
              <a:t>:</a:t>
            </a:r>
            <a:r>
              <a:rPr lang="en-US" sz="2800" dirty="0" err="1">
                <a:solidFill>
                  <a:schemeClr val="bg1"/>
                </a:solidFill>
              </a:rPr>
              <a:t>LinkedHashSet</a:t>
            </a:r>
            <a:endParaRPr lang="en-US" sz="2800" dirty="0">
              <a:solidFill>
                <a:schemeClr val="bg1"/>
              </a:solidFill>
            </a:endParaRPr>
          </a:p>
        </p:txBody>
      </p:sp>
      <p:sp>
        <p:nvSpPr>
          <p:cNvPr id="391176" name="Rectangle 8"/>
          <p:cNvSpPr>
            <a:spLocks noGrp="1" noChangeArrowheads="1"/>
          </p:cNvSpPr>
          <p:nvPr>
            <p:ph type="body" sz="half" idx="1"/>
          </p:nvPr>
        </p:nvSpPr>
        <p:spPr>
          <a:xfrm>
            <a:off x="4735392" y="1052736"/>
            <a:ext cx="4301770" cy="3960439"/>
          </a:xfrm>
          <a:solidFill>
            <a:schemeClr val="bg2">
              <a:alpha val="25000"/>
            </a:schemeClr>
          </a:solidFill>
          <a:ln/>
        </p:spPr>
        <p:txBody>
          <a:bodyPr>
            <a:normAutofit/>
          </a:bodyPr>
          <a:lstStyle/>
          <a:p>
            <a:pPr algn="just" rtl="1"/>
            <a:r>
              <a:rPr lang="fa-IR" sz="1800" dirty="0">
                <a:cs typeface="B Lotus" pitchFamily="2" charset="-78"/>
              </a:rPr>
              <a:t>کلاس </a:t>
            </a:r>
            <a:r>
              <a:rPr lang="en-US" sz="1800" dirty="0" err="1">
                <a:cs typeface="B Lotus" pitchFamily="2" charset="-78"/>
              </a:rPr>
              <a:t>ListNode</a:t>
            </a:r>
            <a:r>
              <a:rPr lang="fa-IR" sz="1800" dirty="0">
                <a:cs typeface="B Lotus" pitchFamily="2" charset="-78"/>
              </a:rPr>
              <a:t> عناصر لیست پیوندی دوطرفه </a:t>
            </a:r>
            <a:r>
              <a:rPr lang="en-US" sz="1800" dirty="0">
                <a:cs typeface="B Lotus" pitchFamily="2" charset="-78"/>
              </a:rPr>
              <a:t>(doubly) </a:t>
            </a:r>
            <a:r>
              <a:rPr lang="fa-IR" sz="1800" dirty="0">
                <a:cs typeface="B Lotus" pitchFamily="2" charset="-78"/>
              </a:rPr>
              <a:t> را تشکیل می‏دهد که برای نگهداری عناصر اصلی </a:t>
            </a:r>
            <a:r>
              <a:rPr lang="en-US" sz="1800" dirty="0">
                <a:cs typeface="B Lotus" pitchFamily="2" charset="-78"/>
              </a:rPr>
              <a:t>Set</a:t>
            </a:r>
            <a:r>
              <a:rPr lang="fa-IR" sz="1800" dirty="0">
                <a:cs typeface="B Lotus" pitchFamily="2" charset="-78"/>
              </a:rPr>
              <a:t> به کار می‏رود.</a:t>
            </a:r>
          </a:p>
          <a:p>
            <a:pPr algn="just" rtl="1"/>
            <a:r>
              <a:rPr lang="fa-IR" sz="1800" dirty="0">
                <a:cs typeface="B Lotus" pitchFamily="2" charset="-78"/>
              </a:rPr>
              <a:t>جدول هش ساده در این ساختار، کلاس </a:t>
            </a:r>
            <a:r>
              <a:rPr lang="en-US" sz="1800" dirty="0">
                <a:cs typeface="B Lotus" pitchFamily="2" charset="-78"/>
              </a:rPr>
              <a:t>Node</a:t>
            </a:r>
            <a:r>
              <a:rPr lang="fa-IR" sz="1800" dirty="0">
                <a:cs typeface="B Lotus" pitchFamily="2" charset="-78"/>
              </a:rPr>
              <a:t> اینگونه تغییر می کند که هر فیلد </a:t>
            </a:r>
            <a:r>
              <a:rPr lang="en-US" sz="1800" dirty="0" err="1">
                <a:cs typeface="B Lotus" pitchFamily="2" charset="-78"/>
              </a:rPr>
              <a:t>ptr</a:t>
            </a:r>
            <a:r>
              <a:rPr lang="fa-IR" sz="1800" dirty="0">
                <a:cs typeface="B Lotus" pitchFamily="2" charset="-78"/>
              </a:rPr>
              <a:t> آن ریموت کنترلی به </a:t>
            </a:r>
            <a:r>
              <a:rPr lang="en-US" sz="1800" dirty="0" err="1"/>
              <a:t>ListNode</a:t>
            </a:r>
            <a:r>
              <a:rPr lang="en-US" sz="1800" dirty="0"/>
              <a:t> </a:t>
            </a:r>
            <a:r>
              <a:rPr lang="fa-IR" sz="1800" dirty="0"/>
              <a:t> </a:t>
            </a:r>
            <a:r>
              <a:rPr lang="fa-IR" sz="1800" dirty="0">
                <a:cs typeface="B Lotus" pitchFamily="2" charset="-78"/>
              </a:rPr>
              <a:t>است.</a:t>
            </a:r>
          </a:p>
          <a:p>
            <a:pPr algn="just" rtl="1"/>
            <a:r>
              <a:rPr lang="fa-IR" sz="1800" dirty="0">
                <a:cs typeface="B Lotus" pitchFamily="2" charset="-78"/>
              </a:rPr>
              <a:t>حروف </a:t>
            </a:r>
            <a:r>
              <a:rPr lang="en-US" sz="1800" dirty="0">
                <a:cs typeface="B Lotus" pitchFamily="2" charset="-78"/>
              </a:rPr>
              <a:t>A, B,C…</a:t>
            </a:r>
            <a:r>
              <a:rPr lang="fa-IR" sz="1800" dirty="0">
                <a:cs typeface="B Lotus" pitchFamily="2" charset="-78"/>
              </a:rPr>
              <a:t> بیانگر اشاره‏گرهایی درون عناصر</a:t>
            </a:r>
            <a:r>
              <a:rPr lang="en-US" sz="1800" dirty="0">
                <a:cs typeface="B Lotus" pitchFamily="2" charset="-78"/>
              </a:rPr>
              <a:t> Node</a:t>
            </a:r>
            <a:r>
              <a:rPr lang="fa-IR" sz="1800" dirty="0">
                <a:cs typeface="B Lotus" pitchFamily="2" charset="-78"/>
              </a:rPr>
              <a:t> به عنصر </a:t>
            </a:r>
            <a:r>
              <a:rPr lang="en-US" sz="1800" dirty="0" err="1">
                <a:cs typeface="B Lotus" pitchFamily="2" charset="-78"/>
              </a:rPr>
              <a:t>ListNode</a:t>
            </a:r>
            <a:r>
              <a:rPr lang="fa-IR" sz="1800" dirty="0">
                <a:cs typeface="B Lotus" pitchFamily="2" charset="-78"/>
              </a:rPr>
              <a:t> مربوطه هستند.</a:t>
            </a:r>
          </a:p>
          <a:p>
            <a:pPr algn="just" rtl="1"/>
            <a:r>
              <a:rPr lang="fa-IR" sz="1800" dirty="0">
                <a:cs typeface="B Lotus" pitchFamily="2" charset="-78"/>
              </a:rPr>
              <a:t>برای مثال نحوه دسترسی به </a:t>
            </a:r>
            <a:r>
              <a:rPr lang="en-US" sz="1800" dirty="0"/>
              <a:t>"schools"</a:t>
            </a:r>
            <a:r>
              <a:rPr lang="fa-IR" sz="1800" dirty="0">
                <a:cs typeface="B Lotus" pitchFamily="2" charset="-78"/>
              </a:rPr>
              <a:t>را در شکل می‏بینید:</a:t>
            </a:r>
          </a:p>
          <a:p>
            <a:pPr algn="just" rtl="1"/>
            <a:endParaRPr lang="fa-IR" sz="1800" dirty="0">
              <a:cs typeface="B Lotus" pitchFamily="2" charset="-78"/>
            </a:endParaRPr>
          </a:p>
        </p:txBody>
      </p:sp>
      <p:sp>
        <p:nvSpPr>
          <p:cNvPr id="6" name="Slide Number Placeholder 4"/>
          <p:cNvSpPr>
            <a:spLocks noGrp="1"/>
          </p:cNvSpPr>
          <p:nvPr>
            <p:ph type="sldNum" sz="quarter" idx="10"/>
          </p:nvPr>
        </p:nvSpPr>
        <p:spPr/>
        <p:txBody>
          <a:bodyPr/>
          <a:lstStyle/>
          <a:p>
            <a:fld id="{F399DC3C-D89F-4C72-9713-D337E357BC44}" type="slidenum">
              <a:rPr lang="en-US"/>
              <a:pPr/>
              <a:t>20</a:t>
            </a:fld>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817156"/>
            <a:ext cx="4267848" cy="3358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descr="http://www.cs.wcupa.edu/rkline/assets/img/DS/linked-hash-sample.png?13182598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421527"/>
            <a:ext cx="4133158"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404526"/>
      </p:ext>
    </p:extLst>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638175" y="38101"/>
            <a:ext cx="8143875" cy="676256"/>
          </a:xfrm>
        </p:spPr>
        <p:txBody>
          <a:bodyPr>
            <a:normAutofit/>
          </a:bodyPr>
          <a:lstStyle/>
          <a:p>
            <a:r>
              <a:rPr lang="en-US" sz="2800" dirty="0">
                <a:solidFill>
                  <a:schemeClr val="bg1"/>
                </a:solidFill>
              </a:rPr>
              <a:t>Set </a:t>
            </a:r>
            <a:r>
              <a:rPr lang="fa-IR" sz="2800" dirty="0">
                <a:solidFill>
                  <a:schemeClr val="bg1"/>
                </a:solidFill>
              </a:rPr>
              <a:t>:</a:t>
            </a:r>
            <a:r>
              <a:rPr lang="en-US" sz="2800" dirty="0" err="1">
                <a:solidFill>
                  <a:schemeClr val="bg1"/>
                </a:solidFill>
              </a:rPr>
              <a:t>LinkedHashSet</a:t>
            </a:r>
            <a:endParaRPr lang="en-US" sz="2800" dirty="0">
              <a:solidFill>
                <a:schemeClr val="bg1"/>
              </a:solidFill>
            </a:endParaRPr>
          </a:p>
        </p:txBody>
      </p:sp>
      <p:sp>
        <p:nvSpPr>
          <p:cNvPr id="391176" name="Rectangle 8"/>
          <p:cNvSpPr>
            <a:spLocks noGrp="1" noChangeArrowheads="1"/>
          </p:cNvSpPr>
          <p:nvPr>
            <p:ph type="body" sz="half" idx="1"/>
          </p:nvPr>
        </p:nvSpPr>
        <p:spPr>
          <a:xfrm>
            <a:off x="311150" y="1447800"/>
            <a:ext cx="5494338" cy="4137025"/>
          </a:xfrm>
          <a:solidFill>
            <a:schemeClr val="bg2">
              <a:alpha val="25000"/>
            </a:schemeClr>
          </a:solidFill>
          <a:ln/>
        </p:spPr>
        <p:txBody>
          <a:bodyPr/>
          <a:lstStyle/>
          <a:p>
            <a:pPr>
              <a:lnSpc>
                <a:spcPct val="80000"/>
              </a:lnSpc>
              <a:buFontTx/>
              <a:buNone/>
            </a:pPr>
            <a:r>
              <a:rPr lang="en-US" sz="1400" b="1">
                <a:solidFill>
                  <a:srgbClr val="0066FF"/>
                </a:solidFill>
                <a:latin typeface="Courier New" pitchFamily="49" charset="0"/>
              </a:rPr>
              <a:t>import </a:t>
            </a:r>
            <a:r>
              <a:rPr lang="en-US" sz="1400" b="1">
                <a:latin typeface="Courier New" pitchFamily="49" charset="0"/>
              </a:rPr>
              <a:t>java.util.LinkedHashSet;</a:t>
            </a:r>
          </a:p>
          <a:p>
            <a:pPr>
              <a:lnSpc>
                <a:spcPct val="80000"/>
              </a:lnSpc>
              <a:buFontTx/>
              <a:buNone/>
            </a:pPr>
            <a:endParaRPr lang="en-US" sz="1400" b="1">
              <a:latin typeface="Courier New" pitchFamily="49" charset="0"/>
            </a:endParaRPr>
          </a:p>
          <a:p>
            <a:pPr>
              <a:lnSpc>
                <a:spcPct val="80000"/>
              </a:lnSpc>
              <a:buFontTx/>
              <a:buNone/>
            </a:pPr>
            <a:r>
              <a:rPr lang="en-US" sz="1400" b="1">
                <a:solidFill>
                  <a:srgbClr val="0066FF"/>
                </a:solidFill>
                <a:latin typeface="Courier New" pitchFamily="49" charset="0"/>
              </a:rPr>
              <a:t>public class</a:t>
            </a:r>
            <a:r>
              <a:rPr lang="en-US" sz="1400" b="1">
                <a:latin typeface="Courier New" pitchFamily="49" charset="0"/>
              </a:rPr>
              <a:t> MyLinkedHashSet {</a:t>
            </a:r>
          </a:p>
          <a:p>
            <a:pPr>
              <a:lnSpc>
                <a:spcPct val="80000"/>
              </a:lnSpc>
              <a:buFontTx/>
              <a:buNone/>
            </a:pPr>
            <a:endParaRPr lang="en-US" sz="1400" b="1">
              <a:latin typeface="Courier New" pitchFamily="49" charset="0"/>
            </a:endParaRPr>
          </a:p>
          <a:p>
            <a:pPr>
              <a:lnSpc>
                <a:spcPct val="80000"/>
              </a:lnSpc>
              <a:buFontTx/>
              <a:buNone/>
            </a:pPr>
            <a:r>
              <a:rPr lang="en-US" sz="1400" b="1">
                <a:latin typeface="Courier New" pitchFamily="49" charset="0"/>
              </a:rPr>
              <a:t>	</a:t>
            </a:r>
            <a:r>
              <a:rPr lang="en-US" sz="1400" b="1">
                <a:solidFill>
                  <a:srgbClr val="0066FF"/>
                </a:solidFill>
                <a:latin typeface="Courier New" pitchFamily="49" charset="0"/>
              </a:rPr>
              <a:t>public static</a:t>
            </a:r>
            <a:r>
              <a:rPr lang="en-US" sz="1400" b="1">
                <a:latin typeface="Courier New" pitchFamily="49" charset="0"/>
              </a:rPr>
              <a:t> void main(String args[ ])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LinkedHashSet lhs = </a:t>
            </a:r>
            <a:r>
              <a:rPr lang="en-US" sz="1400" b="1">
                <a:solidFill>
                  <a:srgbClr val="0066FF"/>
                </a:solidFill>
                <a:latin typeface="Courier New" pitchFamily="49" charset="0"/>
              </a:rPr>
              <a:t>new</a:t>
            </a:r>
            <a:r>
              <a:rPr lang="en-US" sz="1400" b="1">
                <a:latin typeface="Courier New" pitchFamily="49" charset="0"/>
              </a:rPr>
              <a:t> LinkedHashSet();</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lhs.add(</a:t>
            </a:r>
            <a:r>
              <a:rPr lang="en-US" sz="1400" b="1">
                <a:solidFill>
                  <a:srgbClr val="0066FF"/>
                </a:solidFill>
                <a:latin typeface="Courier New" pitchFamily="49" charset="0"/>
              </a:rPr>
              <a:t>new </a:t>
            </a:r>
            <a:r>
              <a:rPr lang="en-US" sz="1400" b="1">
                <a:latin typeface="Courier New" pitchFamily="49" charset="0"/>
              </a:rPr>
              <a:t>String("One"));</a:t>
            </a:r>
          </a:p>
          <a:p>
            <a:pPr>
              <a:lnSpc>
                <a:spcPct val="80000"/>
              </a:lnSpc>
              <a:buFontTx/>
              <a:buNone/>
            </a:pPr>
            <a:r>
              <a:rPr lang="en-US" sz="1400" b="1">
                <a:latin typeface="Courier New" pitchFamily="49" charset="0"/>
              </a:rPr>
              <a:t>		lhs.add(</a:t>
            </a:r>
            <a:r>
              <a:rPr lang="en-US" sz="1400" b="1">
                <a:solidFill>
                  <a:srgbClr val="0066FF"/>
                </a:solidFill>
                <a:latin typeface="Courier New" pitchFamily="49" charset="0"/>
              </a:rPr>
              <a:t>new</a:t>
            </a:r>
            <a:r>
              <a:rPr lang="en-US" sz="1400" b="1">
                <a:latin typeface="Courier New" pitchFamily="49" charset="0"/>
              </a:rPr>
              <a:t> String("Two"));</a:t>
            </a:r>
          </a:p>
          <a:p>
            <a:pPr>
              <a:lnSpc>
                <a:spcPct val="80000"/>
              </a:lnSpc>
              <a:buFontTx/>
              <a:buNone/>
            </a:pPr>
            <a:r>
              <a:rPr lang="en-US" sz="1400" b="1">
                <a:latin typeface="Courier New" pitchFamily="49" charset="0"/>
              </a:rPr>
              <a:t>		lhs.add(</a:t>
            </a:r>
            <a:r>
              <a:rPr lang="en-US" sz="1400" b="1">
                <a:solidFill>
                  <a:srgbClr val="0066FF"/>
                </a:solidFill>
                <a:latin typeface="Courier New" pitchFamily="49" charset="0"/>
              </a:rPr>
              <a:t>new</a:t>
            </a:r>
            <a:r>
              <a:rPr lang="en-US" sz="1400" b="1">
                <a:latin typeface="Courier New" pitchFamily="49" charset="0"/>
              </a:rPr>
              <a:t> String("Three"));</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Object array[] = lhs.toArray(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a:t>
            </a:r>
            <a:r>
              <a:rPr lang="en-US" sz="1400" b="1">
                <a:solidFill>
                  <a:srgbClr val="0066FF"/>
                </a:solidFill>
                <a:latin typeface="Courier New" pitchFamily="49" charset="0"/>
              </a:rPr>
              <a:t>for</a:t>
            </a:r>
            <a:r>
              <a:rPr lang="en-US" sz="1400" b="1">
                <a:latin typeface="Courier New" pitchFamily="49" charset="0"/>
              </a:rPr>
              <a:t>(</a:t>
            </a:r>
            <a:r>
              <a:rPr lang="en-US" sz="1400" b="1">
                <a:solidFill>
                  <a:srgbClr val="0066FF"/>
                </a:solidFill>
                <a:latin typeface="Courier New" pitchFamily="49" charset="0"/>
              </a:rPr>
              <a:t>int</a:t>
            </a:r>
            <a:r>
              <a:rPr lang="en-US" sz="1400" b="1">
                <a:latin typeface="Courier New" pitchFamily="49" charset="0"/>
              </a:rPr>
              <a:t> x=0; x&lt;3; x++) {</a:t>
            </a:r>
          </a:p>
          <a:p>
            <a:pPr>
              <a:lnSpc>
                <a:spcPct val="80000"/>
              </a:lnSpc>
              <a:buFontTx/>
              <a:buNone/>
            </a:pPr>
            <a:r>
              <a:rPr lang="en-US" sz="1400" b="1">
                <a:latin typeface="Courier New" pitchFamily="49" charset="0"/>
              </a:rPr>
              <a:t>		   System.out.println(array[x]);	</a:t>
            </a:r>
          </a:p>
          <a:p>
            <a:pPr>
              <a:lnSpc>
                <a:spcPct val="80000"/>
              </a:lnSpc>
              <a:buFontTx/>
              <a:buNone/>
            </a:pPr>
            <a:r>
              <a:rPr lang="en-US" sz="1400" b="1">
                <a:latin typeface="Courier New" pitchFamily="49" charset="0"/>
              </a:rPr>
              <a:t>		}	</a:t>
            </a:r>
          </a:p>
          <a:p>
            <a:pPr>
              <a:lnSpc>
                <a:spcPct val="80000"/>
              </a:lnSpc>
              <a:buFontTx/>
              <a:buNone/>
            </a:pPr>
            <a:r>
              <a:rPr lang="en-US" sz="1400" b="1">
                <a:latin typeface="Courier New" pitchFamily="49" charset="0"/>
              </a:rPr>
              <a:t>	}			</a:t>
            </a:r>
          </a:p>
          <a:p>
            <a:pPr>
              <a:lnSpc>
                <a:spcPct val="80000"/>
              </a:lnSpc>
              <a:buFontTx/>
              <a:buNone/>
            </a:pPr>
            <a:r>
              <a:rPr lang="en-US" sz="1400" b="1">
                <a:latin typeface="Courier New" pitchFamily="49" charset="0"/>
              </a:rPr>
              <a:t>}</a:t>
            </a:r>
          </a:p>
        </p:txBody>
      </p:sp>
      <p:sp>
        <p:nvSpPr>
          <p:cNvPr id="6" name="Slide Number Placeholder 4"/>
          <p:cNvSpPr>
            <a:spLocks noGrp="1"/>
          </p:cNvSpPr>
          <p:nvPr>
            <p:ph type="sldNum" sz="quarter" idx="10"/>
          </p:nvPr>
        </p:nvSpPr>
        <p:spPr/>
        <p:txBody>
          <a:bodyPr/>
          <a:lstStyle/>
          <a:p>
            <a:fld id="{F399DC3C-D89F-4C72-9713-D337E357BC44}" type="slidenum">
              <a:rPr lang="en-US"/>
              <a:pPr/>
              <a:t>21</a:t>
            </a:fld>
            <a:endParaRPr lang="en-US"/>
          </a:p>
        </p:txBody>
      </p:sp>
      <p:sp>
        <p:nvSpPr>
          <p:cNvPr id="391181" name="Rectangle 13"/>
          <p:cNvSpPr>
            <a:spLocks noChangeArrowheads="1"/>
          </p:cNvSpPr>
          <p:nvPr/>
        </p:nvSpPr>
        <p:spPr bwMode="auto">
          <a:xfrm>
            <a:off x="5992813" y="1503363"/>
            <a:ext cx="2854325" cy="892175"/>
          </a:xfrm>
          <a:prstGeom prst="rect">
            <a:avLst/>
          </a:prstGeom>
          <a:solidFill>
            <a:schemeClr val="tx1"/>
          </a:solidFill>
          <a:ln w="12700">
            <a:noFill/>
            <a:miter lim="800000"/>
            <a:headEnd/>
            <a:tailEnd/>
          </a:ln>
          <a:effectLst/>
        </p:spPr>
        <p:txBody>
          <a:bodyPr lIns="90488" tIns="44450" rIns="90488" bIns="44450"/>
          <a:lstStyle/>
          <a:p>
            <a:pPr marL="342900" indent="-342900" algn="l" eaLnBrk="1" hangingPunct="1">
              <a:spcBef>
                <a:spcPct val="20000"/>
              </a:spcBef>
              <a:buClr>
                <a:schemeClr val="hlink"/>
              </a:buClr>
            </a:pPr>
            <a:r>
              <a:rPr lang="en-US" sz="1400">
                <a:solidFill>
                  <a:schemeClr val="bg1"/>
                </a:solidFill>
                <a:latin typeface="Courier New" pitchFamily="49" charset="0"/>
              </a:rPr>
              <a:t>One</a:t>
            </a:r>
          </a:p>
          <a:p>
            <a:pPr marL="342900" indent="-342900" algn="l" eaLnBrk="1" hangingPunct="1">
              <a:spcBef>
                <a:spcPct val="20000"/>
              </a:spcBef>
              <a:buClr>
                <a:schemeClr val="hlink"/>
              </a:buClr>
            </a:pPr>
            <a:r>
              <a:rPr lang="en-US" sz="1400">
                <a:solidFill>
                  <a:schemeClr val="bg1"/>
                </a:solidFill>
                <a:latin typeface="Courier New" pitchFamily="49" charset="0"/>
              </a:rPr>
              <a:t>Two</a:t>
            </a:r>
          </a:p>
          <a:p>
            <a:pPr marL="342900" indent="-342900" algn="l" eaLnBrk="1" hangingPunct="1">
              <a:spcBef>
                <a:spcPct val="20000"/>
              </a:spcBef>
              <a:buClr>
                <a:schemeClr val="hlink"/>
              </a:buClr>
            </a:pPr>
            <a:r>
              <a:rPr lang="en-US" sz="1400">
                <a:solidFill>
                  <a:schemeClr val="bg1"/>
                </a:solidFill>
                <a:latin typeface="Courier New" pitchFamily="49" charset="0"/>
              </a:rPr>
              <a:t>Three</a:t>
            </a:r>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88640"/>
            <a:ext cx="8229600" cy="418058"/>
          </a:xfrm>
        </p:spPr>
        <p:txBody>
          <a:bodyPr>
            <a:normAutofit fontScale="90000"/>
          </a:bodyPr>
          <a:lstStyle/>
          <a:p>
            <a:r>
              <a:rPr lang="en-US" sz="3200" dirty="0" err="1">
                <a:solidFill>
                  <a:schemeClr val="bg1"/>
                </a:solidFill>
              </a:rPr>
              <a:t>LinkedHashSet</a:t>
            </a:r>
            <a:endParaRPr lang="en-US" sz="3200" dirty="0">
              <a:solidFill>
                <a:schemeClr val="bg1"/>
              </a:solidFill>
            </a:endParaRPr>
          </a:p>
        </p:txBody>
      </p:sp>
      <p:sp>
        <p:nvSpPr>
          <p:cNvPr id="7" name="Content Placeholder 6"/>
          <p:cNvSpPr>
            <a:spLocks noGrp="1"/>
          </p:cNvSpPr>
          <p:nvPr>
            <p:ph idx="1"/>
          </p:nvPr>
        </p:nvSpPr>
        <p:spPr>
          <a:xfrm>
            <a:off x="500034" y="642918"/>
            <a:ext cx="8229600" cy="5040560"/>
          </a:xfrm>
        </p:spPr>
        <p:txBody>
          <a:bodyPr>
            <a:normAutofit/>
          </a:bodyPr>
          <a:lstStyle/>
          <a:p>
            <a:pPr algn="r" rtl="1"/>
            <a:r>
              <a:rPr lang="fa-IR" sz="1600" dirty="0">
                <a:cs typeface="B Lotus" pitchFamily="2" charset="-78"/>
              </a:rPr>
              <a:t> </a:t>
            </a:r>
            <a:r>
              <a:rPr lang="en-US" sz="1600" dirty="0" err="1">
                <a:cs typeface="B Lotus" pitchFamily="2" charset="-78"/>
              </a:rPr>
              <a:t>LinkedHashSet</a:t>
            </a:r>
            <a:r>
              <a:rPr lang="en-US" sz="1600" dirty="0">
                <a:cs typeface="B Lotus" pitchFamily="2" charset="-78"/>
              </a:rPr>
              <a:t> </a:t>
            </a:r>
            <a:r>
              <a:rPr lang="fa-IR" sz="1600" dirty="0">
                <a:cs typeface="B Lotus" pitchFamily="2" charset="-78"/>
              </a:rPr>
              <a:t> یک لیست پیوندی از عناصر مجموعه را به ترتیبی که به لیست اضافه شده‏اند، نگهداری می‏کند</a:t>
            </a:r>
            <a:r>
              <a:rPr lang="en-US" sz="1600" dirty="0">
                <a:cs typeface="B Lotus" pitchFamily="2" charset="-78"/>
              </a:rPr>
              <a:t>.</a:t>
            </a:r>
            <a:endParaRPr lang="fa-IR" sz="1600" dirty="0">
              <a:cs typeface="B Lotus" pitchFamily="2" charset="-78"/>
            </a:endParaRPr>
          </a:p>
          <a:p>
            <a:pPr algn="r" rtl="1"/>
            <a:r>
              <a:rPr lang="fa-IR" sz="1600" dirty="0">
                <a:cs typeface="B Lotus" pitchFamily="2" charset="-78"/>
              </a:rPr>
              <a:t>در هنگام پیمایش این مجموعه توسط یک </a:t>
            </a:r>
            <a:r>
              <a:rPr lang="en-US" sz="1600" dirty="0">
                <a:cs typeface="B Lotus" pitchFamily="2" charset="-78"/>
              </a:rPr>
              <a:t>iterator</a:t>
            </a:r>
            <a:r>
              <a:rPr lang="fa-IR" sz="1600" dirty="0">
                <a:cs typeface="B Lotus" pitchFamily="2" charset="-78"/>
              </a:rPr>
              <a:t> عناصر به ترتیب وارد شدنشان به مجموعه، برگردانده خواهند شد.</a:t>
            </a:r>
          </a:p>
          <a:p>
            <a:pPr algn="r" rtl="1"/>
            <a:r>
              <a:rPr lang="fa-IR" sz="1600" dirty="0">
                <a:cs typeface="B Lotus" pitchFamily="2" charset="-78"/>
              </a:rPr>
              <a:t>این کلاس چهار سازنده مهم دارد که اولی یک مجموعه هَش پیش‏فرض می‏سازد:</a:t>
            </a:r>
          </a:p>
          <a:p>
            <a:pPr algn="r" rtl="1"/>
            <a:endParaRPr lang="fa-IR" sz="1600" dirty="0">
              <a:cs typeface="B Lotus" pitchFamily="2" charset="-78"/>
            </a:endParaRPr>
          </a:p>
          <a:p>
            <a:r>
              <a:rPr lang="en-US" sz="1600" dirty="0" err="1">
                <a:cs typeface="B Lotus" pitchFamily="2" charset="-78"/>
              </a:rPr>
              <a:t>LinkedHashSet</a:t>
            </a:r>
            <a:r>
              <a:rPr lang="en-US" sz="1600" dirty="0">
                <a:cs typeface="B Lotus" pitchFamily="2" charset="-78"/>
              </a:rPr>
              <a:t>( ) </a:t>
            </a:r>
            <a:endParaRPr lang="fa-IR" sz="1600" dirty="0">
              <a:cs typeface="B Lotus" pitchFamily="2" charset="-78"/>
            </a:endParaRPr>
          </a:p>
          <a:p>
            <a:pPr algn="r" rtl="1"/>
            <a:r>
              <a:rPr lang="fa-IR" sz="1600" dirty="0">
                <a:cs typeface="B Lotus" pitchFamily="2" charset="-78"/>
              </a:rPr>
              <a:t>سازنده زیر یک مجموعه هش را با عناصر </a:t>
            </a:r>
            <a:r>
              <a:rPr lang="en-US" sz="1600" dirty="0">
                <a:cs typeface="B Lotus" pitchFamily="2" charset="-78"/>
              </a:rPr>
              <a:t>c</a:t>
            </a:r>
            <a:r>
              <a:rPr lang="fa-IR" sz="1600" dirty="0">
                <a:cs typeface="B Lotus" pitchFamily="2" charset="-78"/>
              </a:rPr>
              <a:t> می‏سازد:</a:t>
            </a:r>
          </a:p>
          <a:p>
            <a:r>
              <a:rPr lang="en-US" sz="1600" dirty="0" err="1">
                <a:cs typeface="B Lotus" pitchFamily="2" charset="-78"/>
              </a:rPr>
              <a:t>LinkedHashSet</a:t>
            </a:r>
            <a:r>
              <a:rPr lang="en-US" sz="1600" dirty="0">
                <a:cs typeface="B Lotus" pitchFamily="2" charset="-78"/>
              </a:rPr>
              <a:t>(Collection c) </a:t>
            </a:r>
            <a:endParaRPr lang="fa-IR" sz="1600" dirty="0">
              <a:cs typeface="B Lotus" pitchFamily="2" charset="-78"/>
            </a:endParaRPr>
          </a:p>
          <a:p>
            <a:pPr algn="r" rtl="1"/>
            <a:r>
              <a:rPr lang="fa-IR" sz="1600" dirty="0">
                <a:cs typeface="B Lotus" pitchFamily="2" charset="-78"/>
              </a:rPr>
              <a:t>سازنده زیر اندازه اولیه (ظرفیت-تعداد سطرهای جدول هش) را مشخص می‏کند که این ظرفیت با افزایش تعداد عناصر بیشتر خواهد شد:</a:t>
            </a:r>
          </a:p>
          <a:p>
            <a:r>
              <a:rPr lang="en-US" sz="1600" dirty="0" err="1">
                <a:cs typeface="B Lotus" pitchFamily="2" charset="-78"/>
              </a:rPr>
              <a:t>LinkedHashSet</a:t>
            </a:r>
            <a:r>
              <a:rPr lang="en-US" sz="1600" dirty="0">
                <a:cs typeface="B Lotus" pitchFamily="2" charset="-78"/>
              </a:rPr>
              <a:t>(</a:t>
            </a:r>
            <a:r>
              <a:rPr lang="en-US" sz="1600" dirty="0" err="1">
                <a:cs typeface="B Lotus" pitchFamily="2" charset="-78"/>
              </a:rPr>
              <a:t>int</a:t>
            </a:r>
            <a:r>
              <a:rPr lang="en-US" sz="1600" dirty="0">
                <a:cs typeface="B Lotus" pitchFamily="2" charset="-78"/>
              </a:rPr>
              <a:t> capacity)</a:t>
            </a:r>
            <a:endParaRPr lang="fa-IR" sz="1600" dirty="0">
              <a:cs typeface="B Lotus" pitchFamily="2" charset="-78"/>
            </a:endParaRPr>
          </a:p>
          <a:p>
            <a:endParaRPr lang="fa-IR" sz="1600" dirty="0">
              <a:cs typeface="B Lotus" pitchFamily="2" charset="-78"/>
            </a:endParaRPr>
          </a:p>
          <a:p>
            <a:pPr algn="r" rtl="1"/>
            <a:r>
              <a:rPr lang="fa-IR" sz="1600" dirty="0">
                <a:cs typeface="B Lotus" pitchFamily="2" charset="-78"/>
              </a:rPr>
              <a:t>سازنده زیر، هم ظرفیت جدول را مشخص می‏کند، هم ظرفیت بار را </a:t>
            </a:r>
            <a:r>
              <a:rPr lang="en-US" sz="1600" dirty="0">
                <a:cs typeface="B Lotus" pitchFamily="2" charset="-78"/>
              </a:rPr>
              <a:t>(fill ratio- load capacity)</a:t>
            </a:r>
            <a:endParaRPr lang="fa-IR" sz="1600" dirty="0">
              <a:cs typeface="B Lotus" pitchFamily="2" charset="-78"/>
            </a:endParaRPr>
          </a:p>
          <a:p>
            <a:r>
              <a:rPr lang="en-US" sz="1600" dirty="0">
                <a:cs typeface="B Lotus" pitchFamily="2" charset="-78"/>
              </a:rPr>
              <a:t>LinkedHashSet(int capacity, float fillRatio)</a:t>
            </a:r>
          </a:p>
          <a:p>
            <a:pPr algn="r" rtl="1"/>
            <a:r>
              <a:rPr lang="fa-IR" sz="1600" dirty="0">
                <a:cs typeface="B Lotus" pitchFamily="2" charset="-78"/>
              </a:rPr>
              <a:t>ظرفیت بار که پیش فرض آن </a:t>
            </a:r>
            <a:r>
              <a:rPr lang="en-US" sz="1600" dirty="0">
                <a:cs typeface="B Lotus" pitchFamily="2" charset="-78"/>
              </a:rPr>
              <a:t>0.75</a:t>
            </a:r>
            <a:r>
              <a:rPr lang="fa-IR" sz="1600" dirty="0">
                <a:cs typeface="B Lotus" pitchFamily="2" charset="-78"/>
              </a:rPr>
              <a:t> است می گوید هرگاه تعداد عناصر وارد شده به جدول هش به ¾</a:t>
            </a:r>
            <a:r>
              <a:rPr lang="en-US" sz="1600" dirty="0">
                <a:cs typeface="B Lotus" pitchFamily="2" charset="-78"/>
              </a:rPr>
              <a:t> </a:t>
            </a:r>
            <a:r>
              <a:rPr lang="fa-IR" sz="1600" dirty="0">
                <a:cs typeface="B Lotus" pitchFamily="2" charset="-78"/>
              </a:rPr>
              <a:t> ظرفیت جدول رسید، ظرفیت دوبرابر شده و </a:t>
            </a:r>
            <a:r>
              <a:rPr lang="en-US" sz="1600" dirty="0">
                <a:cs typeface="B Lotus" pitchFamily="2" charset="-78"/>
              </a:rPr>
              <a:t>rehashing</a:t>
            </a:r>
            <a:r>
              <a:rPr lang="fa-IR" sz="1600" dirty="0">
                <a:cs typeface="B Lotus" pitchFamily="2" charset="-78"/>
              </a:rPr>
              <a:t> صورت گیرد.</a:t>
            </a:r>
          </a:p>
          <a:p>
            <a:pPr algn="l"/>
            <a:r>
              <a:rPr lang="en-US" sz="1600" dirty="0"/>
              <a:t>load = (# elements in the hash table) / capacity </a:t>
            </a:r>
            <a:endParaRPr lang="fa-IR" sz="1600" dirty="0"/>
          </a:p>
          <a:p>
            <a:pPr algn="r" rtl="1"/>
            <a:r>
              <a:rPr lang="fa-IR" sz="1600" dirty="0">
                <a:cs typeface="B Lotus" pitchFamily="2" charset="-78"/>
              </a:rPr>
              <a:t>در مثال زیر اندازه ظرفیت بار </a:t>
            </a:r>
            <a:r>
              <a:rPr lang="en-US" sz="1600" dirty="0"/>
              <a:t>9/11 = 0.82 </a:t>
            </a:r>
            <a:r>
              <a:rPr lang="fa-IR" sz="1600" dirty="0">
                <a:cs typeface="B Lotus" pitchFamily="2" charset="-78"/>
              </a:rPr>
              <a:t> است.</a:t>
            </a:r>
            <a:endParaRPr lang="en-US" sz="1600" dirty="0">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22</a:t>
            </a:fld>
            <a:endParaRPr lang="en-US"/>
          </a:p>
        </p:txBody>
      </p:sp>
      <p:pic>
        <p:nvPicPr>
          <p:cNvPr id="31746" name="Picture 2" descr="http://www.cs.wcupa.edu/rkline/assets/img/DS/chaining.gif?1317147325"/>
          <p:cNvPicPr>
            <a:picLocks noChangeAspect="1" noChangeArrowheads="1"/>
          </p:cNvPicPr>
          <p:nvPr/>
        </p:nvPicPr>
        <p:blipFill>
          <a:blip r:embed="rId2"/>
          <a:srcRect/>
          <a:stretch>
            <a:fillRect/>
          </a:stretch>
        </p:blipFill>
        <p:spPr bwMode="auto">
          <a:xfrm>
            <a:off x="755576" y="5194354"/>
            <a:ext cx="2428892" cy="1500174"/>
          </a:xfrm>
          <a:prstGeom prst="rect">
            <a:avLst/>
          </a:prstGeom>
          <a:noFill/>
        </p:spPr>
      </p:pic>
    </p:spTree>
    <p:extLst>
      <p:ext uri="{BB962C8B-B14F-4D97-AF65-F5344CB8AC3E}">
        <p14:creationId xmlns:p14="http://schemas.microsoft.com/office/powerpoint/2010/main" val="34494187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en-US" sz="3600" b="1" dirty="0">
                <a:solidFill>
                  <a:schemeClr val="bg1"/>
                </a:solidFill>
              </a:rPr>
              <a:t>Rehash</a:t>
            </a:r>
            <a:endParaRPr lang="en-US" dirty="0">
              <a:solidFill>
                <a:schemeClr val="bg1"/>
              </a:solidFill>
            </a:endParaRPr>
          </a:p>
        </p:txBody>
      </p:sp>
      <p:sp>
        <p:nvSpPr>
          <p:cNvPr id="3" name="Content Placeholder 2"/>
          <p:cNvSpPr>
            <a:spLocks noGrp="1"/>
          </p:cNvSpPr>
          <p:nvPr>
            <p:ph idx="1"/>
          </p:nvPr>
        </p:nvSpPr>
        <p:spPr>
          <a:xfrm>
            <a:off x="285720" y="582570"/>
            <a:ext cx="8715436" cy="5910329"/>
          </a:xfrm>
        </p:spPr>
        <p:txBody>
          <a:bodyPr>
            <a:normAutofit fontScale="85000" lnSpcReduction="20000"/>
          </a:bodyPr>
          <a:lstStyle/>
          <a:p>
            <a:endParaRPr lang="en-US" b="1" dirty="0"/>
          </a:p>
          <a:p>
            <a:pPr algn="r" rtl="1"/>
            <a:r>
              <a:rPr lang="fa-IR" dirty="0">
                <a:cs typeface="B Lotus" pitchFamily="2" charset="-78"/>
              </a:rPr>
              <a:t>بزرگ شدن ظرفیت بار سبب کاهش کارایی جستجو در جدول هش می شود.</a:t>
            </a:r>
          </a:p>
          <a:p>
            <a:pPr algn="r" rtl="1"/>
            <a:r>
              <a:rPr lang="fa-IR" dirty="0">
                <a:cs typeface="B Lotus" pitchFamily="2" charset="-78"/>
              </a:rPr>
              <a:t>هرگاه بار یک جدول بخواهد بیش از فاکتور بار شود، به عملیات </a:t>
            </a:r>
            <a:r>
              <a:rPr lang="en-US" dirty="0">
                <a:cs typeface="B Lotus" pitchFamily="2" charset="-78"/>
              </a:rPr>
              <a:t>rehash</a:t>
            </a:r>
            <a:r>
              <a:rPr lang="fa-IR" dirty="0">
                <a:cs typeface="B Lotus" pitchFamily="2" charset="-78"/>
              </a:rPr>
              <a:t> نیاز خواهیم داشت.</a:t>
            </a:r>
          </a:p>
          <a:p>
            <a:pPr algn="r" rtl="1"/>
            <a:r>
              <a:rPr lang="fa-IR" dirty="0">
                <a:cs typeface="B Lotus" pitchFamily="2" charset="-78"/>
              </a:rPr>
              <a:t>این عملیات مشابه اضافه کردن اندازه </a:t>
            </a:r>
            <a:r>
              <a:rPr lang="en-US" dirty="0">
                <a:cs typeface="B Lotus" pitchFamily="2" charset="-78"/>
              </a:rPr>
              <a:t>ArrayList</a:t>
            </a:r>
            <a:r>
              <a:rPr lang="fa-IR" dirty="0">
                <a:cs typeface="B Lotus" pitchFamily="2" charset="-78"/>
              </a:rPr>
              <a:t> است: استفاده از یک آرایه بزرگتر و کپی مقادیر آرایه کوچکتر به آن</a:t>
            </a:r>
          </a:p>
          <a:p>
            <a:pPr algn="r" rtl="1"/>
            <a:r>
              <a:rPr lang="fa-IR" dirty="0">
                <a:cs typeface="B Lotus" pitchFamily="2" charset="-78"/>
              </a:rPr>
              <a:t>در جدول هش، عملیات </a:t>
            </a:r>
            <a:r>
              <a:rPr lang="en-US" dirty="0">
                <a:cs typeface="B Lotus" pitchFamily="2" charset="-78"/>
              </a:rPr>
              <a:t>rehashing</a:t>
            </a:r>
            <a:r>
              <a:rPr lang="fa-IR" dirty="0">
                <a:cs typeface="B Lotus" pitchFamily="2" charset="-78"/>
              </a:rPr>
              <a:t> به این صورت است که </a:t>
            </a:r>
          </a:p>
          <a:p>
            <a:pPr lvl="1" algn="r" rtl="1"/>
            <a:r>
              <a:rPr lang="fa-IR" dirty="0">
                <a:cs typeface="B Lotus" pitchFamily="2" charset="-78"/>
              </a:rPr>
              <a:t>ابتدا یک ظرفیت </a:t>
            </a:r>
            <a:r>
              <a:rPr lang="en-US" dirty="0">
                <a:cs typeface="B Lotus" pitchFamily="2" charset="-78"/>
              </a:rPr>
              <a:t>capacity ≥ twice </a:t>
            </a:r>
            <a:r>
              <a:rPr lang="fa-IR" dirty="0">
                <a:cs typeface="B Lotus" pitchFamily="2" charset="-78"/>
              </a:rPr>
              <a:t> برابر یا بزرگتر از دوبرابر جدول قبلی انتخاب می‏شود.</a:t>
            </a:r>
          </a:p>
          <a:p>
            <a:pPr lvl="1" algn="r" rtl="1"/>
            <a:r>
              <a:rPr lang="fa-IR" dirty="0">
                <a:cs typeface="B Lotus" pitchFamily="2" charset="-78"/>
              </a:rPr>
              <a:t>ظرفیت اغلب یک عدد اول می‏باشد و دوبرابر کردن آن به معنای یافتن عدد اولی است که بزرگتر از دوبرابر ظرفیت قبلی باشد:</a:t>
            </a:r>
            <a:r>
              <a:rPr lang="en-US" dirty="0">
                <a:cs typeface="B Lotus" pitchFamily="2" charset="-78"/>
              </a:rPr>
              <a:t>2*capacity</a:t>
            </a:r>
            <a:endParaRPr lang="fa-IR" dirty="0">
              <a:cs typeface="B Lotus" pitchFamily="2" charset="-78"/>
            </a:endParaRPr>
          </a:p>
          <a:p>
            <a:pPr lvl="1" algn="r" rtl="1"/>
            <a:r>
              <a:rPr lang="fa-IR" dirty="0">
                <a:cs typeface="B Lotus" pitchFamily="2" charset="-78"/>
              </a:rPr>
              <a:t>آرایه‏ای جدید با ظرفیت مشخص‏شده تولید می‏شود.</a:t>
            </a:r>
          </a:p>
          <a:p>
            <a:pPr lvl="1" algn="r" rtl="1"/>
            <a:r>
              <a:rPr lang="fa-IR" dirty="0">
                <a:cs typeface="B Lotus" pitchFamily="2" charset="-78"/>
              </a:rPr>
              <a:t>جدول هش قبلی پیمایش می‏شود: برای هر عنصر داده‏ای، مقدار اندیس جدید (کد هش همان است، اما اندیس تغییر خواهد کرد)  محاسبه می‏شود و عنصر مربوطه به جدول جدید منتقل می‏شود.</a:t>
            </a:r>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23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638175" y="109538"/>
            <a:ext cx="8143875" cy="604818"/>
          </a:xfrm>
        </p:spPr>
        <p:txBody>
          <a:bodyPr>
            <a:normAutofit/>
          </a:bodyPr>
          <a:lstStyle/>
          <a:p>
            <a:r>
              <a:rPr lang="en-US" sz="2800" dirty="0">
                <a:solidFill>
                  <a:schemeClr val="bg1"/>
                </a:solidFill>
              </a:rPr>
              <a:t>Set </a:t>
            </a:r>
            <a:r>
              <a:rPr lang="en-US" sz="2800" dirty="0" err="1">
                <a:solidFill>
                  <a:schemeClr val="bg1"/>
                </a:solidFill>
              </a:rPr>
              <a:t>Implementations:TreeSet</a:t>
            </a:r>
            <a:endParaRPr lang="en-US" sz="2800" dirty="0">
              <a:solidFill>
                <a:schemeClr val="bg1"/>
              </a:solidFill>
            </a:endParaRPr>
          </a:p>
        </p:txBody>
      </p:sp>
      <p:sp>
        <p:nvSpPr>
          <p:cNvPr id="392200" name="Rectangle 8"/>
          <p:cNvSpPr>
            <a:spLocks noGrp="1" noChangeArrowheads="1"/>
          </p:cNvSpPr>
          <p:nvPr>
            <p:ph type="body" sz="half" idx="1"/>
          </p:nvPr>
        </p:nvSpPr>
        <p:spPr>
          <a:xfrm>
            <a:off x="311150" y="1447800"/>
            <a:ext cx="6681788" cy="4492625"/>
          </a:xfrm>
          <a:solidFill>
            <a:schemeClr val="bg2">
              <a:alpha val="25000"/>
            </a:schemeClr>
          </a:solidFill>
          <a:ln/>
        </p:spPr>
        <p:txBody>
          <a:bodyPr tIns="18288" bIns="18288"/>
          <a:lstStyle/>
          <a:p>
            <a:pPr>
              <a:lnSpc>
                <a:spcPct val="80000"/>
              </a:lnSpc>
              <a:buFontTx/>
              <a:buNone/>
            </a:pPr>
            <a:r>
              <a:rPr lang="en-US" sz="1400" b="1">
                <a:solidFill>
                  <a:srgbClr val="0066FF"/>
                </a:solidFill>
                <a:latin typeface="Courier New" pitchFamily="49" charset="0"/>
              </a:rPr>
              <a:t>import</a:t>
            </a:r>
            <a:r>
              <a:rPr lang="en-US" sz="1400" b="1">
                <a:latin typeface="Courier New" pitchFamily="49" charset="0"/>
              </a:rPr>
              <a:t> java.util.TreeSet;</a:t>
            </a:r>
          </a:p>
          <a:p>
            <a:pPr>
              <a:lnSpc>
                <a:spcPct val="80000"/>
              </a:lnSpc>
              <a:buFontTx/>
              <a:buNone/>
            </a:pPr>
            <a:r>
              <a:rPr lang="en-US" sz="1400" b="1">
                <a:solidFill>
                  <a:srgbClr val="0066FF"/>
                </a:solidFill>
                <a:latin typeface="Courier New" pitchFamily="49" charset="0"/>
              </a:rPr>
              <a:t>import</a:t>
            </a:r>
            <a:r>
              <a:rPr lang="en-US" sz="1400" b="1">
                <a:latin typeface="Courier New" pitchFamily="49" charset="0"/>
              </a:rPr>
              <a:t> java.util.Iterator;</a:t>
            </a:r>
          </a:p>
          <a:p>
            <a:pPr>
              <a:lnSpc>
                <a:spcPct val="80000"/>
              </a:lnSpc>
              <a:buFontTx/>
              <a:buNone/>
            </a:pPr>
            <a:endParaRPr lang="en-US" sz="1400" b="1">
              <a:latin typeface="Courier New" pitchFamily="49" charset="0"/>
            </a:endParaRPr>
          </a:p>
          <a:p>
            <a:pPr>
              <a:lnSpc>
                <a:spcPct val="80000"/>
              </a:lnSpc>
              <a:buFontTx/>
              <a:buNone/>
            </a:pPr>
            <a:r>
              <a:rPr lang="en-US" sz="1400" b="1">
                <a:solidFill>
                  <a:srgbClr val="0066FF"/>
                </a:solidFill>
                <a:latin typeface="Courier New" pitchFamily="49" charset="0"/>
              </a:rPr>
              <a:t>public class</a:t>
            </a:r>
            <a:r>
              <a:rPr lang="en-US" sz="1400" b="1">
                <a:latin typeface="Courier New" pitchFamily="49" charset="0"/>
              </a:rPr>
              <a:t> MyTreeSet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a:t>
            </a:r>
            <a:r>
              <a:rPr lang="en-US" sz="1400" b="1">
                <a:solidFill>
                  <a:srgbClr val="0066FF"/>
                </a:solidFill>
                <a:latin typeface="Courier New" pitchFamily="49" charset="0"/>
              </a:rPr>
              <a:t>public static void</a:t>
            </a:r>
            <a:r>
              <a:rPr lang="en-US" sz="1400" b="1">
                <a:latin typeface="Courier New" pitchFamily="49" charset="0"/>
              </a:rPr>
              <a:t> main(String args[ ])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TreeSet tree = </a:t>
            </a:r>
            <a:r>
              <a:rPr lang="en-US" sz="1400" b="1">
                <a:solidFill>
                  <a:srgbClr val="0066FF"/>
                </a:solidFill>
                <a:latin typeface="Courier New" pitchFamily="49" charset="0"/>
              </a:rPr>
              <a:t>new</a:t>
            </a:r>
            <a:r>
              <a:rPr lang="en-US" sz="1400" b="1">
                <a:latin typeface="Courier New" pitchFamily="49" charset="0"/>
              </a:rPr>
              <a:t> TreeSet();</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tree.add("Jody");</a:t>
            </a:r>
          </a:p>
          <a:p>
            <a:pPr>
              <a:lnSpc>
                <a:spcPct val="80000"/>
              </a:lnSpc>
              <a:buFontTx/>
              <a:buNone/>
            </a:pPr>
            <a:r>
              <a:rPr lang="en-US" sz="1400" b="1">
                <a:latin typeface="Courier New" pitchFamily="49" charset="0"/>
              </a:rPr>
              <a:t>		tree.add("Remiel");</a:t>
            </a:r>
          </a:p>
          <a:p>
            <a:pPr>
              <a:lnSpc>
                <a:spcPct val="80000"/>
              </a:lnSpc>
              <a:buFontTx/>
              <a:buNone/>
            </a:pPr>
            <a:r>
              <a:rPr lang="en-US" sz="1400" b="1">
                <a:latin typeface="Courier New" pitchFamily="49" charset="0"/>
              </a:rPr>
              <a:t>		tree.add("Reggie");</a:t>
            </a:r>
          </a:p>
          <a:p>
            <a:pPr>
              <a:lnSpc>
                <a:spcPct val="80000"/>
              </a:lnSpc>
              <a:buFontTx/>
              <a:buNone/>
            </a:pPr>
            <a:r>
              <a:rPr lang="en-US" sz="1400" b="1">
                <a:latin typeface="Courier New" pitchFamily="49" charset="0"/>
              </a:rPr>
              <a:t>		tree.add("Philippe");</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Iterator iterator = tree.iterator(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a:t>
            </a:r>
            <a:r>
              <a:rPr lang="en-US" sz="1400" b="1">
                <a:solidFill>
                  <a:srgbClr val="0066FF"/>
                </a:solidFill>
                <a:latin typeface="Courier New" pitchFamily="49" charset="0"/>
              </a:rPr>
              <a:t>while</a:t>
            </a:r>
            <a:r>
              <a:rPr lang="en-US" sz="1400" b="1">
                <a:latin typeface="Courier New" pitchFamily="49" charset="0"/>
              </a:rPr>
              <a:t>(iterator.hasNext( )) {</a:t>
            </a:r>
          </a:p>
          <a:p>
            <a:pPr>
              <a:lnSpc>
                <a:spcPct val="80000"/>
              </a:lnSpc>
              <a:buFontTx/>
              <a:buNone/>
            </a:pPr>
            <a:r>
              <a:rPr lang="en-US" sz="1400" b="1">
                <a:latin typeface="Courier New" pitchFamily="49" charset="0"/>
              </a:rPr>
              <a:t>		   System.out.println(iterator.next( ).toString( ));</a:t>
            </a:r>
          </a:p>
          <a:p>
            <a:pPr>
              <a:lnSpc>
                <a:spcPct val="80000"/>
              </a:lnSpc>
              <a:buFontTx/>
              <a:buNone/>
            </a:pPr>
            <a:r>
              <a:rPr lang="en-US" sz="1400" b="1">
                <a:latin typeface="Courier New" pitchFamily="49" charset="0"/>
              </a:rPr>
              <a:t>		}</a:t>
            </a:r>
          </a:p>
          <a:p>
            <a:pPr>
              <a:lnSpc>
                <a:spcPct val="80000"/>
              </a:lnSpc>
              <a:buFontTx/>
              <a:buNone/>
            </a:pPr>
            <a:r>
              <a:rPr lang="en-US" sz="1400" b="1">
                <a:latin typeface="Courier New" pitchFamily="49" charset="0"/>
              </a:rPr>
              <a:t>	}		</a:t>
            </a:r>
          </a:p>
          <a:p>
            <a:pPr>
              <a:lnSpc>
                <a:spcPct val="80000"/>
              </a:lnSpc>
              <a:buFontTx/>
              <a:buNone/>
            </a:pPr>
            <a:r>
              <a:rPr lang="en-US" sz="1400" b="1">
                <a:latin typeface="Courier New" pitchFamily="49" charset="0"/>
              </a:rPr>
              <a:t>}</a:t>
            </a:r>
          </a:p>
        </p:txBody>
      </p:sp>
      <p:sp>
        <p:nvSpPr>
          <p:cNvPr id="6" name="Slide Number Placeholder 4"/>
          <p:cNvSpPr>
            <a:spLocks noGrp="1"/>
          </p:cNvSpPr>
          <p:nvPr>
            <p:ph type="sldNum" sz="quarter" idx="10"/>
          </p:nvPr>
        </p:nvSpPr>
        <p:spPr/>
        <p:txBody>
          <a:bodyPr/>
          <a:lstStyle/>
          <a:p>
            <a:fld id="{81DD7366-002E-48F6-8010-3CF36E71F962}" type="slidenum">
              <a:rPr lang="en-US"/>
              <a:pPr/>
              <a:t>24</a:t>
            </a:fld>
            <a:endParaRPr lang="en-US"/>
          </a:p>
        </p:txBody>
      </p:sp>
      <p:sp>
        <p:nvSpPr>
          <p:cNvPr id="392204" name="Rectangle 12"/>
          <p:cNvSpPr>
            <a:spLocks noChangeArrowheads="1"/>
          </p:cNvSpPr>
          <p:nvPr/>
        </p:nvSpPr>
        <p:spPr bwMode="auto">
          <a:xfrm>
            <a:off x="5980113" y="1870075"/>
            <a:ext cx="2854325" cy="1131888"/>
          </a:xfrm>
          <a:prstGeom prst="rect">
            <a:avLst/>
          </a:prstGeom>
          <a:solidFill>
            <a:schemeClr val="tx1"/>
          </a:solidFill>
          <a:ln w="12700">
            <a:noFill/>
            <a:miter lim="800000"/>
            <a:headEnd/>
            <a:tailEnd/>
          </a:ln>
          <a:effectLst/>
        </p:spPr>
        <p:txBody>
          <a:bodyPr lIns="90488" tIns="44450" rIns="90488" bIns="44450"/>
          <a:lstStyle/>
          <a:p>
            <a:pPr marL="342900" indent="-342900" algn="l" eaLnBrk="1" hangingPunct="1">
              <a:spcBef>
                <a:spcPct val="20000"/>
              </a:spcBef>
              <a:buClr>
                <a:schemeClr val="hlink"/>
              </a:buClr>
            </a:pPr>
            <a:r>
              <a:rPr lang="en-US" sz="1400">
                <a:solidFill>
                  <a:schemeClr val="bg1"/>
                </a:solidFill>
                <a:latin typeface="Courier New" pitchFamily="49" charset="0"/>
              </a:rPr>
              <a:t>Jody</a:t>
            </a:r>
          </a:p>
          <a:p>
            <a:pPr marL="342900" indent="-342900" algn="l" eaLnBrk="1" hangingPunct="1">
              <a:spcBef>
                <a:spcPct val="20000"/>
              </a:spcBef>
              <a:buClr>
                <a:schemeClr val="hlink"/>
              </a:buClr>
            </a:pPr>
            <a:r>
              <a:rPr lang="en-US" sz="1400">
                <a:solidFill>
                  <a:schemeClr val="bg1"/>
                </a:solidFill>
                <a:latin typeface="Courier New" pitchFamily="49" charset="0"/>
              </a:rPr>
              <a:t>Philippe</a:t>
            </a:r>
          </a:p>
          <a:p>
            <a:pPr marL="342900" indent="-342900" algn="l" eaLnBrk="1" hangingPunct="1">
              <a:spcBef>
                <a:spcPct val="20000"/>
              </a:spcBef>
              <a:buClr>
                <a:schemeClr val="hlink"/>
              </a:buClr>
            </a:pPr>
            <a:r>
              <a:rPr lang="en-US" sz="1400">
                <a:solidFill>
                  <a:schemeClr val="bg1"/>
                </a:solidFill>
                <a:latin typeface="Courier New" pitchFamily="49" charset="0"/>
              </a:rPr>
              <a:t>Reggie</a:t>
            </a:r>
          </a:p>
          <a:p>
            <a:pPr marL="342900" indent="-342900" algn="l" eaLnBrk="1" hangingPunct="1">
              <a:spcBef>
                <a:spcPct val="20000"/>
              </a:spcBef>
              <a:buClr>
                <a:schemeClr val="hlink"/>
              </a:buClr>
            </a:pPr>
            <a:r>
              <a:rPr lang="en-US" sz="1400">
                <a:solidFill>
                  <a:schemeClr val="bg1"/>
                </a:solidFill>
                <a:latin typeface="Courier New" pitchFamily="49" charset="0"/>
              </a:rPr>
              <a:t>Remiel</a:t>
            </a: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17514"/>
            <a:ext cx="8229600" cy="368280"/>
          </a:xfrm>
        </p:spPr>
        <p:txBody>
          <a:bodyPr>
            <a:noAutofit/>
          </a:bodyPr>
          <a:lstStyle/>
          <a:p>
            <a:r>
              <a:rPr lang="en-US" sz="2800" b="1" dirty="0">
                <a:solidFill>
                  <a:schemeClr val="bg1"/>
                </a:solidFill>
                <a:cs typeface="B Lotus" pitchFamily="2" charset="-78"/>
              </a:rPr>
              <a:t>TreeSet </a:t>
            </a:r>
            <a:br>
              <a:rPr lang="en-US" sz="2800" dirty="0">
                <a:solidFill>
                  <a:schemeClr val="bg1"/>
                </a:solidFill>
                <a:cs typeface="B Lotus" pitchFamily="2" charset="-78"/>
              </a:rPr>
            </a:br>
            <a:endParaRPr lang="en-US" sz="2800" dirty="0">
              <a:solidFill>
                <a:schemeClr val="bg1"/>
              </a:solidFill>
              <a:cs typeface="B Lotus" pitchFamily="2" charset="-78"/>
            </a:endParaRPr>
          </a:p>
        </p:txBody>
      </p:sp>
      <p:sp>
        <p:nvSpPr>
          <p:cNvPr id="9" name="Content Placeholder 8"/>
          <p:cNvSpPr>
            <a:spLocks noGrp="1"/>
          </p:cNvSpPr>
          <p:nvPr>
            <p:ph idx="1"/>
          </p:nvPr>
        </p:nvSpPr>
        <p:spPr>
          <a:xfrm>
            <a:off x="571472" y="857232"/>
            <a:ext cx="8229600" cy="2311385"/>
          </a:xfrm>
        </p:spPr>
        <p:txBody>
          <a:bodyPr>
            <a:noAutofit/>
          </a:bodyPr>
          <a:lstStyle/>
          <a:p>
            <a:endParaRPr lang="fa-IR" sz="2000" dirty="0"/>
          </a:p>
          <a:p>
            <a:pPr algn="r" rtl="1"/>
            <a:r>
              <a:rPr lang="en-US" sz="2000" dirty="0"/>
              <a:t>TreeSet </a:t>
            </a:r>
            <a:r>
              <a:rPr lang="fa-IR" sz="2000" dirty="0"/>
              <a:t> </a:t>
            </a:r>
            <a:r>
              <a:rPr lang="fa-IR" sz="2000" dirty="0">
                <a:cs typeface="B Lotus" pitchFamily="2" charset="-78"/>
              </a:rPr>
              <a:t>با استفاده از ساختار درختی (درخت سرخ-سیاه </a:t>
            </a:r>
            <a:r>
              <a:rPr lang="en-US" sz="2000" dirty="0">
                <a:cs typeface="B Lotus" pitchFamily="2" charset="-78"/>
              </a:rPr>
              <a:t>Red-Black tree</a:t>
            </a:r>
            <a:r>
              <a:rPr lang="fa-IR" sz="2000" dirty="0">
                <a:cs typeface="B Lotus" pitchFamily="2" charset="-78"/>
              </a:rPr>
              <a:t>) پیاده‏سازی شده است.</a:t>
            </a:r>
            <a:endParaRPr lang="en-US" sz="2000" dirty="0">
              <a:cs typeface="B Lotus" pitchFamily="2" charset="-78"/>
            </a:endParaRPr>
          </a:p>
          <a:p>
            <a:pPr algn="r" rtl="1"/>
            <a:r>
              <a:rPr lang="fa-IR" sz="2000" dirty="0">
                <a:cs typeface="B Lotus" pitchFamily="2" charset="-78"/>
              </a:rPr>
              <a:t>عناصر در این مجموعه مرتب‏سازی شده‏اند، اما عملیات </a:t>
            </a:r>
            <a:r>
              <a:rPr lang="en-US" sz="2000" dirty="0">
                <a:cs typeface="B Lotus" pitchFamily="2" charset="-78"/>
              </a:rPr>
              <a:t>add</a:t>
            </a:r>
            <a:r>
              <a:rPr lang="fa-IR" sz="2000" dirty="0">
                <a:cs typeface="B Lotus" pitchFamily="2" charset="-78"/>
              </a:rPr>
              <a:t>، </a:t>
            </a:r>
            <a:r>
              <a:rPr lang="en-US" sz="2000" dirty="0">
                <a:cs typeface="B Lotus" pitchFamily="2" charset="-78"/>
              </a:rPr>
              <a:t> remove</a:t>
            </a:r>
            <a:r>
              <a:rPr lang="fa-IR" sz="2000" dirty="0">
                <a:cs typeface="B Lotus" pitchFamily="2" charset="-78"/>
              </a:rPr>
              <a:t> و </a:t>
            </a:r>
            <a:r>
              <a:rPr lang="en-US" sz="2000" dirty="0">
                <a:cs typeface="B Lotus" pitchFamily="2" charset="-78"/>
              </a:rPr>
              <a:t>contains</a:t>
            </a:r>
            <a:r>
              <a:rPr lang="fa-IR" sz="2000" dirty="0">
                <a:cs typeface="B Lotus" pitchFamily="2" charset="-78"/>
              </a:rPr>
              <a:t> دارای پیچیدگی زمانی</a:t>
            </a:r>
            <a:r>
              <a:rPr lang="en-US" sz="2000" dirty="0">
                <a:cs typeface="B Lotus" pitchFamily="2" charset="-78"/>
              </a:rPr>
              <a:t> O(log (n))</a:t>
            </a:r>
            <a:r>
              <a:rPr lang="fa-IR" sz="2000" dirty="0">
                <a:cs typeface="B Lotus" pitchFamily="2" charset="-78"/>
              </a:rPr>
              <a:t>هستند. </a:t>
            </a:r>
          </a:p>
          <a:p>
            <a:pPr algn="r" rtl="1"/>
            <a:r>
              <a:rPr lang="fa-IR" sz="2000" dirty="0">
                <a:cs typeface="B Lotus" pitchFamily="2" charset="-78"/>
              </a:rPr>
              <a:t>داده‏ها به ترتیب صعودی در این ساختار، ذخیره‏سازی می‏شوند.</a:t>
            </a:r>
          </a:p>
          <a:p>
            <a:pPr algn="r" rtl="1"/>
            <a:r>
              <a:rPr lang="fa-IR" sz="2000" dirty="0">
                <a:cs typeface="B Lotus" pitchFamily="2" charset="-78"/>
              </a:rPr>
              <a:t>برای ذخیره‏سازی داده‏های مرتب با حجم بالا، بهترین  گزینه می‏باشد.</a:t>
            </a:r>
          </a:p>
          <a:p>
            <a:pPr algn="r" rtl="1"/>
            <a:r>
              <a:rPr lang="fa-IR" sz="2000" dirty="0">
                <a:cs typeface="B Lotus" pitchFamily="2" charset="-78"/>
              </a:rPr>
              <a:t>دارای متدهایی برای مجموعه‏های مرتب نظیر </a:t>
            </a:r>
            <a:r>
              <a:rPr lang="en-US" sz="2000" dirty="0">
                <a:cs typeface="B Lotus" pitchFamily="2" charset="-78"/>
              </a:rPr>
              <a:t>first()</a:t>
            </a:r>
            <a:r>
              <a:rPr lang="fa-IR" sz="2000" dirty="0">
                <a:cs typeface="B Lotus" pitchFamily="2" charset="-78"/>
              </a:rPr>
              <a:t>، </a:t>
            </a:r>
            <a:r>
              <a:rPr lang="en-US" sz="2000" dirty="0">
                <a:cs typeface="B Lotus" pitchFamily="2" charset="-78"/>
              </a:rPr>
              <a:t>last()</a:t>
            </a:r>
            <a:r>
              <a:rPr lang="fa-IR" sz="2000" dirty="0">
                <a:cs typeface="B Lotus" pitchFamily="2" charset="-78"/>
              </a:rPr>
              <a:t>، </a:t>
            </a:r>
            <a:r>
              <a:rPr lang="en-US" sz="2000" dirty="0">
                <a:cs typeface="B Lotus" pitchFamily="2" charset="-78"/>
              </a:rPr>
              <a:t>headSet()</a:t>
            </a:r>
            <a:r>
              <a:rPr lang="fa-IR" sz="2000" dirty="0">
                <a:cs typeface="B Lotus" pitchFamily="2" charset="-78"/>
              </a:rPr>
              <a:t>، </a:t>
            </a:r>
            <a:r>
              <a:rPr lang="en-US" sz="2000" dirty="0">
                <a:cs typeface="B Lotus" pitchFamily="2" charset="-78"/>
              </a:rPr>
              <a:t>tailSet()</a:t>
            </a:r>
            <a:r>
              <a:rPr lang="fa-IR" sz="2000" dirty="0">
                <a:cs typeface="B Lotus" pitchFamily="2" charset="-78"/>
              </a:rPr>
              <a:t> و غیره می‏باشد.</a:t>
            </a:r>
          </a:p>
          <a:p>
            <a:endParaRPr lang="en-US" sz="2000" dirty="0"/>
          </a:p>
        </p:txBody>
      </p:sp>
      <p:sp>
        <p:nvSpPr>
          <p:cNvPr id="5" name="Slide Number Placeholder 4"/>
          <p:cNvSpPr>
            <a:spLocks noGrp="1"/>
          </p:cNvSpPr>
          <p:nvPr>
            <p:ph type="sldNum" sz="quarter" idx="12"/>
          </p:nvPr>
        </p:nvSpPr>
        <p:spPr/>
        <p:txBody>
          <a:bodyPr/>
          <a:lstStyle/>
          <a:p>
            <a:fld id="{E2E32164-7D64-46C2-AECF-5ED4A3D0BCDA}" type="slidenum">
              <a:rPr lang="en-US" smtClean="0"/>
              <a:pPr/>
              <a:t>25</a:t>
            </a:fld>
            <a:endParaRPr lang="en-US"/>
          </a:p>
        </p:txBody>
      </p:sp>
      <p:pic>
        <p:nvPicPr>
          <p:cNvPr id="27650" name="Picture 2" descr="Diagram of binary tree. The black root node has two red children and four black grandchildren. The child nodes of the grandchildren are black nil pointers or red nodes with black nil pointers."/>
          <p:cNvPicPr>
            <a:picLocks noChangeAspect="1" noChangeArrowheads="1"/>
          </p:cNvPicPr>
          <p:nvPr/>
        </p:nvPicPr>
        <p:blipFill>
          <a:blip r:embed="rId2"/>
          <a:srcRect/>
          <a:stretch>
            <a:fillRect/>
          </a:stretch>
        </p:blipFill>
        <p:spPr bwMode="auto">
          <a:xfrm>
            <a:off x="2305022" y="4197373"/>
            <a:ext cx="4762500" cy="2295526"/>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blinds(horizontal)">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blinds(horizontal)">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blinds(horizontal)">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blinds(horizontal)">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blinds(horizontal)">
                                      <p:cBhvr>
                                        <p:cTn id="27"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17514"/>
            <a:ext cx="8229600" cy="368280"/>
          </a:xfrm>
        </p:spPr>
        <p:txBody>
          <a:bodyPr>
            <a:noAutofit/>
          </a:bodyPr>
          <a:lstStyle/>
          <a:p>
            <a:r>
              <a:rPr lang="en-US" sz="2800" b="1" dirty="0">
                <a:solidFill>
                  <a:schemeClr val="bg1"/>
                </a:solidFill>
                <a:cs typeface="B Lotus" pitchFamily="2" charset="-78"/>
              </a:rPr>
              <a:t>TreeSet </a:t>
            </a:r>
            <a:r>
              <a:rPr lang="fa-IR" sz="2800" b="1" dirty="0">
                <a:solidFill>
                  <a:schemeClr val="bg1"/>
                </a:solidFill>
                <a:cs typeface="B Lotus" pitchFamily="2" charset="-78"/>
              </a:rPr>
              <a:t>مثال</a:t>
            </a:r>
            <a:br>
              <a:rPr lang="en-US" sz="2800" dirty="0">
                <a:solidFill>
                  <a:schemeClr val="bg1"/>
                </a:solidFill>
                <a:cs typeface="B Lotus" pitchFamily="2" charset="-78"/>
              </a:rPr>
            </a:br>
            <a:endParaRPr lang="en-US" sz="2800" dirty="0">
              <a:solidFill>
                <a:schemeClr val="bg1"/>
              </a:solidFill>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26</a:t>
            </a:fld>
            <a:endParaRPr lang="en-US"/>
          </a:p>
        </p:txBody>
      </p:sp>
      <p:pic>
        <p:nvPicPr>
          <p:cNvPr id="1026" name="Picture 2"/>
          <p:cNvPicPr>
            <a:picLocks noChangeAspect="1" noChangeArrowheads="1"/>
          </p:cNvPicPr>
          <p:nvPr/>
        </p:nvPicPr>
        <p:blipFill>
          <a:blip r:embed="rId2"/>
          <a:srcRect/>
          <a:stretch>
            <a:fillRect/>
          </a:stretch>
        </p:blipFill>
        <p:spPr bwMode="auto">
          <a:xfrm>
            <a:off x="571472" y="1643050"/>
            <a:ext cx="7766050" cy="265004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71472" y="4572008"/>
            <a:ext cx="7785100" cy="495300"/>
          </a:xfrm>
          <a:prstGeom prst="rect">
            <a:avLst/>
          </a:prstGeom>
          <a:noFill/>
          <a:ln w="9525">
            <a:noFill/>
            <a:miter lim="800000"/>
            <a:headEnd/>
            <a:tailEnd/>
          </a:ln>
          <a:effec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17514"/>
            <a:ext cx="8229600" cy="368280"/>
          </a:xfrm>
        </p:spPr>
        <p:txBody>
          <a:bodyPr>
            <a:noAutofit/>
          </a:bodyPr>
          <a:lstStyle/>
          <a:p>
            <a:r>
              <a:rPr lang="en-US" sz="2800" b="1" dirty="0">
                <a:solidFill>
                  <a:schemeClr val="bg1"/>
                </a:solidFill>
                <a:cs typeface="B Lotus" pitchFamily="2" charset="-78"/>
              </a:rPr>
              <a:t>TreeSet </a:t>
            </a:r>
            <a:r>
              <a:rPr lang="fa-IR" sz="2800" b="1" dirty="0">
                <a:solidFill>
                  <a:schemeClr val="bg1"/>
                </a:solidFill>
                <a:cs typeface="B Lotus" pitchFamily="2" charset="-78"/>
              </a:rPr>
              <a:t>مثال</a:t>
            </a:r>
            <a:br>
              <a:rPr lang="en-US" sz="2800" dirty="0">
                <a:solidFill>
                  <a:schemeClr val="bg1"/>
                </a:solidFill>
                <a:cs typeface="B Lotus" pitchFamily="2" charset="-78"/>
              </a:rPr>
            </a:br>
            <a:endParaRPr lang="en-US" sz="2800" dirty="0">
              <a:solidFill>
                <a:schemeClr val="bg1"/>
              </a:solidFill>
              <a:cs typeface="B Lotus" pitchFamily="2" charset="-78"/>
            </a:endParaRPr>
          </a:p>
        </p:txBody>
      </p:sp>
      <p:sp>
        <p:nvSpPr>
          <p:cNvPr id="9" name="Content Placeholder 8"/>
          <p:cNvSpPr>
            <a:spLocks noGrp="1"/>
          </p:cNvSpPr>
          <p:nvPr>
            <p:ph idx="1"/>
          </p:nvPr>
        </p:nvSpPr>
        <p:spPr>
          <a:xfrm>
            <a:off x="500034" y="571480"/>
            <a:ext cx="8229600" cy="642942"/>
          </a:xfrm>
        </p:spPr>
        <p:txBody>
          <a:bodyPr>
            <a:normAutofit/>
          </a:bodyPr>
          <a:lstStyle/>
          <a:p>
            <a:pPr algn="r" rtl="1"/>
            <a:r>
              <a:rPr lang="fa-IR" sz="2400" dirty="0">
                <a:cs typeface="B Lotus" pitchFamily="2" charset="-78"/>
              </a:rPr>
              <a:t>یک کلاس </a:t>
            </a:r>
            <a:r>
              <a:rPr lang="en-US" sz="2400" dirty="0">
                <a:cs typeface="B Lotus" pitchFamily="2" charset="-78"/>
              </a:rPr>
              <a:t>Dog</a:t>
            </a:r>
            <a:r>
              <a:rPr lang="fa-IR" sz="2400" dirty="0">
                <a:cs typeface="B Lotus" pitchFamily="2" charset="-78"/>
              </a:rPr>
              <a:t> تعریف می‏کنیم:</a:t>
            </a:r>
            <a:endParaRPr lang="en-US" sz="2400" dirty="0">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27</a:t>
            </a:fld>
            <a:endParaRPr lang="en-US"/>
          </a:p>
        </p:txBody>
      </p:sp>
      <p:pic>
        <p:nvPicPr>
          <p:cNvPr id="2050" name="Picture 2"/>
          <p:cNvPicPr>
            <a:picLocks noChangeAspect="1" noChangeArrowheads="1"/>
          </p:cNvPicPr>
          <p:nvPr/>
        </p:nvPicPr>
        <p:blipFill>
          <a:blip r:embed="rId2"/>
          <a:srcRect/>
          <a:stretch>
            <a:fillRect/>
          </a:stretch>
        </p:blipFill>
        <p:spPr bwMode="auto">
          <a:xfrm>
            <a:off x="1228779" y="1255160"/>
            <a:ext cx="6985000" cy="19431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940759" y="3962154"/>
            <a:ext cx="7029450" cy="2901950"/>
          </a:xfrm>
          <a:prstGeom prst="rect">
            <a:avLst/>
          </a:prstGeom>
          <a:noFill/>
          <a:ln w="9525">
            <a:noFill/>
            <a:miter lim="800000"/>
            <a:headEnd/>
            <a:tailEnd/>
          </a:ln>
          <a:effectLst/>
        </p:spPr>
      </p:pic>
      <p:sp>
        <p:nvSpPr>
          <p:cNvPr id="10" name="Content Placeholder 8"/>
          <p:cNvSpPr txBox="1">
            <a:spLocks/>
          </p:cNvSpPr>
          <p:nvPr/>
        </p:nvSpPr>
        <p:spPr>
          <a:xfrm>
            <a:off x="340684" y="3198260"/>
            <a:ext cx="8229600" cy="642942"/>
          </a:xfrm>
          <a:prstGeom prst="rect">
            <a:avLst/>
          </a:prstGeom>
        </p:spPr>
        <p:txBody>
          <a:bodyPr vert="horz" lIns="91440" tIns="45720" rIns="91440" bIns="45720" rtlCol="0">
            <a:normAutofit/>
          </a:body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Char char="•"/>
              <a:tabLst/>
              <a:defRPr/>
            </a:pPr>
            <a:r>
              <a:rPr kumimoji="0" lang="fa-IR" sz="2400" b="0" i="0" u="none" strike="noStrike" kern="1200" cap="none" spc="0" normalizeH="0" baseline="0" noProof="0" dirty="0">
                <a:ln>
                  <a:noFill/>
                </a:ln>
                <a:solidFill>
                  <a:schemeClr val="tx1"/>
                </a:solidFill>
                <a:effectLst/>
                <a:uLnTx/>
                <a:uFillTx/>
                <a:latin typeface="+mn-lt"/>
                <a:ea typeface="+mn-ea"/>
                <a:cs typeface="B Lotus" pitchFamily="2" charset="-78"/>
              </a:rPr>
              <a:t>حال اشیایی از </a:t>
            </a:r>
            <a:r>
              <a:rPr kumimoji="0" lang="en-US" sz="2400" b="0" i="0" u="none" strike="noStrike" kern="1200" cap="none" spc="0" normalizeH="0" baseline="0" noProof="0" dirty="0">
                <a:ln>
                  <a:noFill/>
                </a:ln>
                <a:solidFill>
                  <a:schemeClr val="tx1"/>
                </a:solidFill>
                <a:effectLst/>
                <a:uLnTx/>
                <a:uFillTx/>
                <a:latin typeface="+mn-lt"/>
                <a:ea typeface="+mn-ea"/>
                <a:cs typeface="B Lotus" pitchFamily="2" charset="-78"/>
              </a:rPr>
              <a:t>Dog</a:t>
            </a:r>
            <a:r>
              <a:rPr kumimoji="0" lang="fa-IR" sz="2400" b="0" i="0" u="none" strike="noStrike" kern="1200" cap="none" spc="0" normalizeH="0" baseline="0" noProof="0" dirty="0">
                <a:ln>
                  <a:noFill/>
                </a:ln>
                <a:solidFill>
                  <a:schemeClr val="tx1"/>
                </a:solidFill>
                <a:effectLst/>
                <a:uLnTx/>
                <a:uFillTx/>
                <a:latin typeface="+mn-lt"/>
                <a:ea typeface="+mn-ea"/>
                <a:cs typeface="B Lotus" pitchFamily="2" charset="-78"/>
              </a:rPr>
              <a:t> را</a:t>
            </a:r>
            <a:r>
              <a:rPr kumimoji="0" lang="fa-IR" sz="2400" b="0" i="0" u="none" strike="noStrike" kern="1200" cap="none" spc="0" normalizeH="0" noProof="0" dirty="0">
                <a:ln>
                  <a:noFill/>
                </a:ln>
                <a:solidFill>
                  <a:schemeClr val="tx1"/>
                </a:solidFill>
                <a:effectLst/>
                <a:uLnTx/>
                <a:uFillTx/>
                <a:latin typeface="+mn-lt"/>
                <a:ea typeface="+mn-ea"/>
                <a:cs typeface="B Lotus" pitchFamily="2" charset="-78"/>
              </a:rPr>
              <a:t> به </a:t>
            </a:r>
            <a:r>
              <a:rPr kumimoji="0" lang="en-US" sz="2400" b="0" i="0" u="none" strike="noStrike" kern="1200" cap="none" spc="0" normalizeH="0" noProof="0" dirty="0">
                <a:ln>
                  <a:noFill/>
                </a:ln>
                <a:solidFill>
                  <a:schemeClr val="tx1"/>
                </a:solidFill>
                <a:effectLst/>
                <a:uLnTx/>
                <a:uFillTx/>
                <a:latin typeface="+mn-lt"/>
                <a:ea typeface="+mn-ea"/>
                <a:cs typeface="B Lotus" pitchFamily="2" charset="-78"/>
              </a:rPr>
              <a:t>TreeSet</a:t>
            </a:r>
            <a:r>
              <a:rPr kumimoji="0" lang="fa-IR" sz="2400" b="0" i="0" u="none" strike="noStrike" kern="1200" cap="none" spc="0" normalizeH="0" noProof="0" dirty="0">
                <a:ln>
                  <a:noFill/>
                </a:ln>
                <a:solidFill>
                  <a:schemeClr val="tx1"/>
                </a:solidFill>
                <a:effectLst/>
                <a:uLnTx/>
                <a:uFillTx/>
                <a:latin typeface="+mn-lt"/>
                <a:ea typeface="+mn-ea"/>
                <a:cs typeface="B Lotus" pitchFamily="2" charset="-78"/>
              </a:rPr>
              <a:t> اضافه می‏کنیم:</a:t>
            </a:r>
            <a:endParaRPr kumimoji="0" lang="en-US" sz="2400" b="0" i="0" u="none" strike="noStrike" kern="1200" cap="none" spc="0" normalizeH="0" baseline="0" noProof="0" dirty="0">
              <a:ln>
                <a:noFill/>
              </a:ln>
              <a:solidFill>
                <a:schemeClr val="tx1"/>
              </a:solidFill>
              <a:effectLst/>
              <a:uLnTx/>
              <a:uFillTx/>
              <a:latin typeface="+mn-lt"/>
              <a:ea typeface="+mn-ea"/>
              <a:cs typeface="B Lotus" pitchFamily="2" charset="-78"/>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17514"/>
            <a:ext cx="8229600" cy="368280"/>
          </a:xfrm>
        </p:spPr>
        <p:txBody>
          <a:bodyPr>
            <a:noAutofit/>
          </a:bodyPr>
          <a:lstStyle/>
          <a:p>
            <a:r>
              <a:rPr lang="en-US" sz="2800" b="1" dirty="0">
                <a:solidFill>
                  <a:schemeClr val="bg1"/>
                </a:solidFill>
                <a:cs typeface="B Lotus" pitchFamily="2" charset="-78"/>
              </a:rPr>
              <a:t>TreeSet </a:t>
            </a:r>
            <a:r>
              <a:rPr lang="fa-IR" sz="2800" b="1" dirty="0">
                <a:solidFill>
                  <a:schemeClr val="bg1"/>
                </a:solidFill>
                <a:cs typeface="B Lotus" pitchFamily="2" charset="-78"/>
              </a:rPr>
              <a:t>مثال</a:t>
            </a:r>
            <a:br>
              <a:rPr lang="en-US" sz="2800" dirty="0">
                <a:solidFill>
                  <a:schemeClr val="bg1"/>
                </a:solidFill>
                <a:cs typeface="B Lotus" pitchFamily="2" charset="-78"/>
              </a:rPr>
            </a:br>
            <a:endParaRPr lang="en-US" sz="2800" dirty="0">
              <a:solidFill>
                <a:schemeClr val="bg1"/>
              </a:solidFill>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28</a:t>
            </a:fld>
            <a:endParaRPr lang="en-US"/>
          </a:p>
        </p:txBody>
      </p:sp>
      <p:sp>
        <p:nvSpPr>
          <p:cNvPr id="11" name="Content Placeholder 8"/>
          <p:cNvSpPr txBox="1">
            <a:spLocks/>
          </p:cNvSpPr>
          <p:nvPr/>
        </p:nvSpPr>
        <p:spPr>
          <a:xfrm>
            <a:off x="500034" y="714356"/>
            <a:ext cx="8229600" cy="642942"/>
          </a:xfrm>
          <a:prstGeom prst="rect">
            <a:avLst/>
          </a:prstGeom>
        </p:spPr>
        <p:txBody>
          <a:bodyPr vert="horz" lIns="91440" tIns="45720" rIns="91440" bIns="45720" rtlCol="0">
            <a:normAutofit/>
          </a:body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Char char="•"/>
              <a:tabLst/>
              <a:defRPr/>
            </a:pPr>
            <a:r>
              <a:rPr kumimoji="0" lang="fa-IR" sz="2400" b="0" i="0" u="none" strike="noStrike" kern="1200" cap="none" spc="0" normalizeH="0" baseline="0" noProof="0" dirty="0">
                <a:ln>
                  <a:noFill/>
                </a:ln>
                <a:solidFill>
                  <a:schemeClr val="tx1"/>
                </a:solidFill>
                <a:effectLst/>
                <a:uLnTx/>
                <a:uFillTx/>
                <a:latin typeface="+mn-lt"/>
                <a:ea typeface="+mn-ea"/>
                <a:cs typeface="B Lotus" pitchFamily="2" charset="-78"/>
              </a:rPr>
              <a:t>کامپایل موفقیت‏آمیز است، اما با استثنای زیر روبرو می‏شویم؛ زیرا</a:t>
            </a:r>
            <a:endParaRPr kumimoji="0" lang="en-US" sz="2400" b="0" i="0" u="none" strike="noStrike" kern="1200" cap="none" spc="0" normalizeH="0" baseline="0" noProof="0" dirty="0">
              <a:ln>
                <a:noFill/>
              </a:ln>
              <a:solidFill>
                <a:schemeClr val="tx1"/>
              </a:solidFill>
              <a:effectLst/>
              <a:uLnTx/>
              <a:uFillTx/>
              <a:latin typeface="+mn-lt"/>
              <a:ea typeface="+mn-ea"/>
              <a:cs typeface="B Lotus" pitchFamily="2" charset="-78"/>
            </a:endParaRPr>
          </a:p>
        </p:txBody>
      </p:sp>
      <p:pic>
        <p:nvPicPr>
          <p:cNvPr id="2052" name="Picture 4"/>
          <p:cNvPicPr>
            <a:picLocks noChangeAspect="1" noChangeArrowheads="1"/>
          </p:cNvPicPr>
          <p:nvPr/>
        </p:nvPicPr>
        <p:blipFill>
          <a:blip r:embed="rId2"/>
          <a:srcRect/>
          <a:stretch>
            <a:fillRect/>
          </a:stretch>
        </p:blipFill>
        <p:spPr bwMode="auto">
          <a:xfrm>
            <a:off x="500034" y="1142984"/>
            <a:ext cx="8501090" cy="124460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571472" y="3214686"/>
            <a:ext cx="7772400" cy="2928958"/>
          </a:xfrm>
          <a:prstGeom prst="rect">
            <a:avLst/>
          </a:prstGeom>
          <a:noFill/>
          <a:ln w="9525">
            <a:noFill/>
            <a:miter lim="800000"/>
            <a:headEnd/>
            <a:tailEnd/>
          </a:ln>
          <a:effectLst/>
        </p:spPr>
      </p:pic>
      <p:sp>
        <p:nvSpPr>
          <p:cNvPr id="13" name="Content Placeholder 8"/>
          <p:cNvSpPr txBox="1">
            <a:spLocks/>
          </p:cNvSpPr>
          <p:nvPr/>
        </p:nvSpPr>
        <p:spPr>
          <a:xfrm>
            <a:off x="827584" y="2500306"/>
            <a:ext cx="8105982" cy="714380"/>
          </a:xfrm>
          <a:prstGeom prst="rect">
            <a:avLst/>
          </a:prstGeom>
        </p:spPr>
        <p:txBody>
          <a:bodyPr vert="horz" lIns="91440" tIns="45720" rIns="91440" bIns="45720" rtlCol="0">
            <a:normAutofit fontScale="70000" lnSpcReduction="20000"/>
          </a:bodyPr>
          <a:lstStyle/>
          <a:p>
            <a:pPr marL="342900" lvl="0" indent="-342900" algn="just" rtl="1">
              <a:lnSpc>
                <a:spcPct val="120000"/>
              </a:lnSpc>
              <a:spcBef>
                <a:spcPct val="20000"/>
              </a:spcBef>
              <a:buFont typeface="Arial" pitchFamily="34" charset="0"/>
              <a:buChar char="•"/>
            </a:pPr>
            <a:r>
              <a:rPr lang="fa-IR" sz="2400" dirty="0">
                <a:cs typeface="B Lotus" pitchFamily="2" charset="-78"/>
              </a:rPr>
              <a:t>چون </a:t>
            </a:r>
            <a:r>
              <a:rPr lang="en-US" sz="2400" dirty="0" err="1">
                <a:cs typeface="B Lotus" pitchFamily="2" charset="-78"/>
              </a:rPr>
              <a:t>TreeSet</a:t>
            </a:r>
            <a:r>
              <a:rPr lang="en-US" sz="2400" dirty="0">
                <a:cs typeface="B Lotus" pitchFamily="2" charset="-78"/>
              </a:rPr>
              <a:t> </a:t>
            </a:r>
            <a:r>
              <a:rPr lang="fa-IR" sz="2400" dirty="0">
                <a:cs typeface="B Lotus" pitchFamily="2" charset="-78"/>
              </a:rPr>
              <a:t> مرتب‏سازی شده است، شیئ </a:t>
            </a:r>
            <a:r>
              <a:rPr lang="en-US" sz="2400" dirty="0">
                <a:cs typeface="B Lotus" pitchFamily="2" charset="-78"/>
              </a:rPr>
              <a:t>Dog</a:t>
            </a:r>
            <a:r>
              <a:rPr lang="fa-IR" sz="2400" dirty="0">
                <a:cs typeface="B Lotus" pitchFamily="2" charset="-78"/>
              </a:rPr>
              <a:t> باید متد </a:t>
            </a:r>
            <a:r>
              <a:rPr lang="en-US" sz="2600" dirty="0" err="1">
                <a:cs typeface="B Lotus" pitchFamily="2" charset="-78"/>
              </a:rPr>
              <a:t>compareTo</a:t>
            </a:r>
            <a:r>
              <a:rPr lang="en-US" sz="2600" dirty="0">
                <a:cs typeface="B Lotus" pitchFamily="2" charset="-78"/>
              </a:rPr>
              <a:t>()</a:t>
            </a:r>
            <a:r>
              <a:rPr lang="fa-IR" sz="2800" dirty="0">
                <a:cs typeface="B Lotus" pitchFamily="2" charset="-78"/>
              </a:rPr>
              <a:t> </a:t>
            </a:r>
            <a:r>
              <a:rPr lang="fa-IR" sz="2400" dirty="0">
                <a:cs typeface="B Lotus" pitchFamily="2" charset="-78"/>
              </a:rPr>
              <a:t>در </a:t>
            </a:r>
            <a:r>
              <a:rPr lang="en-US" sz="2400" dirty="0">
                <a:cs typeface="B Lotus" pitchFamily="2" charset="-78"/>
              </a:rPr>
              <a:t>  </a:t>
            </a:r>
            <a:r>
              <a:rPr lang="en-US" sz="2600" dirty="0">
                <a:cs typeface="B Lotus" pitchFamily="2" charset="-78"/>
              </a:rPr>
              <a:t> </a:t>
            </a:r>
            <a:r>
              <a:rPr lang="en-US" sz="2600" dirty="0" err="1">
                <a:cs typeface="B Lotus" pitchFamily="2" charset="-78"/>
              </a:rPr>
              <a:t>j</a:t>
            </a:r>
            <a:r>
              <a:rPr lang="en-US" sz="2300" dirty="0" err="1">
                <a:cs typeface="B Lotus" pitchFamily="2" charset="-78"/>
              </a:rPr>
              <a:t>ava.lang.Comparable</a:t>
            </a:r>
            <a:r>
              <a:rPr lang="fa-IR" sz="2300" dirty="0">
                <a:cs typeface="B Lotus" pitchFamily="2" charset="-78"/>
              </a:rPr>
              <a:t> </a:t>
            </a:r>
            <a:r>
              <a:rPr lang="en-US" sz="2300" dirty="0">
                <a:cs typeface="B Lotus" pitchFamily="2" charset="-78"/>
              </a:rPr>
              <a:t> </a:t>
            </a:r>
            <a:r>
              <a:rPr lang="fa-IR" sz="2300" dirty="0">
                <a:cs typeface="B Lotus" pitchFamily="2" charset="-78"/>
              </a:rPr>
              <a:t> </a:t>
            </a:r>
            <a:r>
              <a:rPr lang="fa-IR" sz="2400" dirty="0">
                <a:cs typeface="B Lotus" pitchFamily="2" charset="-78"/>
              </a:rPr>
              <a:t>را مشابه زیر پیاده‏سازی کند:</a:t>
            </a:r>
          </a:p>
        </p:txBody>
      </p:sp>
      <p:pic>
        <p:nvPicPr>
          <p:cNvPr id="3075" name="Picture 3"/>
          <p:cNvPicPr>
            <a:picLocks noChangeAspect="1" noChangeArrowheads="1"/>
          </p:cNvPicPr>
          <p:nvPr/>
        </p:nvPicPr>
        <p:blipFill>
          <a:blip r:embed="rId4"/>
          <a:srcRect/>
          <a:stretch>
            <a:fillRect/>
          </a:stretch>
        </p:blipFill>
        <p:spPr bwMode="auto">
          <a:xfrm>
            <a:off x="642910" y="6215082"/>
            <a:ext cx="7759700" cy="51435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blinds(horizont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5"/>
                                        </p:tgtEl>
                                        <p:attrNameLst>
                                          <p:attrName>style.visibility</p:attrName>
                                        </p:attrNameLst>
                                      </p:cBhvr>
                                      <p:to>
                                        <p:strVal val="visible"/>
                                      </p:to>
                                    </p:set>
                                    <p:animEffect transition="in" filter="blinds(horizontal)">
                                      <p:cBhvr>
                                        <p:cTn id="1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8952"/>
            <a:ext cx="8229600" cy="368280"/>
          </a:xfrm>
        </p:spPr>
        <p:txBody>
          <a:bodyPr>
            <a:noAutofit/>
          </a:bodyPr>
          <a:lstStyle/>
          <a:p>
            <a:r>
              <a:rPr lang="en-US" sz="3200" b="1" dirty="0">
                <a:solidFill>
                  <a:schemeClr val="bg1"/>
                </a:solidFill>
                <a:cs typeface="B Lotus" pitchFamily="2" charset="-78"/>
              </a:rPr>
              <a:t>HashSet</a:t>
            </a:r>
            <a:r>
              <a:rPr lang="fa-IR" sz="3200" b="1" dirty="0">
                <a:solidFill>
                  <a:schemeClr val="bg1"/>
                </a:solidFill>
                <a:cs typeface="B Lotus" pitchFamily="2" charset="-78"/>
              </a:rPr>
              <a:t> همان مثال روی </a:t>
            </a:r>
            <a:br>
              <a:rPr lang="en-US" sz="3200" dirty="0">
                <a:solidFill>
                  <a:schemeClr val="bg1"/>
                </a:solidFill>
                <a:cs typeface="B Lotus" pitchFamily="2" charset="-78"/>
              </a:rPr>
            </a:br>
            <a:endParaRPr lang="en-US" sz="3200" dirty="0"/>
          </a:p>
        </p:txBody>
      </p:sp>
      <p:sp>
        <p:nvSpPr>
          <p:cNvPr id="3" name="Content Placeholder 2"/>
          <p:cNvSpPr>
            <a:spLocks noGrp="1"/>
          </p:cNvSpPr>
          <p:nvPr>
            <p:ph idx="1"/>
          </p:nvPr>
        </p:nvSpPr>
        <p:spPr>
          <a:xfrm>
            <a:off x="457200" y="4071943"/>
            <a:ext cx="8229600" cy="1214446"/>
          </a:xfrm>
        </p:spPr>
        <p:txBody>
          <a:bodyPr/>
          <a:lstStyle/>
          <a:p>
            <a:pPr algn="r" rtl="1"/>
            <a:r>
              <a:rPr lang="fa-IR" dirty="0">
                <a:cs typeface="B Lotus" pitchFamily="2" charset="-78"/>
              </a:rPr>
              <a:t>ترتیب ورود عناصر حفظ نمی‏شود!</a:t>
            </a:r>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29</a:t>
            </a:fld>
            <a:endParaRPr lang="en-US"/>
          </a:p>
        </p:txBody>
      </p:sp>
      <p:pic>
        <p:nvPicPr>
          <p:cNvPr id="4098" name="Picture 2"/>
          <p:cNvPicPr>
            <a:picLocks noChangeAspect="1" noChangeArrowheads="1"/>
          </p:cNvPicPr>
          <p:nvPr/>
        </p:nvPicPr>
        <p:blipFill>
          <a:blip r:embed="rId2"/>
          <a:srcRect/>
          <a:stretch>
            <a:fillRect/>
          </a:stretch>
        </p:blipFill>
        <p:spPr bwMode="auto">
          <a:xfrm>
            <a:off x="642910" y="928670"/>
            <a:ext cx="7778750" cy="20002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92150" y="3175000"/>
            <a:ext cx="7759700" cy="508000"/>
          </a:xfrm>
          <a:prstGeom prst="rect">
            <a:avLst/>
          </a:prstGeom>
          <a:noFill/>
          <a:ln w="9525">
            <a:noFill/>
            <a:miter lim="800000"/>
            <a:headEnd/>
            <a:tailEnd/>
          </a:ln>
          <a:effec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8952"/>
            <a:ext cx="8229600" cy="368280"/>
          </a:xfrm>
        </p:spPr>
        <p:txBody>
          <a:bodyPr>
            <a:noAutofit/>
          </a:bodyPr>
          <a:lstStyle/>
          <a:p>
            <a:r>
              <a:rPr lang="en-US" sz="3200" b="1" dirty="0">
                <a:solidFill>
                  <a:schemeClr val="bg1"/>
                </a:solidFill>
                <a:cs typeface="B Lotus" pitchFamily="2" charset="-78"/>
              </a:rPr>
              <a:t>LinkedHashSet </a:t>
            </a:r>
            <a:r>
              <a:rPr lang="fa-IR" sz="3200" b="1" dirty="0">
                <a:solidFill>
                  <a:schemeClr val="bg1"/>
                </a:solidFill>
                <a:cs typeface="B Lotus" pitchFamily="2" charset="-78"/>
              </a:rPr>
              <a:t>همان مثال روی </a:t>
            </a:r>
            <a:br>
              <a:rPr lang="en-US" sz="3200" dirty="0">
                <a:solidFill>
                  <a:schemeClr val="bg1"/>
                </a:solidFill>
                <a:cs typeface="B Lotus" pitchFamily="2" charset="-78"/>
              </a:rPr>
            </a:br>
            <a:endParaRPr lang="en-US" sz="3200" dirty="0"/>
          </a:p>
        </p:txBody>
      </p:sp>
      <p:sp>
        <p:nvSpPr>
          <p:cNvPr id="3" name="Content Placeholder 2"/>
          <p:cNvSpPr>
            <a:spLocks noGrp="1"/>
          </p:cNvSpPr>
          <p:nvPr>
            <p:ph idx="1"/>
          </p:nvPr>
        </p:nvSpPr>
        <p:spPr>
          <a:xfrm>
            <a:off x="428596" y="3286124"/>
            <a:ext cx="8229600" cy="1214446"/>
          </a:xfrm>
        </p:spPr>
        <p:txBody>
          <a:bodyPr/>
          <a:lstStyle/>
          <a:p>
            <a:pPr algn="r" rtl="1"/>
            <a:r>
              <a:rPr lang="fa-IR" dirty="0">
                <a:cs typeface="B Lotus" pitchFamily="2" charset="-78"/>
              </a:rPr>
              <a:t>ترتیب ورود عناصر حفظ می‏شود!</a:t>
            </a:r>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30</a:t>
            </a:fld>
            <a:endParaRPr lang="en-US"/>
          </a:p>
        </p:txBody>
      </p:sp>
      <p:pic>
        <p:nvPicPr>
          <p:cNvPr id="5122" name="Picture 2"/>
          <p:cNvPicPr>
            <a:picLocks noChangeAspect="1" noChangeArrowheads="1"/>
          </p:cNvPicPr>
          <p:nvPr/>
        </p:nvPicPr>
        <p:blipFill>
          <a:blip r:embed="rId2"/>
          <a:srcRect/>
          <a:stretch>
            <a:fillRect/>
          </a:stretch>
        </p:blipFill>
        <p:spPr bwMode="auto">
          <a:xfrm>
            <a:off x="714348" y="1000108"/>
            <a:ext cx="7759700" cy="20066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642910" y="4857760"/>
            <a:ext cx="7759700" cy="514350"/>
          </a:xfrm>
          <a:prstGeom prst="rect">
            <a:avLst/>
          </a:prstGeom>
          <a:noFill/>
          <a:ln w="9525">
            <a:noFill/>
            <a:miter lim="800000"/>
            <a:headEnd/>
            <a:tailEnd/>
          </a:ln>
          <a:effec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439718"/>
          </a:xfrm>
        </p:spPr>
        <p:txBody>
          <a:bodyPr>
            <a:normAutofit fontScale="90000"/>
          </a:bodyPr>
          <a:lstStyle/>
          <a:p>
            <a:pPr rtl="1"/>
            <a:r>
              <a:rPr lang="fa-IR" sz="3200" dirty="0">
                <a:solidFill>
                  <a:schemeClr val="bg1"/>
                </a:solidFill>
                <a:cs typeface="B Lotus" pitchFamily="2" charset="-78"/>
              </a:rPr>
              <a:t>متد </a:t>
            </a:r>
            <a:r>
              <a:rPr lang="en-US" sz="3200" dirty="0">
                <a:solidFill>
                  <a:schemeClr val="bg1"/>
                </a:solidFill>
                <a:cs typeface="B Lotus" pitchFamily="2" charset="-78"/>
              </a:rPr>
              <a:t>compareTo()</a:t>
            </a:r>
            <a:r>
              <a:rPr lang="fa-IR" sz="3200" dirty="0">
                <a:solidFill>
                  <a:schemeClr val="bg1"/>
                </a:solidFill>
                <a:cs typeface="B Lotus" pitchFamily="2" charset="-78"/>
              </a:rPr>
              <a:t> در کلاس </a:t>
            </a:r>
            <a:r>
              <a:rPr lang="en-US" sz="3200" dirty="0">
                <a:solidFill>
                  <a:schemeClr val="bg1"/>
                </a:solidFill>
                <a:cs typeface="B Lotus" pitchFamily="2" charset="-78"/>
              </a:rPr>
              <a:t>Object</a:t>
            </a:r>
          </a:p>
        </p:txBody>
      </p:sp>
      <p:sp>
        <p:nvSpPr>
          <p:cNvPr id="3" name="Content Placeholder 2"/>
          <p:cNvSpPr>
            <a:spLocks noGrp="1"/>
          </p:cNvSpPr>
          <p:nvPr>
            <p:ph idx="1"/>
          </p:nvPr>
        </p:nvSpPr>
        <p:spPr>
          <a:xfrm>
            <a:off x="428596" y="688987"/>
            <a:ext cx="8229600" cy="4525963"/>
          </a:xfrm>
        </p:spPr>
        <p:txBody>
          <a:bodyPr>
            <a:normAutofit/>
          </a:bodyPr>
          <a:lstStyle/>
          <a:p>
            <a:pPr algn="just" rtl="1"/>
            <a:r>
              <a:rPr lang="fa-IR" sz="1800" dirty="0">
                <a:cs typeface="B Lotus" pitchFamily="2" charset="-78"/>
              </a:rPr>
              <a:t>این متد یک شیئ </a:t>
            </a:r>
            <a:r>
              <a:rPr lang="en-US" sz="1800" dirty="0">
                <a:cs typeface="B Lotus" pitchFamily="2" charset="-78"/>
              </a:rPr>
              <a:t>Numebr</a:t>
            </a:r>
            <a:r>
              <a:rPr lang="fa-IR" sz="1800" dirty="0">
                <a:cs typeface="B Lotus" pitchFamily="2" charset="-78"/>
              </a:rPr>
              <a:t> را که فراخواننده متد است با آرگومانش که همنوع خودش است، مقایسه می‏کند.</a:t>
            </a:r>
          </a:p>
          <a:p>
            <a:pPr algn="just" rtl="1"/>
            <a:r>
              <a:rPr lang="fa-IR" sz="1800" dirty="0">
                <a:cs typeface="B Lotus" pitchFamily="2" charset="-78"/>
              </a:rPr>
              <a:t>به این روش می‏توان </a:t>
            </a:r>
            <a:r>
              <a:rPr lang="en-US" sz="1800" dirty="0">
                <a:cs typeface="B Lotus" pitchFamily="2" charset="-78"/>
              </a:rPr>
              <a:t>Byte</a:t>
            </a:r>
            <a:r>
              <a:rPr lang="fa-IR" sz="1800" dirty="0">
                <a:cs typeface="B Lotus" pitchFamily="2" charset="-78"/>
              </a:rPr>
              <a:t>، </a:t>
            </a:r>
            <a:r>
              <a:rPr lang="en-US" sz="1800" dirty="0">
                <a:cs typeface="B Lotus" pitchFamily="2" charset="-78"/>
              </a:rPr>
              <a:t>Long</a:t>
            </a:r>
            <a:r>
              <a:rPr lang="fa-IR" sz="1800" dirty="0">
                <a:cs typeface="B Lotus" pitchFamily="2" charset="-78"/>
              </a:rPr>
              <a:t>،</a:t>
            </a:r>
            <a:r>
              <a:rPr lang="en-US" sz="1800" dirty="0">
                <a:cs typeface="B Lotus" pitchFamily="2" charset="-78"/>
              </a:rPr>
              <a:t> Integer</a:t>
            </a:r>
            <a:r>
              <a:rPr lang="fa-IR" sz="1800" dirty="0">
                <a:cs typeface="B Lotus" pitchFamily="2" charset="-78"/>
              </a:rPr>
              <a:t>و غیره را مقایسه نمود. </a:t>
            </a:r>
          </a:p>
          <a:p>
            <a:pPr algn="just" rtl="1"/>
            <a:r>
              <a:rPr lang="fa-IR" sz="1800" dirty="0">
                <a:cs typeface="B Lotus" pitchFamily="2" charset="-78"/>
              </a:rPr>
              <a:t>اگر شیئ فراخواننده از جنس آرگومان متد نباشد، امکان مقایسه وجود ندارد. </a:t>
            </a:r>
          </a:p>
          <a:p>
            <a:pPr algn="just" rtl="1"/>
            <a:r>
              <a:rPr lang="fa-IR" sz="1800" dirty="0">
                <a:cs typeface="B Lotus" pitchFamily="2" charset="-78"/>
              </a:rPr>
              <a:t>قاعده نحوی:</a:t>
            </a:r>
          </a:p>
          <a:p>
            <a:pPr algn="just" rtl="1"/>
            <a:endParaRPr lang="fa-IR" sz="2000" dirty="0">
              <a:cs typeface="B Lotus" pitchFamily="2" charset="-78"/>
            </a:endParaRPr>
          </a:p>
          <a:p>
            <a:pPr algn="just" rtl="1"/>
            <a:r>
              <a:rPr lang="fa-IR" sz="2000" dirty="0">
                <a:cs typeface="B Lotus" pitchFamily="2" charset="-78"/>
              </a:rPr>
              <a:t>مقادیر برگشتی متد:</a:t>
            </a:r>
          </a:p>
          <a:p>
            <a:r>
              <a:rPr lang="en-US" sz="1800" dirty="0"/>
              <a:t>If the Integer is equal to the argument then 0 is returned.</a:t>
            </a:r>
          </a:p>
          <a:p>
            <a:r>
              <a:rPr lang="en-US" sz="1800" dirty="0"/>
              <a:t>If the Integer is less than the argument then -1 is returned.</a:t>
            </a:r>
          </a:p>
          <a:p>
            <a:r>
              <a:rPr lang="en-US" sz="1800" dirty="0"/>
              <a:t>If the Integer is greater than the argument then 1 is returned.</a:t>
            </a:r>
          </a:p>
          <a:p>
            <a:pPr algn="just" rtl="1"/>
            <a:endParaRPr lang="en-US" sz="2000" dirty="0">
              <a:cs typeface="B Lotus" pitchFamily="2" charset="-78"/>
            </a:endParaRPr>
          </a:p>
          <a:p>
            <a:endParaRPr lang="en-US" dirty="0"/>
          </a:p>
        </p:txBody>
      </p:sp>
      <p:sp>
        <p:nvSpPr>
          <p:cNvPr id="4" name="Slide Number Placeholder 3"/>
          <p:cNvSpPr>
            <a:spLocks noGrp="1"/>
          </p:cNvSpPr>
          <p:nvPr>
            <p:ph type="sldNum" sz="quarter" idx="12"/>
          </p:nvPr>
        </p:nvSpPr>
        <p:spPr/>
        <p:txBody>
          <a:bodyPr/>
          <a:lstStyle/>
          <a:p>
            <a:fld id="{79E6E8FA-B1EB-4DD1-845A-B9015C921A1C}" type="slidenum">
              <a:rPr lang="en-US" smtClean="0"/>
              <a:pPr/>
              <a:t>31</a:t>
            </a:fld>
            <a:endParaRPr lang="en-US"/>
          </a:p>
        </p:txBody>
      </p:sp>
      <p:pic>
        <p:nvPicPr>
          <p:cNvPr id="1026" name="Picture 2"/>
          <p:cNvPicPr>
            <a:picLocks noChangeAspect="1" noChangeArrowheads="1"/>
          </p:cNvPicPr>
          <p:nvPr/>
        </p:nvPicPr>
        <p:blipFill>
          <a:blip r:embed="rId2"/>
          <a:srcRect/>
          <a:stretch>
            <a:fillRect/>
          </a:stretch>
        </p:blipFill>
        <p:spPr bwMode="auto">
          <a:xfrm>
            <a:off x="357158" y="1928802"/>
            <a:ext cx="8270901" cy="508002"/>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642910" y="3857628"/>
            <a:ext cx="7034230" cy="18732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8001024" y="4357694"/>
            <a:ext cx="514350" cy="1171575"/>
          </a:xfrm>
          <a:prstGeom prst="rect">
            <a:avLst/>
          </a:prstGeom>
          <a:noFill/>
          <a:ln w="9525">
            <a:noFill/>
            <a:miter lim="800000"/>
            <a:headEnd/>
            <a:tailEnd/>
          </a:ln>
          <a:effec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17514"/>
            <a:ext cx="8229600" cy="368280"/>
          </a:xfrm>
        </p:spPr>
        <p:txBody>
          <a:bodyPr>
            <a:noAutofit/>
          </a:bodyPr>
          <a:lstStyle/>
          <a:p>
            <a:r>
              <a:rPr lang="en-US" sz="2800" b="1" dirty="0">
                <a:solidFill>
                  <a:schemeClr val="bg1"/>
                </a:solidFill>
                <a:cs typeface="B Lotus" pitchFamily="2" charset="-78"/>
              </a:rPr>
              <a:t>HashSet </a:t>
            </a:r>
            <a:r>
              <a:rPr lang="fa-IR" sz="2800" b="1" dirty="0">
                <a:solidFill>
                  <a:schemeClr val="bg1"/>
                </a:solidFill>
                <a:cs typeface="B Lotus" pitchFamily="2" charset="-78"/>
              </a:rPr>
              <a:t>با</a:t>
            </a:r>
            <a:r>
              <a:rPr lang="en-US" sz="2800" b="1" dirty="0">
                <a:solidFill>
                  <a:schemeClr val="bg1"/>
                </a:solidFill>
                <a:cs typeface="B Lotus" pitchFamily="2" charset="-78"/>
              </a:rPr>
              <a:t> TreeSet </a:t>
            </a:r>
            <a:r>
              <a:rPr lang="fa-IR" sz="2800" b="1" dirty="0">
                <a:solidFill>
                  <a:schemeClr val="bg1"/>
                </a:solidFill>
                <a:cs typeface="B Lotus" pitchFamily="2" charset="-78"/>
              </a:rPr>
              <a:t>با</a:t>
            </a:r>
            <a:r>
              <a:rPr lang="en-US" sz="2800" b="1" dirty="0">
                <a:solidFill>
                  <a:schemeClr val="bg1"/>
                </a:solidFill>
                <a:cs typeface="B Lotus" pitchFamily="2" charset="-78"/>
              </a:rPr>
              <a:t> LinkedHashSet</a:t>
            </a:r>
            <a:r>
              <a:rPr lang="fa-IR" sz="2800" b="1" dirty="0">
                <a:solidFill>
                  <a:schemeClr val="bg1"/>
                </a:solidFill>
                <a:cs typeface="B Lotus" pitchFamily="2" charset="-78"/>
              </a:rPr>
              <a:t>مقایسه </a:t>
            </a:r>
            <a:br>
              <a:rPr lang="en-US" sz="2800" dirty="0">
                <a:solidFill>
                  <a:schemeClr val="bg1"/>
                </a:solidFill>
                <a:cs typeface="B Lotus" pitchFamily="2" charset="-78"/>
              </a:rPr>
            </a:br>
            <a:endParaRPr lang="en-US" sz="2800" dirty="0">
              <a:solidFill>
                <a:schemeClr val="bg1"/>
              </a:solidFill>
              <a:cs typeface="B Lotus" pitchFamily="2" charset="-78"/>
            </a:endParaRPr>
          </a:p>
        </p:txBody>
      </p:sp>
      <p:sp>
        <p:nvSpPr>
          <p:cNvPr id="9" name="Content Placeholder 8"/>
          <p:cNvSpPr>
            <a:spLocks noGrp="1"/>
          </p:cNvSpPr>
          <p:nvPr>
            <p:ph idx="1"/>
          </p:nvPr>
        </p:nvSpPr>
        <p:spPr>
          <a:xfrm>
            <a:off x="500034" y="928670"/>
            <a:ext cx="8229600" cy="5564229"/>
          </a:xfrm>
        </p:spPr>
        <p:txBody>
          <a:bodyPr>
            <a:normAutofit fontScale="85000" lnSpcReduction="20000"/>
          </a:bodyPr>
          <a:lstStyle/>
          <a:p>
            <a:pPr algn="r" rtl="1"/>
            <a:r>
              <a:rPr lang="en-US" sz="2000" dirty="0"/>
              <a:t> </a:t>
            </a:r>
            <a:r>
              <a:rPr lang="en-US" sz="2300" dirty="0"/>
              <a:t>HashSet </a:t>
            </a:r>
            <a:r>
              <a:rPr lang="fa-IR" sz="3100" dirty="0">
                <a:cs typeface="B Lotus" pitchFamily="2" charset="-78"/>
              </a:rPr>
              <a:t>با استفاده از یک جدول هش پیاده‏سازی می‏شود. </a:t>
            </a:r>
          </a:p>
          <a:p>
            <a:pPr lvl="1" algn="r" rtl="1"/>
            <a:r>
              <a:rPr lang="fa-IR" sz="2700" dirty="0">
                <a:cs typeface="B Lotus" pitchFamily="2" charset="-78"/>
              </a:rPr>
              <a:t>عناصر ترتیب خاصی ندارند.</a:t>
            </a:r>
          </a:p>
          <a:p>
            <a:pPr lvl="1" algn="r" rtl="1"/>
            <a:r>
              <a:rPr lang="fa-IR" sz="2700" dirty="0">
                <a:cs typeface="B Lotus" pitchFamily="2" charset="-78"/>
              </a:rPr>
              <a:t>عملیات </a:t>
            </a:r>
            <a:r>
              <a:rPr lang="en-US" sz="2700" dirty="0">
                <a:cs typeface="B Lotus" pitchFamily="2" charset="-78"/>
              </a:rPr>
              <a:t>add</a:t>
            </a:r>
            <a:r>
              <a:rPr lang="fa-IR" sz="2700" dirty="0">
                <a:cs typeface="B Lotus" pitchFamily="2" charset="-78"/>
              </a:rPr>
              <a:t>، </a:t>
            </a:r>
            <a:r>
              <a:rPr lang="en-US" sz="2700" dirty="0">
                <a:cs typeface="B Lotus" pitchFamily="2" charset="-78"/>
              </a:rPr>
              <a:t>remove</a:t>
            </a:r>
            <a:r>
              <a:rPr lang="fa-IR" sz="2700" dirty="0">
                <a:cs typeface="B Lotus" pitchFamily="2" charset="-78"/>
              </a:rPr>
              <a:t>، و </a:t>
            </a:r>
            <a:r>
              <a:rPr lang="en-US" sz="2700" dirty="0">
                <a:cs typeface="B Lotus" pitchFamily="2" charset="-78"/>
              </a:rPr>
              <a:t>contains</a:t>
            </a:r>
            <a:r>
              <a:rPr lang="fa-IR" sz="2700" dirty="0">
                <a:cs typeface="B Lotus" pitchFamily="2" charset="-78"/>
              </a:rPr>
              <a:t> دارای پیچیدگی زمانی </a:t>
            </a:r>
            <a:r>
              <a:rPr lang="en-US" sz="2700" dirty="0">
                <a:cs typeface="B Lotus" pitchFamily="2" charset="-78"/>
              </a:rPr>
              <a:t>O(1)</a:t>
            </a:r>
            <a:r>
              <a:rPr lang="fa-IR" sz="2700" dirty="0">
                <a:cs typeface="B Lotus" pitchFamily="2" charset="-78"/>
              </a:rPr>
              <a:t> می‏باشد.</a:t>
            </a:r>
          </a:p>
          <a:p>
            <a:pPr lvl="1" algn="r" rtl="1">
              <a:buNone/>
            </a:pPr>
            <a:endParaRPr lang="fa-IR" sz="2700" dirty="0">
              <a:cs typeface="B Lotus" pitchFamily="2" charset="-78"/>
            </a:endParaRPr>
          </a:p>
          <a:p>
            <a:pPr algn="r" rtl="1"/>
            <a:r>
              <a:rPr lang="en-US" sz="2400" dirty="0"/>
              <a:t> </a:t>
            </a:r>
            <a:r>
              <a:rPr lang="en-US" sz="2400" dirty="0" err="1"/>
              <a:t>TreeSet</a:t>
            </a:r>
            <a:r>
              <a:rPr lang="fa-IR" sz="3100" dirty="0">
                <a:cs typeface="B Lotus" pitchFamily="2" charset="-78"/>
              </a:rPr>
              <a:t>با استفاده از ساختار درختی پیاده‏سازی می‏شود.</a:t>
            </a:r>
          </a:p>
          <a:p>
            <a:pPr marL="742950" lvl="2" indent="-342900" algn="r" rtl="1"/>
            <a:r>
              <a:rPr lang="fa-IR" sz="2300" dirty="0">
                <a:cs typeface="B Lotus" pitchFamily="2" charset="-78"/>
              </a:rPr>
              <a:t>عملیات </a:t>
            </a:r>
            <a:r>
              <a:rPr lang="en-US" sz="2300" dirty="0">
                <a:cs typeface="B Lotus" pitchFamily="2" charset="-78"/>
              </a:rPr>
              <a:t>add</a:t>
            </a:r>
            <a:r>
              <a:rPr lang="fa-IR" sz="2300" dirty="0">
                <a:cs typeface="B Lotus" pitchFamily="2" charset="-78"/>
              </a:rPr>
              <a:t>، </a:t>
            </a:r>
            <a:r>
              <a:rPr lang="en-US" sz="2300" dirty="0">
                <a:cs typeface="B Lotus" pitchFamily="2" charset="-78"/>
              </a:rPr>
              <a:t>remove</a:t>
            </a:r>
            <a:r>
              <a:rPr lang="fa-IR" sz="2300" dirty="0">
                <a:cs typeface="B Lotus" pitchFamily="2" charset="-78"/>
              </a:rPr>
              <a:t>، و </a:t>
            </a:r>
            <a:r>
              <a:rPr lang="en-US" sz="2300" dirty="0">
                <a:cs typeface="B Lotus" pitchFamily="2" charset="-78"/>
              </a:rPr>
              <a:t>contains </a:t>
            </a:r>
            <a:r>
              <a:rPr lang="fa-IR" sz="2300" dirty="0">
                <a:cs typeface="B Lotus" pitchFamily="2" charset="-78"/>
              </a:rPr>
              <a:t> دارای پیچیدگی زمانی </a:t>
            </a:r>
            <a:r>
              <a:rPr lang="en-US" sz="2000" dirty="0"/>
              <a:t>O(log (n))</a:t>
            </a:r>
            <a:r>
              <a:rPr lang="fa-IR" sz="2000" dirty="0"/>
              <a:t> </a:t>
            </a:r>
            <a:r>
              <a:rPr lang="fa-IR" sz="2300" dirty="0">
                <a:cs typeface="B Lotus" pitchFamily="2" charset="-78"/>
              </a:rPr>
              <a:t>می‏باشد.</a:t>
            </a:r>
          </a:p>
          <a:p>
            <a:pPr marL="742950" lvl="2" indent="-342900" algn="r" rtl="1"/>
            <a:r>
              <a:rPr lang="fa-IR" sz="2300" dirty="0">
                <a:cs typeface="B Lotus" pitchFamily="2" charset="-78"/>
              </a:rPr>
              <a:t>دارای متدهایی جهت کار روی مجموعه مرتب‏شده است؛ مانند </a:t>
            </a:r>
            <a:r>
              <a:rPr lang="en-US" sz="1800" dirty="0"/>
              <a:t>first()</a:t>
            </a:r>
            <a:r>
              <a:rPr lang="fa-IR" sz="3100" dirty="0">
                <a:cs typeface="B Lotus" pitchFamily="2" charset="-78"/>
              </a:rPr>
              <a:t>، </a:t>
            </a:r>
            <a:r>
              <a:rPr lang="en-US" sz="1800" dirty="0"/>
              <a:t>last()</a:t>
            </a:r>
            <a:r>
              <a:rPr lang="fa-IR" sz="3100" dirty="0">
                <a:cs typeface="B Lotus" pitchFamily="2" charset="-78"/>
              </a:rPr>
              <a:t>، </a:t>
            </a:r>
            <a:r>
              <a:rPr lang="en-US" sz="1800" dirty="0"/>
              <a:t>headSet()</a:t>
            </a:r>
            <a:r>
              <a:rPr lang="fa-IR" sz="3100" dirty="0">
                <a:cs typeface="B Lotus" pitchFamily="2" charset="-78"/>
              </a:rPr>
              <a:t>، </a:t>
            </a:r>
            <a:r>
              <a:rPr lang="en-US" sz="1800" dirty="0"/>
              <a:t>tailSet()</a:t>
            </a:r>
            <a:r>
              <a:rPr lang="fa-IR" sz="3100" dirty="0">
                <a:cs typeface="B Lotus" pitchFamily="2" charset="-78"/>
              </a:rPr>
              <a:t>، </a:t>
            </a:r>
            <a:r>
              <a:rPr lang="fa-IR" sz="2300" dirty="0">
                <a:cs typeface="B Lotus" pitchFamily="2" charset="-78"/>
              </a:rPr>
              <a:t>غیره</a:t>
            </a:r>
          </a:p>
          <a:p>
            <a:pPr algn="r" rtl="1"/>
            <a:endParaRPr lang="fa-IR" sz="3100" dirty="0">
              <a:cs typeface="B Lotus" pitchFamily="2" charset="-78"/>
            </a:endParaRPr>
          </a:p>
          <a:p>
            <a:pPr algn="r" rtl="1"/>
            <a:r>
              <a:rPr lang="en-US" sz="2600" dirty="0"/>
              <a:t>LinkedHashSet </a:t>
            </a:r>
            <a:r>
              <a:rPr lang="fa-IR" sz="2600" dirty="0"/>
              <a:t> </a:t>
            </a:r>
            <a:r>
              <a:rPr lang="fa-IR" sz="3100" dirty="0">
                <a:cs typeface="B Lotus" pitchFamily="2" charset="-78"/>
              </a:rPr>
              <a:t>ساختاری مابین </a:t>
            </a:r>
            <a:r>
              <a:rPr lang="en-US" sz="2600" dirty="0"/>
              <a:t>HashSet </a:t>
            </a:r>
            <a:r>
              <a:rPr lang="fa-IR" sz="2600" dirty="0"/>
              <a:t> </a:t>
            </a:r>
            <a:r>
              <a:rPr lang="fa-IR" sz="3100" dirty="0">
                <a:cs typeface="B Lotus" pitchFamily="2" charset="-78"/>
              </a:rPr>
              <a:t>و </a:t>
            </a:r>
            <a:r>
              <a:rPr lang="en-US" sz="2600" dirty="0"/>
              <a:t>TreeSet</a:t>
            </a:r>
            <a:r>
              <a:rPr lang="fa-IR" sz="2600" dirty="0"/>
              <a:t> </a:t>
            </a:r>
            <a:r>
              <a:rPr lang="fa-IR" sz="3100" dirty="0">
                <a:cs typeface="B Lotus" pitchFamily="2" charset="-78"/>
              </a:rPr>
              <a:t>دارد. با استفاده از هش به همراه یک لیست پیوندی پیاده‏سازی شده است که به جدول هش متصل می‏شود. </a:t>
            </a:r>
          </a:p>
          <a:p>
            <a:pPr algn="r" rtl="1"/>
            <a:r>
              <a:rPr lang="fa-IR" sz="3100" dirty="0">
                <a:cs typeface="B Lotus" pitchFamily="2" charset="-78"/>
              </a:rPr>
              <a:t>بنابراین قادر به حفظ ترتیب ورود عناصر می‏باشد.</a:t>
            </a:r>
          </a:p>
          <a:p>
            <a:pPr algn="r" rtl="1"/>
            <a:r>
              <a:rPr lang="fa-IR" sz="3100" dirty="0">
                <a:cs typeface="B Lotus" pitchFamily="2" charset="-78"/>
              </a:rPr>
              <a:t>پیچیدگی زمانی آن </a:t>
            </a:r>
            <a:r>
              <a:rPr lang="en-US" sz="2200" dirty="0"/>
              <a:t>O(1)</a:t>
            </a:r>
            <a:r>
              <a:rPr lang="fa-IR" sz="3100" dirty="0">
                <a:cs typeface="B Lotus" pitchFamily="2" charset="-78"/>
              </a:rPr>
              <a:t> است. </a:t>
            </a:r>
          </a:p>
          <a:p>
            <a:endParaRPr lang="en-US" dirty="0"/>
          </a:p>
        </p:txBody>
      </p:sp>
      <p:sp>
        <p:nvSpPr>
          <p:cNvPr id="5" name="Slide Number Placeholder 4"/>
          <p:cNvSpPr>
            <a:spLocks noGrp="1"/>
          </p:cNvSpPr>
          <p:nvPr>
            <p:ph type="sldNum" sz="quarter" idx="12"/>
          </p:nvPr>
        </p:nvSpPr>
        <p:spPr/>
        <p:txBody>
          <a:bodyPr/>
          <a:lstStyle/>
          <a:p>
            <a:fld id="{E2E32164-7D64-46C2-AECF-5ED4A3D0BCDA}" type="slidenum">
              <a:rPr lang="en-US" smtClean="0"/>
              <a:pPr/>
              <a:t>32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linds(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blinds(horizontal)">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blinds(horizontal)">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blinds(horizontal)">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blinds(horizontal)">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blinds(horizontal)">
                                      <p:cBhvr>
                                        <p:cTn id="37" dur="500"/>
                                        <p:tgtEl>
                                          <p:spTgt spid="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9">
                                            <p:txEl>
                                              <p:pRg st="9" end="9"/>
                                            </p:txEl>
                                          </p:spTgt>
                                        </p:tgtEl>
                                        <p:attrNameLst>
                                          <p:attrName>style.visibility</p:attrName>
                                        </p:attrNameLst>
                                      </p:cBhvr>
                                      <p:to>
                                        <p:strVal val="visible"/>
                                      </p:to>
                                    </p:set>
                                    <p:animEffect transition="in" filter="blinds(horizontal)">
                                      <p:cBhvr>
                                        <p:cTn id="42" dur="500"/>
                                        <p:tgtEl>
                                          <p:spTgt spid="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animEffect transition="in" filter="blinds(horizontal)">
                                      <p:cBhvr>
                                        <p:cTn id="47"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fa-IR" sz="3600" dirty="0">
                <a:solidFill>
                  <a:schemeClr val="bg1"/>
                </a:solidFill>
                <a:cs typeface="B Lotus" pitchFamily="2" charset="-78"/>
              </a:rPr>
              <a:t>آزمون کارایی</a:t>
            </a:r>
            <a:endParaRPr lang="en-US" sz="3600" dirty="0">
              <a:solidFill>
                <a:schemeClr val="bg1"/>
              </a:solidFill>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33</a:t>
            </a:fld>
            <a:endParaRPr lang="en-US"/>
          </a:p>
        </p:txBody>
      </p:sp>
      <p:pic>
        <p:nvPicPr>
          <p:cNvPr id="6146" name="Picture 2"/>
          <p:cNvPicPr>
            <a:picLocks noChangeAspect="1" noChangeArrowheads="1"/>
          </p:cNvPicPr>
          <p:nvPr/>
        </p:nvPicPr>
        <p:blipFill>
          <a:blip r:embed="rId2"/>
          <a:srcRect r="39923"/>
          <a:stretch>
            <a:fillRect/>
          </a:stretch>
        </p:blipFill>
        <p:spPr bwMode="auto">
          <a:xfrm>
            <a:off x="142844" y="714356"/>
            <a:ext cx="4684718" cy="53022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r="34955"/>
          <a:stretch>
            <a:fillRect/>
          </a:stretch>
        </p:blipFill>
        <p:spPr bwMode="auto">
          <a:xfrm>
            <a:off x="4857752" y="642918"/>
            <a:ext cx="4143372" cy="2222500"/>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r="73280"/>
          <a:stretch>
            <a:fillRect/>
          </a:stretch>
        </p:blipFill>
        <p:spPr bwMode="auto">
          <a:xfrm>
            <a:off x="5715008" y="4429132"/>
            <a:ext cx="2071702" cy="1022350"/>
          </a:xfrm>
          <a:prstGeom prst="rect">
            <a:avLst/>
          </a:prstGeom>
          <a:noFill/>
          <a:ln w="9525">
            <a:noFill/>
            <a:miter lim="800000"/>
            <a:headEnd/>
            <a:tailEnd/>
          </a:ln>
          <a:effec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fa-IR" sz="3600" dirty="0">
                <a:solidFill>
                  <a:schemeClr val="bg1"/>
                </a:solidFill>
                <a:cs typeface="B Lotus" pitchFamily="2" charset="-78"/>
              </a:rPr>
              <a:t>آزمون کارایی</a:t>
            </a:r>
            <a:endParaRPr lang="en-US" sz="3600" dirty="0">
              <a:solidFill>
                <a:schemeClr val="bg1"/>
              </a:solidFill>
              <a:cs typeface="B Lotus" pitchFamily="2" charset="-78"/>
            </a:endParaRPr>
          </a:p>
        </p:txBody>
      </p:sp>
      <p:sp>
        <p:nvSpPr>
          <p:cNvPr id="3" name="Content Placeholder 2"/>
          <p:cNvSpPr>
            <a:spLocks noGrp="1"/>
          </p:cNvSpPr>
          <p:nvPr>
            <p:ph idx="1"/>
          </p:nvPr>
        </p:nvSpPr>
        <p:spPr>
          <a:xfrm>
            <a:off x="428596" y="5072074"/>
            <a:ext cx="8229600" cy="1482717"/>
          </a:xfrm>
        </p:spPr>
        <p:txBody>
          <a:bodyPr>
            <a:normAutofit lnSpcReduction="10000"/>
          </a:bodyPr>
          <a:lstStyle/>
          <a:p>
            <a:pPr algn="just" rtl="1"/>
            <a:r>
              <a:rPr lang="fa-IR" dirty="0">
                <a:cs typeface="B Lotus" pitchFamily="2" charset="-78"/>
              </a:rPr>
              <a:t>این آزمون دقیق نیست؛ اما نشان می دهد که </a:t>
            </a:r>
            <a:r>
              <a:rPr lang="en-US" dirty="0">
                <a:cs typeface="B Lotus" pitchFamily="2" charset="-78"/>
              </a:rPr>
              <a:t>TreeSet</a:t>
            </a:r>
            <a:r>
              <a:rPr lang="fa-IR" dirty="0">
                <a:cs typeface="B Lotus" pitchFamily="2" charset="-78"/>
              </a:rPr>
              <a:t> چون باید مرتب‏سازی را در نظر داشته باشد، کندتر از دو کلاس دیگر عمل می‏کند.</a:t>
            </a:r>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34</a:t>
            </a:fld>
            <a:endParaRPr lang="en-US"/>
          </a:p>
        </p:txBody>
      </p:sp>
      <p:pic>
        <p:nvPicPr>
          <p:cNvPr id="7170" name="Picture 2"/>
          <p:cNvPicPr>
            <a:picLocks noChangeAspect="1" noChangeArrowheads="1"/>
          </p:cNvPicPr>
          <p:nvPr/>
        </p:nvPicPr>
        <p:blipFill>
          <a:blip r:embed="rId2"/>
          <a:srcRect/>
          <a:stretch>
            <a:fillRect/>
          </a:stretch>
        </p:blipFill>
        <p:spPr bwMode="auto">
          <a:xfrm>
            <a:off x="357158" y="714356"/>
            <a:ext cx="8324850" cy="4062422"/>
          </a:xfrm>
          <a:prstGeom prst="rect">
            <a:avLst/>
          </a:prstGeom>
          <a:noFill/>
          <a:ln w="9525">
            <a:noFill/>
            <a:miter lim="800000"/>
            <a:headEnd/>
            <a:tailEnd/>
          </a:ln>
          <a:effec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fa-IR" sz="3600" dirty="0">
                <a:solidFill>
                  <a:schemeClr val="bg1"/>
                </a:solidFill>
                <a:cs typeface="B Lotus" pitchFamily="2" charset="-78"/>
              </a:rPr>
              <a:t>تفاوت میان </a:t>
            </a:r>
            <a:r>
              <a:rPr lang="en-US" sz="3600" dirty="0">
                <a:solidFill>
                  <a:schemeClr val="bg1"/>
                </a:solidFill>
                <a:cs typeface="B Lotus" pitchFamily="2" charset="-78"/>
              </a:rPr>
              <a:t>Set</a:t>
            </a:r>
            <a:r>
              <a:rPr lang="fa-IR" sz="3600" dirty="0">
                <a:solidFill>
                  <a:schemeClr val="bg1"/>
                </a:solidFill>
                <a:cs typeface="B Lotus" pitchFamily="2" charset="-78"/>
              </a:rPr>
              <a:t> و </a:t>
            </a:r>
            <a:r>
              <a:rPr lang="en-US" sz="3600" dirty="0">
                <a:solidFill>
                  <a:schemeClr val="bg1"/>
                </a:solidFill>
                <a:cs typeface="B Lotus" pitchFamily="2" charset="-78"/>
              </a:rPr>
              <a:t>List</a:t>
            </a:r>
          </a:p>
        </p:txBody>
      </p:sp>
      <p:sp>
        <p:nvSpPr>
          <p:cNvPr id="7" name="Content Placeholder 6"/>
          <p:cNvSpPr>
            <a:spLocks noGrp="1"/>
          </p:cNvSpPr>
          <p:nvPr>
            <p:ph idx="1"/>
          </p:nvPr>
        </p:nvSpPr>
        <p:spPr>
          <a:xfrm>
            <a:off x="500034" y="1142984"/>
            <a:ext cx="8229600" cy="5526376"/>
          </a:xfrm>
        </p:spPr>
        <p:txBody>
          <a:bodyPr>
            <a:normAutofit fontScale="92500" lnSpcReduction="10000"/>
          </a:bodyPr>
          <a:lstStyle/>
          <a:p>
            <a:pPr marL="514350" indent="-514350" algn="just" rtl="1">
              <a:buAutoNum type="arabicParenR"/>
            </a:pPr>
            <a:r>
              <a:rPr lang="en-US" dirty="0">
                <a:cs typeface="B Lotus" pitchFamily="2" charset="-78"/>
              </a:rPr>
              <a:t>List</a:t>
            </a:r>
            <a:r>
              <a:rPr lang="fa-IR" dirty="0">
                <a:cs typeface="B Lotus" pitchFamily="2" charset="-78"/>
              </a:rPr>
              <a:t> یک </a:t>
            </a:r>
            <a:r>
              <a:rPr lang="en-US" dirty="0">
                <a:cs typeface="B Lotus" pitchFamily="2" charset="-78"/>
              </a:rPr>
              <a:t>collection</a:t>
            </a:r>
            <a:r>
              <a:rPr lang="fa-IR" dirty="0">
                <a:cs typeface="B Lotus" pitchFamily="2" charset="-78"/>
              </a:rPr>
              <a:t> دارای ترتیب می‏باشد که ترتیب ورود عناصررا حفظ می‏کند.</a:t>
            </a:r>
          </a:p>
          <a:p>
            <a:pPr marL="514350" indent="-514350" algn="just" rtl="1">
              <a:buAutoNum type="arabicParenR"/>
            </a:pPr>
            <a:r>
              <a:rPr lang="en-US" dirty="0">
                <a:cs typeface="B Lotus" pitchFamily="2" charset="-78"/>
              </a:rPr>
              <a:t>Set</a:t>
            </a:r>
            <a:r>
              <a:rPr lang="fa-IR" dirty="0">
                <a:cs typeface="B Lotus" pitchFamily="2" charset="-78"/>
              </a:rPr>
              <a:t> یک </a:t>
            </a:r>
            <a:r>
              <a:rPr lang="en-US" dirty="0">
                <a:cs typeface="B Lotus" pitchFamily="2" charset="-78"/>
              </a:rPr>
              <a:t>collection</a:t>
            </a:r>
            <a:r>
              <a:rPr lang="fa-IR" dirty="0">
                <a:cs typeface="B Lotus" pitchFamily="2" charset="-78"/>
              </a:rPr>
              <a:t> بدون ترتیب است و ترتیب را حفظ نمی‏کند. </a:t>
            </a:r>
          </a:p>
          <a:p>
            <a:pPr marL="914400" lvl="1" indent="-514350" algn="just" rtl="1"/>
            <a:r>
              <a:rPr lang="fa-IR" dirty="0">
                <a:cs typeface="B Lotus" pitchFamily="2" charset="-78"/>
              </a:rPr>
              <a:t>  </a:t>
            </a:r>
            <a:r>
              <a:rPr lang="en-US" dirty="0">
                <a:cs typeface="B Lotus" pitchFamily="2" charset="-78"/>
              </a:rPr>
              <a:t>LinkedHashSet </a:t>
            </a:r>
            <a:r>
              <a:rPr lang="fa-IR" dirty="0">
                <a:cs typeface="B Lotus" pitchFamily="2" charset="-78"/>
              </a:rPr>
              <a:t> یکی از معدود پیاده‏سازیهای </a:t>
            </a:r>
            <a:r>
              <a:rPr lang="en-US" dirty="0">
                <a:cs typeface="B Lotus" pitchFamily="2" charset="-78"/>
              </a:rPr>
              <a:t>Set</a:t>
            </a:r>
            <a:r>
              <a:rPr lang="fa-IR" dirty="0">
                <a:cs typeface="B Lotus" pitchFamily="2" charset="-78"/>
              </a:rPr>
              <a:t> است که ترتیب ورود عناصر را حفظ می‏کند. </a:t>
            </a:r>
            <a:endParaRPr lang="en-US" dirty="0">
              <a:cs typeface="B Lotus" pitchFamily="2" charset="-78"/>
            </a:endParaRPr>
          </a:p>
          <a:p>
            <a:pPr marL="514350" indent="-514350" algn="just" rtl="1">
              <a:lnSpc>
                <a:spcPct val="120000"/>
              </a:lnSpc>
              <a:buAutoNum type="arabicParenR"/>
            </a:pPr>
            <a:r>
              <a:rPr lang="en-US" dirty="0">
                <a:cs typeface="B Lotus" pitchFamily="2" charset="-78"/>
              </a:rPr>
              <a:t>List</a:t>
            </a:r>
            <a:r>
              <a:rPr lang="fa-IR" dirty="0">
                <a:cs typeface="B Lotus" pitchFamily="2" charset="-78"/>
              </a:rPr>
              <a:t> امکان نگهداری عناصر تکراری را به برنامه‏نویس می‏دهد، اما در </a:t>
            </a:r>
            <a:r>
              <a:rPr lang="en-US" dirty="0">
                <a:cs typeface="B Lotus" pitchFamily="2" charset="-78"/>
              </a:rPr>
              <a:t>Set</a:t>
            </a:r>
            <a:r>
              <a:rPr lang="fa-IR" dirty="0">
                <a:cs typeface="B Lotus" pitchFamily="2" charset="-78"/>
              </a:rPr>
              <a:t> امکان تکرار عناصر وجود ندارد.</a:t>
            </a:r>
          </a:p>
          <a:p>
            <a:pPr lvl="1" algn="just" rtl="1">
              <a:lnSpc>
                <a:spcPct val="120000"/>
              </a:lnSpc>
            </a:pPr>
            <a:r>
              <a:rPr lang="fa-IR" dirty="0">
                <a:cs typeface="B Lotus" pitchFamily="2" charset="-78"/>
              </a:rPr>
              <a:t> همه عناصر یک </a:t>
            </a:r>
            <a:r>
              <a:rPr lang="en-US" dirty="0">
                <a:cs typeface="B Lotus" pitchFamily="2" charset="-78"/>
              </a:rPr>
              <a:t>Set</a:t>
            </a:r>
            <a:r>
              <a:rPr lang="fa-IR" dirty="0">
                <a:cs typeface="B Lotus" pitchFamily="2" charset="-78"/>
              </a:rPr>
              <a:t> باید منحصربفرد باشند و در صورت تلاش برنامه‏نویس در قراردادن عنصر تکرای به مجموعه، عنصر جدید با عنصر قبلی جایگزین خواهد شد. </a:t>
            </a:r>
          </a:p>
          <a:p>
            <a:endParaRPr lang="en-US" dirty="0"/>
          </a:p>
        </p:txBody>
      </p:sp>
      <p:sp>
        <p:nvSpPr>
          <p:cNvPr id="5" name="Slide Number Placeholder 4"/>
          <p:cNvSpPr>
            <a:spLocks noGrp="1"/>
          </p:cNvSpPr>
          <p:nvPr>
            <p:ph type="sldNum" sz="quarter" idx="12"/>
          </p:nvPr>
        </p:nvSpPr>
        <p:spPr/>
        <p:txBody>
          <a:bodyPr/>
          <a:lstStyle/>
          <a:p>
            <a:fld id="{E2E32164-7D64-46C2-AECF-5ED4A3D0BCDA}" type="slidenum">
              <a:rPr lang="en-US" smtClean="0"/>
              <a:pPr/>
              <a:t>35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fa-IR" sz="3600" dirty="0">
                <a:solidFill>
                  <a:schemeClr val="bg1"/>
                </a:solidFill>
                <a:cs typeface="B Lotus" pitchFamily="2" charset="-78"/>
              </a:rPr>
              <a:t>تفاوت میان </a:t>
            </a:r>
            <a:r>
              <a:rPr lang="en-US" sz="3600" dirty="0">
                <a:solidFill>
                  <a:schemeClr val="bg1"/>
                </a:solidFill>
                <a:cs typeface="B Lotus" pitchFamily="2" charset="-78"/>
              </a:rPr>
              <a:t>Set</a:t>
            </a:r>
            <a:r>
              <a:rPr lang="fa-IR" sz="3600" dirty="0">
                <a:solidFill>
                  <a:schemeClr val="bg1"/>
                </a:solidFill>
                <a:cs typeface="B Lotus" pitchFamily="2" charset="-78"/>
              </a:rPr>
              <a:t> و </a:t>
            </a:r>
            <a:r>
              <a:rPr lang="en-US" sz="3600" dirty="0">
                <a:solidFill>
                  <a:schemeClr val="bg1"/>
                </a:solidFill>
                <a:cs typeface="B Lotus" pitchFamily="2" charset="-78"/>
              </a:rPr>
              <a:t>List</a:t>
            </a:r>
          </a:p>
        </p:txBody>
      </p:sp>
      <p:sp>
        <p:nvSpPr>
          <p:cNvPr id="7" name="Content Placeholder 6"/>
          <p:cNvSpPr>
            <a:spLocks noGrp="1"/>
          </p:cNvSpPr>
          <p:nvPr>
            <p:ph idx="1"/>
          </p:nvPr>
        </p:nvSpPr>
        <p:spPr>
          <a:xfrm>
            <a:off x="457200" y="1142984"/>
            <a:ext cx="8229600" cy="4983179"/>
          </a:xfrm>
        </p:spPr>
        <p:txBody>
          <a:bodyPr>
            <a:normAutofit/>
          </a:bodyPr>
          <a:lstStyle/>
          <a:p>
            <a:pPr algn="just" rtl="1"/>
            <a:r>
              <a:rPr lang="fa-IR" dirty="0">
                <a:cs typeface="B Lotus" pitchFamily="2" charset="-78"/>
              </a:rPr>
              <a:t> پیاده‏سازیهای </a:t>
            </a:r>
            <a:r>
              <a:rPr lang="en-US" dirty="0">
                <a:cs typeface="B Lotus" pitchFamily="2" charset="-78"/>
              </a:rPr>
              <a:t>List</a:t>
            </a:r>
            <a:r>
              <a:rPr lang="fa-IR" dirty="0">
                <a:cs typeface="B Lotus" pitchFamily="2" charset="-78"/>
              </a:rPr>
              <a:t>: </a:t>
            </a:r>
            <a:r>
              <a:rPr lang="en-US" dirty="0">
                <a:cs typeface="B Lotus" pitchFamily="2" charset="-78"/>
              </a:rPr>
              <a:t>ArrayList</a:t>
            </a:r>
            <a:r>
              <a:rPr lang="fa-IR" dirty="0">
                <a:cs typeface="B Lotus" pitchFamily="2" charset="-78"/>
              </a:rPr>
              <a:t>، </a:t>
            </a:r>
            <a:r>
              <a:rPr lang="en-US" dirty="0">
                <a:cs typeface="B Lotus" pitchFamily="2" charset="-78"/>
              </a:rPr>
              <a:t>LinkedList </a:t>
            </a:r>
            <a:endParaRPr lang="fa-IR" dirty="0">
              <a:cs typeface="B Lotus" pitchFamily="2" charset="-78"/>
            </a:endParaRPr>
          </a:p>
          <a:p>
            <a:pPr algn="just" rtl="1"/>
            <a:r>
              <a:rPr lang="fa-IR" dirty="0">
                <a:cs typeface="B Lotus" pitchFamily="2" charset="-78"/>
              </a:rPr>
              <a:t>پیاده‏سازیهای </a:t>
            </a:r>
            <a:r>
              <a:rPr lang="en-US" dirty="0">
                <a:cs typeface="B Lotus" pitchFamily="2" charset="-78"/>
              </a:rPr>
              <a:t>Set</a:t>
            </a:r>
            <a:r>
              <a:rPr lang="fa-IR" dirty="0">
                <a:cs typeface="B Lotus" pitchFamily="2" charset="-78"/>
              </a:rPr>
              <a:t>:</a:t>
            </a:r>
            <a:r>
              <a:rPr lang="en-US" dirty="0" err="1">
                <a:cs typeface="B Lotus" pitchFamily="2" charset="-78"/>
              </a:rPr>
              <a:t>LinkedHashSet</a:t>
            </a:r>
            <a:r>
              <a:rPr lang="en-US" dirty="0">
                <a:cs typeface="B Lotus" pitchFamily="2" charset="-78"/>
              </a:rPr>
              <a:t> </a:t>
            </a:r>
            <a:r>
              <a:rPr lang="fa-IR" dirty="0">
                <a:cs typeface="B Lotus" pitchFamily="2" charset="-78"/>
              </a:rPr>
              <a:t>،</a:t>
            </a:r>
            <a:r>
              <a:rPr lang="en-US" dirty="0" err="1">
                <a:cs typeface="B Lotus" pitchFamily="2" charset="-78"/>
              </a:rPr>
              <a:t>HashSet</a:t>
            </a:r>
            <a:r>
              <a:rPr lang="en-US" dirty="0">
                <a:cs typeface="B Lotus" pitchFamily="2" charset="-78"/>
              </a:rPr>
              <a:t> </a:t>
            </a:r>
            <a:r>
              <a:rPr lang="fa-IR" dirty="0">
                <a:cs typeface="B Lotus" pitchFamily="2" charset="-78"/>
              </a:rPr>
              <a:t> و </a:t>
            </a:r>
            <a:r>
              <a:rPr lang="en-US" dirty="0">
                <a:cs typeface="B Lotus" pitchFamily="2" charset="-78"/>
              </a:rPr>
              <a:t>TreeSet </a:t>
            </a:r>
            <a:endParaRPr lang="fa-IR" dirty="0">
              <a:cs typeface="B Lotus" pitchFamily="2" charset="-78"/>
            </a:endParaRPr>
          </a:p>
          <a:p>
            <a:pPr algn="just" rtl="1">
              <a:buNone/>
            </a:pPr>
            <a:endParaRPr lang="fa-IR" dirty="0">
              <a:cs typeface="B Lotus" pitchFamily="2" charset="-78"/>
            </a:endParaRPr>
          </a:p>
          <a:p>
            <a:pPr algn="just" rtl="1">
              <a:buNone/>
            </a:pPr>
            <a:r>
              <a:rPr lang="fa-IR" dirty="0">
                <a:cs typeface="B Lotus" pitchFamily="2" charset="-78"/>
              </a:rPr>
              <a:t>4) لیست به شما امکان ذخیره‏سازی هر تعداد مقدار </a:t>
            </a:r>
            <a:r>
              <a:rPr lang="en-US" dirty="0">
                <a:cs typeface="B Lotus" pitchFamily="2" charset="-78"/>
              </a:rPr>
              <a:t>null</a:t>
            </a:r>
            <a:r>
              <a:rPr lang="fa-IR" dirty="0">
                <a:cs typeface="B Lotus" pitchFamily="2" charset="-78"/>
              </a:rPr>
              <a:t> را می‏دهد. اما </a:t>
            </a:r>
            <a:r>
              <a:rPr lang="en-US" dirty="0">
                <a:cs typeface="B Lotus" pitchFamily="2" charset="-78"/>
              </a:rPr>
              <a:t>Set</a:t>
            </a:r>
            <a:r>
              <a:rPr lang="fa-IR" dirty="0">
                <a:cs typeface="B Lotus" pitchFamily="2" charset="-78"/>
              </a:rPr>
              <a:t> حداکثر یک مقدار </a:t>
            </a:r>
            <a:r>
              <a:rPr lang="en-US" dirty="0">
                <a:cs typeface="B Lotus" pitchFamily="2" charset="-78"/>
              </a:rPr>
              <a:t>null</a:t>
            </a:r>
            <a:r>
              <a:rPr lang="fa-IR" dirty="0">
                <a:cs typeface="B Lotus" pitchFamily="2" charset="-78"/>
              </a:rPr>
              <a:t> نگهداری می‏کند.</a:t>
            </a:r>
          </a:p>
          <a:p>
            <a:pPr algn="just" rtl="1">
              <a:buNone/>
            </a:pPr>
            <a:r>
              <a:rPr lang="fa-IR" dirty="0">
                <a:cs typeface="B Lotus" pitchFamily="2" charset="-78"/>
              </a:rPr>
              <a:t>5) </a:t>
            </a:r>
            <a:r>
              <a:rPr lang="en-US" dirty="0" err="1">
                <a:cs typeface="B Lotus" pitchFamily="2" charset="-78"/>
              </a:rPr>
              <a:t>ListIterator</a:t>
            </a:r>
            <a:r>
              <a:rPr lang="en-US" dirty="0">
                <a:cs typeface="B Lotus" pitchFamily="2" charset="-78"/>
              </a:rPr>
              <a:t> </a:t>
            </a:r>
            <a:r>
              <a:rPr lang="fa-IR" dirty="0">
                <a:cs typeface="B Lotus" pitchFamily="2" charset="-78"/>
              </a:rPr>
              <a:t> می‏تواند برای پیمایش لیست در دو جهت به کار رود؛ اما برای پیمایش مجموعه نمی‏توان از آن استفاده نمود. برای مجموعه‏ها از</a:t>
            </a:r>
            <a:r>
              <a:rPr lang="en-US" dirty="0">
                <a:cs typeface="B Lotus" pitchFamily="2" charset="-78"/>
              </a:rPr>
              <a:t>Iterator </a:t>
            </a:r>
            <a:r>
              <a:rPr lang="fa-IR" dirty="0">
                <a:cs typeface="B Lotus" pitchFamily="2" charset="-78"/>
              </a:rPr>
              <a:t> استفاده می‏کنیم.</a:t>
            </a:r>
          </a:p>
          <a:p>
            <a:pPr algn="just" rtl="1">
              <a:buNone/>
            </a:pPr>
            <a:endParaRPr lang="fa-IR" dirty="0">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36</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linds(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linds(horizontal)">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357190"/>
          </a:xfrm>
        </p:spPr>
        <p:txBody>
          <a:bodyPr>
            <a:noAutofit/>
          </a:bodyPr>
          <a:lstStyle/>
          <a:p>
            <a:pPr rtl="1"/>
            <a:r>
              <a:rPr lang="fa-IR" sz="3200" dirty="0">
                <a:solidFill>
                  <a:schemeClr val="bg1"/>
                </a:solidFill>
                <a:cs typeface="B Lotus" pitchFamily="2" charset="-78"/>
              </a:rPr>
              <a:t>چه موقع از </a:t>
            </a:r>
            <a:r>
              <a:rPr lang="en-US" sz="3200" dirty="0">
                <a:solidFill>
                  <a:schemeClr val="bg1"/>
                </a:solidFill>
                <a:cs typeface="B Lotus" pitchFamily="2" charset="-78"/>
              </a:rPr>
              <a:t>set</a:t>
            </a:r>
            <a:r>
              <a:rPr lang="fa-IR" sz="3200" dirty="0">
                <a:solidFill>
                  <a:schemeClr val="bg1"/>
                </a:solidFill>
                <a:cs typeface="B Lotus" pitchFamily="2" charset="-78"/>
              </a:rPr>
              <a:t> و چه موقع از </a:t>
            </a:r>
            <a:r>
              <a:rPr lang="en-US" sz="3200" dirty="0">
                <a:solidFill>
                  <a:schemeClr val="bg1"/>
                </a:solidFill>
                <a:cs typeface="B Lotus" pitchFamily="2" charset="-78"/>
              </a:rPr>
              <a:t>List</a:t>
            </a:r>
            <a:r>
              <a:rPr lang="fa-IR" sz="3200" dirty="0">
                <a:solidFill>
                  <a:schemeClr val="bg1"/>
                </a:solidFill>
                <a:cs typeface="B Lotus" pitchFamily="2" charset="-78"/>
              </a:rPr>
              <a:t> استفاده کنیم؟</a:t>
            </a:r>
            <a:endParaRPr lang="en-US" sz="3200" dirty="0">
              <a:solidFill>
                <a:schemeClr val="bg1"/>
              </a:solidFill>
              <a:cs typeface="B Lotus" pitchFamily="2" charset="-78"/>
            </a:endParaRPr>
          </a:p>
        </p:txBody>
      </p:sp>
      <p:sp>
        <p:nvSpPr>
          <p:cNvPr id="3" name="Content Placeholder 2"/>
          <p:cNvSpPr>
            <a:spLocks noGrp="1"/>
          </p:cNvSpPr>
          <p:nvPr>
            <p:ph idx="1"/>
          </p:nvPr>
        </p:nvSpPr>
        <p:spPr>
          <a:xfrm>
            <a:off x="571472" y="785794"/>
            <a:ext cx="8229600" cy="4525963"/>
          </a:xfrm>
        </p:spPr>
        <p:txBody>
          <a:bodyPr>
            <a:normAutofit fontScale="92500" lnSpcReduction="10000"/>
          </a:bodyPr>
          <a:lstStyle/>
          <a:p>
            <a:pPr algn="just" rtl="1"/>
            <a:r>
              <a:rPr lang="fa-IR" dirty="0">
                <a:cs typeface="B Lotus" pitchFamily="2" charset="-78"/>
              </a:rPr>
              <a:t>انتخاب ساختار ذخیره‏سازی مناسب به کاربرد شما بستگی دارد:</a:t>
            </a:r>
          </a:p>
          <a:p>
            <a:pPr algn="just" rtl="1"/>
            <a:r>
              <a:rPr lang="fa-IR" dirty="0">
                <a:cs typeface="B Lotus" pitchFamily="2" charset="-78"/>
              </a:rPr>
              <a:t>اگر بخواهید فقط عناصر غیرتکراری را نگهداری کنید، </a:t>
            </a:r>
            <a:r>
              <a:rPr lang="en-US" dirty="0">
                <a:cs typeface="B Lotus" pitchFamily="2" charset="-78"/>
              </a:rPr>
              <a:t>Set</a:t>
            </a:r>
            <a:r>
              <a:rPr lang="fa-IR" dirty="0">
                <a:cs typeface="B Lotus" pitchFamily="2" charset="-78"/>
              </a:rPr>
              <a:t> بهترین گزینه است.</a:t>
            </a:r>
          </a:p>
          <a:p>
            <a:pPr algn="just" rtl="1"/>
            <a:r>
              <a:rPr lang="fa-IR" dirty="0">
                <a:cs typeface="B Lotus" pitchFamily="2" charset="-78"/>
              </a:rPr>
              <a:t>اگر بخواهید ترتیب عناصر وارد شده را بدون توجه به تکراری بودن عنصر نگهداری کنید، </a:t>
            </a:r>
            <a:r>
              <a:rPr lang="en-US" dirty="0">
                <a:cs typeface="B Lotus" pitchFamily="2" charset="-78"/>
              </a:rPr>
              <a:t>List</a:t>
            </a:r>
            <a:r>
              <a:rPr lang="fa-IR" dirty="0">
                <a:cs typeface="B Lotus" pitchFamily="2" charset="-78"/>
              </a:rPr>
              <a:t> گزینه مناسب است.</a:t>
            </a:r>
          </a:p>
          <a:p>
            <a:pPr algn="just" rtl="1"/>
            <a:r>
              <a:rPr lang="fa-IR" dirty="0">
                <a:cs typeface="B Lotus" pitchFamily="2" charset="-78"/>
              </a:rPr>
              <a:t>اگر هم ترتیب ورود عناصر و هم غیرتکراری بودن عناصر برایتان مهم است، از </a:t>
            </a:r>
            <a:r>
              <a:rPr lang="en-US" dirty="0">
                <a:cs typeface="B Lotus" pitchFamily="2" charset="-78"/>
              </a:rPr>
              <a:t>LinkedHashSet</a:t>
            </a:r>
            <a:r>
              <a:rPr lang="fa-IR" dirty="0">
                <a:cs typeface="B Lotus" pitchFamily="2" charset="-78"/>
              </a:rPr>
              <a:t> استفاده کنید.</a:t>
            </a:r>
          </a:p>
          <a:p>
            <a:pPr algn="just" rtl="1"/>
            <a:r>
              <a:rPr lang="fa-IR" dirty="0">
                <a:cs typeface="B Lotus" pitchFamily="2" charset="-78"/>
              </a:rPr>
              <a:t>اگر می‏خواهید عناصر غیرتکراری اما مرتب‏شده باشند، از </a:t>
            </a:r>
            <a:r>
              <a:rPr lang="en-US" dirty="0">
                <a:cs typeface="B Lotus" pitchFamily="2" charset="-78"/>
              </a:rPr>
              <a:t>TreeSet</a:t>
            </a:r>
            <a:r>
              <a:rPr lang="fa-IR" dirty="0">
                <a:cs typeface="B Lotus" pitchFamily="2" charset="-78"/>
              </a:rPr>
              <a:t> استفاده کنید.</a:t>
            </a:r>
          </a:p>
          <a:p>
            <a:pPr algn="just"/>
            <a:endParaRPr lang="en-US" dirty="0">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37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225404"/>
          </a:xfrm>
        </p:spPr>
        <p:txBody>
          <a:bodyPr>
            <a:noAutofit/>
          </a:bodyPr>
          <a:lstStyle/>
          <a:p>
            <a:r>
              <a:rPr lang="fa-IR" sz="2800" b="1" dirty="0">
                <a:solidFill>
                  <a:schemeClr val="bg1"/>
                </a:solidFill>
                <a:cs typeface="B Lotus" pitchFamily="2" charset="-78"/>
              </a:rPr>
              <a:t>کاربردهای متفاوت مجموعه و لیست</a:t>
            </a:r>
            <a:endParaRPr lang="en-US" sz="2800" dirty="0">
              <a:solidFill>
                <a:schemeClr val="bg1"/>
              </a:solidFill>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38</a:t>
            </a:fld>
            <a:endParaRPr lang="en-US"/>
          </a:p>
        </p:txBody>
      </p:sp>
      <p:pic>
        <p:nvPicPr>
          <p:cNvPr id="19458" name="Picture 2"/>
          <p:cNvPicPr>
            <a:picLocks noChangeAspect="1" noChangeArrowheads="1"/>
          </p:cNvPicPr>
          <p:nvPr/>
        </p:nvPicPr>
        <p:blipFill>
          <a:blip r:embed="rId2"/>
          <a:srcRect/>
          <a:stretch>
            <a:fillRect/>
          </a:stretch>
        </p:blipFill>
        <p:spPr bwMode="auto">
          <a:xfrm>
            <a:off x="142844" y="600075"/>
            <a:ext cx="4257675" cy="6257925"/>
          </a:xfrm>
          <a:prstGeom prst="rect">
            <a:avLst/>
          </a:prstGeom>
          <a:noFill/>
          <a:ln w="9525">
            <a:noFill/>
            <a:miter lim="800000"/>
            <a:headEnd/>
            <a:tailEnd/>
          </a:ln>
          <a:effectLst/>
        </p:spPr>
      </p:pic>
      <p:pic>
        <p:nvPicPr>
          <p:cNvPr id="19459" name="Picture 3"/>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2500298" y="5940771"/>
            <a:ext cx="1714512" cy="917229"/>
          </a:xfrm>
          <a:prstGeom prst="rect">
            <a:avLst/>
          </a:prstGeom>
          <a:noFill/>
          <a:ln w="9525">
            <a:noFill/>
            <a:miter lim="800000"/>
            <a:headEnd/>
            <a:tailEnd/>
          </a:ln>
          <a:effectLst/>
        </p:spPr>
      </p:pic>
      <p:pic>
        <p:nvPicPr>
          <p:cNvPr id="19460" name="Picture 4"/>
          <p:cNvPicPr>
            <a:picLocks noChangeAspect="1" noChangeArrowheads="1"/>
          </p:cNvPicPr>
          <p:nvPr/>
        </p:nvPicPr>
        <p:blipFill>
          <a:blip r:embed="rId4"/>
          <a:srcRect/>
          <a:stretch>
            <a:fillRect/>
          </a:stretch>
        </p:blipFill>
        <p:spPr bwMode="auto">
          <a:xfrm>
            <a:off x="4643438" y="642918"/>
            <a:ext cx="4345392" cy="5676916"/>
          </a:xfrm>
          <a:prstGeom prst="rect">
            <a:avLst/>
          </a:prstGeom>
          <a:noFill/>
          <a:ln w="9525">
            <a:noFill/>
            <a:miter lim="800000"/>
            <a:headEnd/>
            <a:tailEnd/>
          </a:ln>
          <a:effectLst/>
        </p:spPr>
      </p:pic>
      <p:pic>
        <p:nvPicPr>
          <p:cNvPr id="19461" name="Picture 5"/>
          <p:cNvPicPr>
            <a:picLocks noChangeAspect="1" noChangeArrowheads="1"/>
          </p:cNvPicPr>
          <p:nvPr/>
        </p:nvPicPr>
        <p:blipFill>
          <a:blip r:embed="rId5">
            <a:duotone>
              <a:prstClr val="black"/>
              <a:schemeClr val="accent1">
                <a:tint val="45000"/>
                <a:satMod val="400000"/>
              </a:schemeClr>
            </a:duotone>
          </a:blip>
          <a:srcRect/>
          <a:stretch>
            <a:fillRect/>
          </a:stretch>
        </p:blipFill>
        <p:spPr bwMode="auto">
          <a:xfrm>
            <a:off x="6500826" y="5715016"/>
            <a:ext cx="1695450" cy="990600"/>
          </a:xfrm>
          <a:prstGeom prst="rect">
            <a:avLst/>
          </a:prstGeom>
          <a:noFill/>
          <a:ln w="9525">
            <a:noFill/>
            <a:miter lim="800000"/>
            <a:headEnd/>
            <a:tailEnd/>
          </a:ln>
          <a:effec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fa-IR" sz="2800" dirty="0">
                <a:solidFill>
                  <a:schemeClr val="bg1"/>
                </a:solidFill>
                <a:cs typeface="B Lotus" pitchFamily="2" charset="-78"/>
              </a:rPr>
              <a:t>نگاشت </a:t>
            </a:r>
            <a:r>
              <a:rPr lang="en-US" sz="2800" dirty="0">
                <a:solidFill>
                  <a:schemeClr val="bg1"/>
                </a:solidFill>
                <a:cs typeface="B Lotus" pitchFamily="2" charset="-78"/>
              </a:rPr>
              <a:t>(Map) </a:t>
            </a:r>
            <a:r>
              <a:rPr lang="fa-IR" sz="2800" dirty="0">
                <a:solidFill>
                  <a:schemeClr val="bg1"/>
                </a:solidFill>
                <a:cs typeface="B Lotus" pitchFamily="2" charset="-78"/>
              </a:rPr>
              <a:t> میان مجموعه ها </a:t>
            </a:r>
            <a:r>
              <a:rPr lang="en-US" sz="2800" dirty="0">
                <a:solidFill>
                  <a:schemeClr val="bg1"/>
                </a:solidFill>
                <a:cs typeface="B Lotus" pitchFamily="2" charset="-78"/>
              </a:rPr>
              <a:t>(Set)</a:t>
            </a:r>
          </a:p>
        </p:txBody>
      </p:sp>
      <p:sp>
        <p:nvSpPr>
          <p:cNvPr id="7" name="Content Placeholder 6"/>
          <p:cNvSpPr>
            <a:spLocks noGrp="1"/>
          </p:cNvSpPr>
          <p:nvPr>
            <p:ph idx="1"/>
          </p:nvPr>
        </p:nvSpPr>
        <p:spPr>
          <a:xfrm>
            <a:off x="500034" y="1000108"/>
            <a:ext cx="8229600" cy="4525963"/>
          </a:xfrm>
        </p:spPr>
        <p:txBody>
          <a:bodyPr>
            <a:normAutofit lnSpcReduction="10000"/>
          </a:bodyPr>
          <a:lstStyle/>
          <a:p>
            <a:pPr algn="just" rtl="1">
              <a:lnSpc>
                <a:spcPct val="90000"/>
              </a:lnSpc>
            </a:pPr>
            <a:r>
              <a:rPr lang="fa-IR" sz="2800" dirty="0">
                <a:cs typeface="B Lotus" pitchFamily="2" charset="-78"/>
              </a:rPr>
              <a:t>برخی مواقع می‏خواهیم یک نگاشت یک‏به‏یک</a:t>
            </a:r>
            <a:r>
              <a:rPr lang="en-US" sz="2800" dirty="0">
                <a:cs typeface="B Lotus" pitchFamily="2" charset="-78"/>
              </a:rPr>
              <a:t> (mapping) </a:t>
            </a:r>
            <a:r>
              <a:rPr lang="fa-IR" sz="2800" dirty="0">
                <a:cs typeface="B Lotus" pitchFamily="2" charset="-78"/>
              </a:rPr>
              <a:t>بین عناصر یک </a:t>
            </a:r>
            <a:r>
              <a:rPr lang="en-US" sz="2800" dirty="0">
                <a:cs typeface="B Lotus" pitchFamily="2" charset="-78"/>
              </a:rPr>
              <a:t>set </a:t>
            </a:r>
            <a:r>
              <a:rPr lang="fa-IR" sz="2800" dirty="0">
                <a:cs typeface="B Lotus" pitchFamily="2" charset="-78"/>
              </a:rPr>
              <a:t> با عناصر</a:t>
            </a:r>
            <a:r>
              <a:rPr lang="en-US" sz="2800" dirty="0">
                <a:cs typeface="B Lotus" pitchFamily="2" charset="-78"/>
              </a:rPr>
              <a:t> set </a:t>
            </a:r>
            <a:r>
              <a:rPr lang="fa-IR" sz="2800" dirty="0">
                <a:cs typeface="B Lotus" pitchFamily="2" charset="-78"/>
              </a:rPr>
              <a:t>دیگر برقرار کنیم.</a:t>
            </a:r>
          </a:p>
          <a:p>
            <a:pPr algn="r" rtl="1">
              <a:lnSpc>
                <a:spcPct val="90000"/>
              </a:lnSpc>
            </a:pPr>
            <a:r>
              <a:rPr lang="fa-IR" sz="2800" dirty="0">
                <a:cs typeface="B Lotus" pitchFamily="2" charset="-78"/>
              </a:rPr>
              <a:t>برای مثال، نام افراد را به شماره تلفنشان نگاشت دهیم:</a:t>
            </a:r>
          </a:p>
          <a:p>
            <a:pPr algn="r" rtl="1">
              <a:lnSpc>
                <a:spcPct val="90000"/>
              </a:lnSpc>
            </a:pPr>
            <a:r>
              <a:rPr lang="fa-IR" sz="2800" dirty="0">
                <a:cs typeface="B Lotus" pitchFamily="2" charset="-78"/>
              </a:rPr>
              <a:t>”</a:t>
            </a:r>
            <a:r>
              <a:rPr lang="en-US" sz="2800" dirty="0">
                <a:cs typeface="B Lotus" pitchFamily="2" charset="-78"/>
              </a:rPr>
              <a:t>”Marty </a:t>
            </a:r>
            <a:r>
              <a:rPr lang="en-US" sz="2800" dirty="0" err="1">
                <a:cs typeface="B Lotus" pitchFamily="2" charset="-78"/>
              </a:rPr>
              <a:t>Stepp</a:t>
            </a:r>
            <a:r>
              <a:rPr lang="en-US" sz="2800" dirty="0">
                <a:cs typeface="B Lotus" pitchFamily="2" charset="-78"/>
              </a:rPr>
              <a:t>	--&gt;	"253-692-4540"</a:t>
            </a:r>
          </a:p>
          <a:p>
            <a:pPr algn="r" rtl="1">
              <a:lnSpc>
                <a:spcPct val="90000"/>
              </a:lnSpc>
            </a:pPr>
            <a:r>
              <a:rPr lang="en-US" sz="2800" dirty="0">
                <a:cs typeface="B Lotus" pitchFamily="2" charset="-78"/>
              </a:rPr>
              <a:t>"Jenny"		--&gt;	"253-867-5309”</a:t>
            </a:r>
          </a:p>
          <a:p>
            <a:pPr algn="r" rtl="1">
              <a:lnSpc>
                <a:spcPct val="90000"/>
              </a:lnSpc>
            </a:pPr>
            <a:r>
              <a:rPr lang="fa-IR" sz="2800" dirty="0">
                <a:cs typeface="B Lotus" pitchFamily="2" charset="-78"/>
              </a:rPr>
              <a:t>یک </a:t>
            </a:r>
            <a:r>
              <a:rPr lang="en-US" sz="2800" dirty="0">
                <a:cs typeface="B Lotus" pitchFamily="2" charset="-78"/>
              </a:rPr>
              <a:t>List</a:t>
            </a:r>
            <a:r>
              <a:rPr lang="fa-IR" sz="2800" dirty="0">
                <a:cs typeface="B Lotus" pitchFamily="2" charset="-78"/>
              </a:rPr>
              <a:t> این‏کار را برای ما انجام نمی‏دهد. تنها کاری که انجام می‏دهد نگاشت اعداد صحیح 0 تا </a:t>
            </a:r>
            <a:r>
              <a:rPr lang="en-US" sz="2800" dirty="0">
                <a:cs typeface="B Lotus" pitchFamily="2" charset="-78"/>
              </a:rPr>
              <a:t>size-1</a:t>
            </a:r>
            <a:r>
              <a:rPr lang="fa-IR" sz="2800" dirty="0">
                <a:cs typeface="B Lotus" pitchFamily="2" charset="-78"/>
              </a:rPr>
              <a:t> به اشیای موجود در لیست است.</a:t>
            </a:r>
          </a:p>
          <a:p>
            <a:pPr algn="r" rtl="1">
              <a:lnSpc>
                <a:spcPct val="90000"/>
              </a:lnSpc>
            </a:pPr>
            <a:r>
              <a:rPr lang="fa-IR" sz="2800" dirty="0">
                <a:cs typeface="B Lotus" pitchFamily="2" charset="-78"/>
              </a:rPr>
              <a:t>یک </a:t>
            </a:r>
            <a:r>
              <a:rPr lang="en-US" sz="2800" dirty="0">
                <a:cs typeface="B Lotus" pitchFamily="2" charset="-78"/>
              </a:rPr>
              <a:t>Set</a:t>
            </a:r>
            <a:r>
              <a:rPr lang="fa-IR" sz="2800" dirty="0">
                <a:cs typeface="B Lotus" pitchFamily="2" charset="-78"/>
              </a:rPr>
              <a:t> نیز اگرچه از تکرار عناصر جلوگیری کرده و زمان جستجوی بسیار سریعی دارد، برای نگاشت یک کلید به مقدار، مناسب نیست.</a:t>
            </a:r>
          </a:p>
          <a:p>
            <a:pPr algn="r" rtl="1">
              <a:lnSpc>
                <a:spcPct val="90000"/>
              </a:lnSpc>
            </a:pPr>
            <a:r>
              <a:rPr lang="fa-IR" sz="2800" dirty="0">
                <a:cs typeface="B Lotus" pitchFamily="2" charset="-78"/>
              </a:rPr>
              <a:t>اگر بخواهیم با دادن نام شخص، شماره تلفن او را در کوتاهترین زمان ممکن بیابیم، از چه روشی استفاده کنیم؟</a:t>
            </a:r>
          </a:p>
        </p:txBody>
      </p:sp>
      <p:sp>
        <p:nvSpPr>
          <p:cNvPr id="5" name="Slide Number Placeholder 4"/>
          <p:cNvSpPr>
            <a:spLocks noGrp="1"/>
          </p:cNvSpPr>
          <p:nvPr>
            <p:ph type="sldNum" sz="quarter" idx="12"/>
          </p:nvPr>
        </p:nvSpPr>
        <p:spPr/>
        <p:txBody>
          <a:bodyPr/>
          <a:lstStyle/>
          <a:p>
            <a:fld id="{E2E32164-7D64-46C2-AECF-5ED4A3D0BCDA}" type="slidenum">
              <a:rPr lang="en-US" smtClean="0"/>
              <a:pPr/>
              <a:t>39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linds(horizontal)">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blinds(horizontal)">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457200" y="131762"/>
            <a:ext cx="8229600" cy="511156"/>
          </a:xfrm>
        </p:spPr>
        <p:txBody>
          <a:bodyPr>
            <a:normAutofit fontScale="90000"/>
          </a:bodyPr>
          <a:lstStyle/>
          <a:p>
            <a:r>
              <a:rPr lang="en-US" sz="4000" dirty="0">
                <a:solidFill>
                  <a:schemeClr val="bg1"/>
                </a:solidFill>
              </a:rPr>
              <a:t>Map</a:t>
            </a:r>
          </a:p>
        </p:txBody>
      </p:sp>
      <p:sp>
        <p:nvSpPr>
          <p:cNvPr id="341010" name="Rectangle 18"/>
          <p:cNvSpPr>
            <a:spLocks noGrp="1" noChangeArrowheads="1"/>
          </p:cNvSpPr>
          <p:nvPr>
            <p:ph idx="1"/>
          </p:nvPr>
        </p:nvSpPr>
        <p:spPr>
          <a:xfrm>
            <a:off x="738188" y="4006850"/>
            <a:ext cx="7310437" cy="420688"/>
          </a:xfrm>
          <a:noFill/>
          <a:ln/>
          <a:effectLst>
            <a:prstShdw prst="shdw18" dist="17961" dir="13500000">
              <a:schemeClr val="bg1">
                <a:gamma/>
                <a:shade val="60000"/>
                <a:invGamma/>
              </a:schemeClr>
            </a:prstShdw>
          </a:effectLst>
        </p:spPr>
        <p:txBody>
          <a:bodyPr>
            <a:normAutofit fontScale="92500" lnSpcReduction="20000"/>
          </a:bodyPr>
          <a:lstStyle/>
          <a:p>
            <a:pPr algn="ctr">
              <a:buFontTx/>
              <a:buNone/>
            </a:pPr>
            <a:r>
              <a:rPr lang="en-US" sz="2800" b="1">
                <a:solidFill>
                  <a:srgbClr val="4D4D4D"/>
                </a:solidFill>
              </a:rPr>
              <a:t>A Map cares about unique identifiers.</a:t>
            </a:r>
          </a:p>
        </p:txBody>
      </p:sp>
      <p:sp>
        <p:nvSpPr>
          <p:cNvPr id="21" name="Slide Number Placeholder 3"/>
          <p:cNvSpPr>
            <a:spLocks noGrp="1"/>
          </p:cNvSpPr>
          <p:nvPr>
            <p:ph type="sldNum" sz="quarter" idx="12"/>
          </p:nvPr>
        </p:nvSpPr>
        <p:spPr/>
        <p:txBody>
          <a:bodyPr/>
          <a:lstStyle/>
          <a:p>
            <a:fld id="{C172C2F9-173C-4ADC-AE17-0F180FFCBA81}" type="slidenum">
              <a:rPr lang="en-US"/>
              <a:pPr/>
              <a:t>40</a:t>
            </a:fld>
            <a:endParaRPr lang="en-US"/>
          </a:p>
        </p:txBody>
      </p:sp>
      <p:sp>
        <p:nvSpPr>
          <p:cNvPr id="340995" name="Rectangle 3">
            <a:hlinkClick r:id="rId3" action="ppaction://hlinksldjump"/>
          </p:cNvPr>
          <p:cNvSpPr>
            <a:spLocks noChangeArrowheads="1"/>
          </p:cNvSpPr>
          <p:nvPr/>
        </p:nvSpPr>
        <p:spPr bwMode="auto">
          <a:xfrm>
            <a:off x="547688" y="1370013"/>
            <a:ext cx="8135937" cy="5027612"/>
          </a:xfrm>
          <a:prstGeom prst="rect">
            <a:avLst/>
          </a:prstGeom>
          <a:solidFill>
            <a:srgbClr val="3366FF">
              <a:alpha val="24001"/>
            </a:srgbClr>
          </a:solidFill>
          <a:ln w="44450" algn="ctr">
            <a:solidFill>
              <a:srgbClr val="90A6DE"/>
            </a:solidFill>
            <a:miter lim="800000"/>
            <a:headEnd/>
            <a:tailEnd/>
          </a:ln>
          <a:effectLst/>
        </p:spPr>
        <p:txBody>
          <a:bodyPr lIns="0" rIns="0" anchor="ctr">
            <a:spAutoFit/>
          </a:bodyPr>
          <a:lstStyle/>
          <a:p>
            <a:endParaRPr lang="en-US"/>
          </a:p>
        </p:txBody>
      </p:sp>
      <p:sp>
        <p:nvSpPr>
          <p:cNvPr id="340997" name="Rectangle 5"/>
          <p:cNvSpPr>
            <a:spLocks noChangeArrowheads="1"/>
          </p:cNvSpPr>
          <p:nvPr/>
        </p:nvSpPr>
        <p:spPr bwMode="auto">
          <a:xfrm>
            <a:off x="1004888" y="1849438"/>
            <a:ext cx="7181850" cy="1444625"/>
          </a:xfrm>
          <a:prstGeom prst="rect">
            <a:avLst/>
          </a:prstGeom>
          <a:solidFill>
            <a:srgbClr val="FBFDFF"/>
          </a:solidFill>
          <a:ln w="9525">
            <a:solidFill>
              <a:schemeClr val="bg2"/>
            </a:solidFill>
            <a:miter lim="800000"/>
            <a:headEnd/>
            <a:tailEnd/>
          </a:ln>
          <a:effectLst>
            <a:prstShdw prst="shdw18" dist="17961" dir="13500000">
              <a:schemeClr val="bg2">
                <a:gamma/>
                <a:shade val="60000"/>
                <a:invGamma/>
              </a:schemeClr>
            </a:prstShdw>
          </a:effectLst>
        </p:spPr>
        <p:txBody>
          <a:bodyPr wrap="none" anchor="ctr"/>
          <a:lstStyle/>
          <a:p>
            <a:endParaRPr lang="en-US"/>
          </a:p>
        </p:txBody>
      </p:sp>
      <p:sp>
        <p:nvSpPr>
          <p:cNvPr id="340998" name="Text Box 6"/>
          <p:cNvSpPr txBox="1">
            <a:spLocks noChangeArrowheads="1"/>
          </p:cNvSpPr>
          <p:nvPr/>
        </p:nvSpPr>
        <p:spPr bwMode="auto">
          <a:xfrm>
            <a:off x="2279650" y="2743200"/>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“Paul”</a:t>
            </a:r>
          </a:p>
        </p:txBody>
      </p:sp>
      <p:sp>
        <p:nvSpPr>
          <p:cNvPr id="340999" name="Text Box 7"/>
          <p:cNvSpPr txBox="1">
            <a:spLocks noChangeArrowheads="1"/>
          </p:cNvSpPr>
          <p:nvPr/>
        </p:nvSpPr>
        <p:spPr bwMode="auto">
          <a:xfrm>
            <a:off x="3502025" y="2740025"/>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“Mark”</a:t>
            </a:r>
          </a:p>
        </p:txBody>
      </p:sp>
      <p:sp>
        <p:nvSpPr>
          <p:cNvPr id="341000" name="Text Box 8"/>
          <p:cNvSpPr txBox="1">
            <a:spLocks noChangeArrowheads="1"/>
          </p:cNvSpPr>
          <p:nvPr/>
        </p:nvSpPr>
        <p:spPr bwMode="auto">
          <a:xfrm>
            <a:off x="4708525" y="2741613"/>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“John”</a:t>
            </a:r>
          </a:p>
        </p:txBody>
      </p:sp>
      <p:sp>
        <p:nvSpPr>
          <p:cNvPr id="341001" name="Text Box 9"/>
          <p:cNvSpPr txBox="1">
            <a:spLocks noChangeArrowheads="1"/>
          </p:cNvSpPr>
          <p:nvPr/>
        </p:nvSpPr>
        <p:spPr bwMode="auto">
          <a:xfrm>
            <a:off x="5889625" y="2735263"/>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“Paul”</a:t>
            </a:r>
          </a:p>
        </p:txBody>
      </p:sp>
      <p:sp>
        <p:nvSpPr>
          <p:cNvPr id="341002" name="Text Box 10"/>
          <p:cNvSpPr txBox="1">
            <a:spLocks noChangeArrowheads="1"/>
          </p:cNvSpPr>
          <p:nvPr/>
        </p:nvSpPr>
        <p:spPr bwMode="auto">
          <a:xfrm>
            <a:off x="7067550" y="2740025"/>
            <a:ext cx="871538" cy="346075"/>
          </a:xfrm>
          <a:prstGeom prst="rect">
            <a:avLst/>
          </a:prstGeom>
          <a:solidFill>
            <a:srgbClr val="DDDDDD"/>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n-US" sz="1600"/>
              <a:t>“Luke”</a:t>
            </a:r>
          </a:p>
        </p:txBody>
      </p:sp>
      <p:sp>
        <p:nvSpPr>
          <p:cNvPr id="341003" name="Text Box 11"/>
          <p:cNvSpPr txBox="1">
            <a:spLocks noChangeArrowheads="1"/>
          </p:cNvSpPr>
          <p:nvPr/>
        </p:nvSpPr>
        <p:spPr bwMode="auto">
          <a:xfrm>
            <a:off x="1025525" y="2019300"/>
            <a:ext cx="1033463" cy="1069975"/>
          </a:xfrm>
          <a:prstGeom prst="rect">
            <a:avLst/>
          </a:prstGeom>
          <a:noFill/>
          <a:ln w="9525">
            <a:noFill/>
            <a:miter lim="800000"/>
            <a:headEnd/>
            <a:tailEnd/>
          </a:ln>
          <a:effectLst/>
        </p:spPr>
        <p:txBody>
          <a:bodyPr>
            <a:spAutoFit/>
          </a:bodyPr>
          <a:lstStyle/>
          <a:p>
            <a:pPr>
              <a:spcBef>
                <a:spcPct val="50000"/>
              </a:spcBef>
            </a:pPr>
            <a:r>
              <a:rPr lang="en-US" sz="1600" b="1"/>
              <a:t>key</a:t>
            </a:r>
          </a:p>
          <a:p>
            <a:pPr>
              <a:spcBef>
                <a:spcPct val="50000"/>
              </a:spcBef>
            </a:pPr>
            <a:endParaRPr lang="en-US" sz="1600" b="1"/>
          </a:p>
          <a:p>
            <a:pPr>
              <a:spcBef>
                <a:spcPct val="50000"/>
              </a:spcBef>
            </a:pPr>
            <a:r>
              <a:rPr lang="en-US" sz="1600" b="1"/>
              <a:t>value</a:t>
            </a:r>
          </a:p>
        </p:txBody>
      </p:sp>
      <p:sp>
        <p:nvSpPr>
          <p:cNvPr id="341004" name="Text Box 12"/>
          <p:cNvSpPr txBox="1">
            <a:spLocks noChangeArrowheads="1"/>
          </p:cNvSpPr>
          <p:nvPr/>
        </p:nvSpPr>
        <p:spPr bwMode="auto">
          <a:xfrm>
            <a:off x="2398713" y="2022475"/>
            <a:ext cx="622300" cy="346075"/>
          </a:xfrm>
          <a:prstGeom prst="rect">
            <a:avLst/>
          </a:prstGeom>
          <a:solidFill>
            <a:schemeClr val="bg1"/>
          </a:solidFill>
          <a:ln w="9525">
            <a:solidFill>
              <a:schemeClr val="tx1"/>
            </a:solidFill>
            <a:miter lim="800000"/>
            <a:headEnd/>
            <a:tailEnd/>
          </a:ln>
          <a:effectLst/>
        </p:spPr>
        <p:txBody>
          <a:bodyPr>
            <a:spAutoFit/>
          </a:bodyPr>
          <a:lstStyle/>
          <a:p>
            <a:pPr>
              <a:spcBef>
                <a:spcPct val="50000"/>
              </a:spcBef>
            </a:pPr>
            <a:r>
              <a:rPr lang="en-US" sz="1600"/>
              <a:t>“Pl”</a:t>
            </a:r>
          </a:p>
        </p:txBody>
      </p:sp>
      <p:sp>
        <p:nvSpPr>
          <p:cNvPr id="341005" name="Text Box 13"/>
          <p:cNvSpPr txBox="1">
            <a:spLocks noChangeArrowheads="1"/>
          </p:cNvSpPr>
          <p:nvPr/>
        </p:nvSpPr>
        <p:spPr bwMode="auto">
          <a:xfrm>
            <a:off x="3621088" y="2019300"/>
            <a:ext cx="622300" cy="346075"/>
          </a:xfrm>
          <a:prstGeom prst="rect">
            <a:avLst/>
          </a:prstGeom>
          <a:solidFill>
            <a:schemeClr val="bg1"/>
          </a:solidFill>
          <a:ln w="9525">
            <a:solidFill>
              <a:schemeClr val="tx1"/>
            </a:solidFill>
            <a:miter lim="800000"/>
            <a:headEnd/>
            <a:tailEnd/>
          </a:ln>
          <a:effectLst/>
        </p:spPr>
        <p:txBody>
          <a:bodyPr>
            <a:spAutoFit/>
          </a:bodyPr>
          <a:lstStyle/>
          <a:p>
            <a:pPr>
              <a:spcBef>
                <a:spcPct val="50000"/>
              </a:spcBef>
            </a:pPr>
            <a:r>
              <a:rPr lang="en-US" sz="1600"/>
              <a:t>“Ma”</a:t>
            </a:r>
          </a:p>
        </p:txBody>
      </p:sp>
      <p:sp>
        <p:nvSpPr>
          <p:cNvPr id="341006" name="Text Box 14"/>
          <p:cNvSpPr txBox="1">
            <a:spLocks noChangeArrowheads="1"/>
          </p:cNvSpPr>
          <p:nvPr/>
        </p:nvSpPr>
        <p:spPr bwMode="auto">
          <a:xfrm>
            <a:off x="4827588" y="2020888"/>
            <a:ext cx="622300" cy="346075"/>
          </a:xfrm>
          <a:prstGeom prst="rect">
            <a:avLst/>
          </a:prstGeom>
          <a:solidFill>
            <a:schemeClr val="bg1"/>
          </a:solidFill>
          <a:ln w="9525">
            <a:solidFill>
              <a:schemeClr val="tx1"/>
            </a:solidFill>
            <a:miter lim="800000"/>
            <a:headEnd/>
            <a:tailEnd/>
          </a:ln>
          <a:effectLst/>
        </p:spPr>
        <p:txBody>
          <a:bodyPr>
            <a:spAutoFit/>
          </a:bodyPr>
          <a:lstStyle/>
          <a:p>
            <a:pPr>
              <a:spcBef>
                <a:spcPct val="50000"/>
              </a:spcBef>
            </a:pPr>
            <a:r>
              <a:rPr lang="en-US" sz="1600"/>
              <a:t>“Jn”</a:t>
            </a:r>
          </a:p>
        </p:txBody>
      </p:sp>
      <p:sp>
        <p:nvSpPr>
          <p:cNvPr id="341007" name="Text Box 15"/>
          <p:cNvSpPr txBox="1">
            <a:spLocks noChangeArrowheads="1"/>
          </p:cNvSpPr>
          <p:nvPr/>
        </p:nvSpPr>
        <p:spPr bwMode="auto">
          <a:xfrm>
            <a:off x="6008688" y="2014538"/>
            <a:ext cx="622300" cy="346075"/>
          </a:xfrm>
          <a:prstGeom prst="rect">
            <a:avLst/>
          </a:prstGeom>
          <a:solidFill>
            <a:schemeClr val="bg1"/>
          </a:solidFill>
          <a:ln w="9525">
            <a:solidFill>
              <a:schemeClr val="tx1"/>
            </a:solidFill>
            <a:miter lim="800000"/>
            <a:headEnd/>
            <a:tailEnd/>
          </a:ln>
          <a:effectLst/>
        </p:spPr>
        <p:txBody>
          <a:bodyPr>
            <a:spAutoFit/>
          </a:bodyPr>
          <a:lstStyle/>
          <a:p>
            <a:pPr>
              <a:spcBef>
                <a:spcPct val="50000"/>
              </a:spcBef>
            </a:pPr>
            <a:r>
              <a:rPr lang="en-US" sz="1600"/>
              <a:t>“ul”</a:t>
            </a:r>
          </a:p>
        </p:txBody>
      </p:sp>
      <p:sp>
        <p:nvSpPr>
          <p:cNvPr id="341008" name="Text Box 16"/>
          <p:cNvSpPr txBox="1">
            <a:spLocks noChangeArrowheads="1"/>
          </p:cNvSpPr>
          <p:nvPr/>
        </p:nvSpPr>
        <p:spPr bwMode="auto">
          <a:xfrm>
            <a:off x="7186613" y="2019300"/>
            <a:ext cx="622300" cy="346075"/>
          </a:xfrm>
          <a:prstGeom prst="rect">
            <a:avLst/>
          </a:prstGeom>
          <a:solidFill>
            <a:schemeClr val="bg1"/>
          </a:solidFill>
          <a:ln w="9525">
            <a:solidFill>
              <a:schemeClr val="tx1"/>
            </a:solidFill>
            <a:miter lim="800000"/>
            <a:headEnd/>
            <a:tailEnd/>
          </a:ln>
          <a:effectLst/>
        </p:spPr>
        <p:txBody>
          <a:bodyPr>
            <a:spAutoFit/>
          </a:bodyPr>
          <a:lstStyle/>
          <a:p>
            <a:pPr>
              <a:spcBef>
                <a:spcPct val="50000"/>
              </a:spcBef>
            </a:pPr>
            <a:r>
              <a:rPr lang="en-US" sz="1600"/>
              <a:t>“Le”</a:t>
            </a:r>
          </a:p>
        </p:txBody>
      </p:sp>
      <p:sp>
        <p:nvSpPr>
          <p:cNvPr id="341012" name="Rectangle 20">
            <a:hlinkClick r:id="" action="ppaction://noaction"/>
          </p:cNvPr>
          <p:cNvSpPr>
            <a:spLocks noChangeArrowheads="1"/>
          </p:cNvSpPr>
          <p:nvPr/>
        </p:nvSpPr>
        <p:spPr bwMode="auto">
          <a:xfrm>
            <a:off x="4614863" y="5591175"/>
            <a:ext cx="1949450" cy="639763"/>
          </a:xfrm>
          <a:prstGeom prst="rect">
            <a:avLst/>
          </a:prstGeom>
          <a:solidFill>
            <a:schemeClr val="tx2"/>
          </a:solidFill>
          <a:ln w="9525" algn="ctr">
            <a:noFill/>
            <a:miter lim="800000"/>
            <a:headEnd/>
            <a:tailEnd/>
          </a:ln>
          <a:effectLst>
            <a:prstShdw prst="shdw18" dist="17961" dir="13500000">
              <a:schemeClr val="tx2">
                <a:gamma/>
                <a:shade val="60000"/>
                <a:invGamma/>
              </a:schemeClr>
            </a:prstShdw>
          </a:effectLst>
        </p:spPr>
        <p:txBody>
          <a:bodyPr anchor="ctr"/>
          <a:lstStyle/>
          <a:p>
            <a:pPr algn="ctr" eaLnBrk="1" hangingPunct="1">
              <a:spcBef>
                <a:spcPct val="20000"/>
              </a:spcBef>
              <a:buClr>
                <a:schemeClr val="hlink"/>
              </a:buClr>
            </a:pPr>
            <a:r>
              <a:rPr lang="en-US" sz="1600" b="1" dirty="0" err="1">
                <a:solidFill>
                  <a:schemeClr val="bg1"/>
                </a:solidFill>
              </a:rPr>
              <a:t>LinkedHashMap</a:t>
            </a:r>
            <a:endParaRPr lang="en-US" sz="1600" b="1" dirty="0">
              <a:solidFill>
                <a:schemeClr val="bg1"/>
              </a:solidFill>
            </a:endParaRPr>
          </a:p>
        </p:txBody>
      </p:sp>
      <p:sp>
        <p:nvSpPr>
          <p:cNvPr id="341013" name="Rectangle 21">
            <a:hlinkClick r:id="" action="ppaction://noaction"/>
          </p:cNvPr>
          <p:cNvSpPr>
            <a:spLocks noChangeArrowheads="1"/>
          </p:cNvSpPr>
          <p:nvPr/>
        </p:nvSpPr>
        <p:spPr bwMode="auto">
          <a:xfrm>
            <a:off x="6781800" y="5591175"/>
            <a:ext cx="1730375" cy="639763"/>
          </a:xfrm>
          <a:prstGeom prst="rect">
            <a:avLst/>
          </a:prstGeom>
          <a:solidFill>
            <a:schemeClr val="tx2"/>
          </a:solidFill>
          <a:ln w="9525" algn="ctr">
            <a:noFill/>
            <a:miter lim="800000"/>
            <a:headEnd/>
            <a:tailEnd/>
          </a:ln>
          <a:effectLst>
            <a:prstShdw prst="shdw18" dist="17961" dir="13500000">
              <a:schemeClr val="tx2">
                <a:gamma/>
                <a:shade val="60000"/>
                <a:invGamma/>
              </a:schemeClr>
            </a:prstShdw>
          </a:effectLst>
        </p:spPr>
        <p:txBody>
          <a:bodyPr anchor="ctr"/>
          <a:lstStyle/>
          <a:p>
            <a:pPr algn="ctr" eaLnBrk="1" hangingPunct="1">
              <a:spcBef>
                <a:spcPct val="20000"/>
              </a:spcBef>
              <a:buClr>
                <a:schemeClr val="hlink"/>
              </a:buClr>
            </a:pPr>
            <a:r>
              <a:rPr lang="en-US" sz="1600" b="1" dirty="0" err="1">
                <a:solidFill>
                  <a:schemeClr val="bg1"/>
                </a:solidFill>
              </a:rPr>
              <a:t>TreeMap</a:t>
            </a:r>
            <a:endParaRPr lang="en-US" sz="1600" b="1" dirty="0">
              <a:solidFill>
                <a:schemeClr val="bg1"/>
              </a:solidFill>
            </a:endParaRPr>
          </a:p>
        </p:txBody>
      </p:sp>
      <p:sp>
        <p:nvSpPr>
          <p:cNvPr id="341014" name="Rectangle 22">
            <a:hlinkClick r:id="" action="ppaction://noaction"/>
          </p:cNvPr>
          <p:cNvSpPr>
            <a:spLocks noChangeArrowheads="1"/>
          </p:cNvSpPr>
          <p:nvPr/>
        </p:nvSpPr>
        <p:spPr bwMode="auto">
          <a:xfrm>
            <a:off x="2681288" y="5591175"/>
            <a:ext cx="1730375" cy="639763"/>
          </a:xfrm>
          <a:prstGeom prst="rect">
            <a:avLst/>
          </a:prstGeom>
          <a:solidFill>
            <a:schemeClr val="tx2"/>
          </a:solidFill>
          <a:ln w="9525" algn="ctr">
            <a:noFill/>
            <a:miter lim="800000"/>
            <a:headEnd/>
            <a:tailEnd/>
          </a:ln>
          <a:effectLst>
            <a:prstShdw prst="shdw18" dist="17961" dir="13500000">
              <a:schemeClr val="tx2">
                <a:gamma/>
                <a:shade val="60000"/>
                <a:invGamma/>
              </a:schemeClr>
            </a:prstShdw>
          </a:effectLst>
        </p:spPr>
        <p:txBody>
          <a:bodyPr anchor="ctr"/>
          <a:lstStyle/>
          <a:p>
            <a:pPr algn="ctr" eaLnBrk="1" hangingPunct="1">
              <a:spcBef>
                <a:spcPct val="20000"/>
              </a:spcBef>
              <a:buClr>
                <a:schemeClr val="hlink"/>
              </a:buClr>
            </a:pPr>
            <a:r>
              <a:rPr lang="en-US" sz="1600" b="1" dirty="0" err="1">
                <a:solidFill>
                  <a:schemeClr val="bg1"/>
                </a:solidFill>
              </a:rPr>
              <a:t>Hashtable</a:t>
            </a:r>
            <a:endParaRPr lang="en-US" sz="1600" b="1" dirty="0">
              <a:solidFill>
                <a:schemeClr val="bg1"/>
              </a:solidFill>
            </a:endParaRPr>
          </a:p>
        </p:txBody>
      </p:sp>
      <p:sp>
        <p:nvSpPr>
          <p:cNvPr id="341015" name="Rectangle 23">
            <a:hlinkClick r:id="" action="ppaction://noaction"/>
          </p:cNvPr>
          <p:cNvSpPr>
            <a:spLocks noChangeArrowheads="1"/>
          </p:cNvSpPr>
          <p:nvPr/>
        </p:nvSpPr>
        <p:spPr bwMode="auto">
          <a:xfrm>
            <a:off x="752475" y="5595938"/>
            <a:ext cx="1730375" cy="639762"/>
          </a:xfrm>
          <a:prstGeom prst="rect">
            <a:avLst/>
          </a:prstGeom>
          <a:solidFill>
            <a:schemeClr val="tx2"/>
          </a:solidFill>
          <a:ln w="9525" algn="ctr">
            <a:noFill/>
            <a:miter lim="800000"/>
            <a:headEnd/>
            <a:tailEnd/>
          </a:ln>
          <a:effectLst>
            <a:prstShdw prst="shdw18" dist="17961" dir="13500000">
              <a:schemeClr val="tx2">
                <a:gamma/>
                <a:shade val="60000"/>
                <a:invGamma/>
              </a:schemeClr>
            </a:prstShdw>
          </a:effectLst>
        </p:spPr>
        <p:txBody>
          <a:bodyPr anchor="ctr"/>
          <a:lstStyle/>
          <a:p>
            <a:pPr algn="ctr" eaLnBrk="1" hangingPunct="1">
              <a:spcBef>
                <a:spcPct val="20000"/>
              </a:spcBef>
              <a:buClr>
                <a:schemeClr val="hlink"/>
              </a:buClr>
            </a:pPr>
            <a:r>
              <a:rPr lang="en-US" sz="1600" b="1" dirty="0" err="1">
                <a:solidFill>
                  <a:schemeClr val="bg1"/>
                </a:solidFill>
              </a:rPr>
              <a:t>HashMap</a:t>
            </a:r>
            <a:endParaRPr lang="en-US" sz="1600" b="1" dirty="0">
              <a:solidFill>
                <a:schemeClr val="bg1"/>
              </a:solidFill>
            </a:endParaRPr>
          </a:p>
        </p:txBody>
      </p:sp>
    </p:spTree>
  </p:cSld>
  <p:clrMapOvr>
    <a:masterClrMapping/>
  </p:clrMapOvr>
  <p:transition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368280"/>
          </a:xfrm>
        </p:spPr>
        <p:txBody>
          <a:bodyPr>
            <a:normAutofit fontScale="90000"/>
          </a:bodyPr>
          <a:lstStyle/>
          <a:p>
            <a:pPr rtl="1"/>
            <a:r>
              <a:rPr lang="fa-IR" sz="3600" dirty="0">
                <a:solidFill>
                  <a:schemeClr val="bg1"/>
                </a:solidFill>
                <a:cs typeface="B Lotus" pitchFamily="2" charset="-78"/>
              </a:rPr>
              <a:t>فرق </a:t>
            </a:r>
            <a:r>
              <a:rPr lang="en-US" sz="3600" dirty="0">
                <a:solidFill>
                  <a:schemeClr val="bg1"/>
                </a:solidFill>
                <a:cs typeface="B Lotus" pitchFamily="2" charset="-78"/>
              </a:rPr>
              <a:t>List</a:t>
            </a:r>
            <a:r>
              <a:rPr lang="fa-IR" sz="3600" dirty="0">
                <a:solidFill>
                  <a:schemeClr val="bg1"/>
                </a:solidFill>
                <a:cs typeface="B Lotus" pitchFamily="2" charset="-78"/>
              </a:rPr>
              <a:t>  با </a:t>
            </a:r>
            <a:r>
              <a:rPr lang="en-US" sz="3600" dirty="0">
                <a:solidFill>
                  <a:schemeClr val="bg1"/>
                </a:solidFill>
                <a:cs typeface="B Lotus" pitchFamily="2" charset="-78"/>
              </a:rPr>
              <a:t>Set</a:t>
            </a:r>
            <a:r>
              <a:rPr lang="fa-IR" sz="3600" dirty="0">
                <a:solidFill>
                  <a:schemeClr val="bg1"/>
                </a:solidFill>
                <a:cs typeface="B Lotus" pitchFamily="2" charset="-78"/>
              </a:rPr>
              <a:t> با</a:t>
            </a:r>
            <a:r>
              <a:rPr lang="en-US" sz="3600" dirty="0">
                <a:solidFill>
                  <a:schemeClr val="bg1"/>
                </a:solidFill>
                <a:cs typeface="B Lotus" pitchFamily="2" charset="-78"/>
              </a:rPr>
              <a:t> Map</a:t>
            </a:r>
          </a:p>
        </p:txBody>
      </p:sp>
      <p:sp>
        <p:nvSpPr>
          <p:cNvPr id="3" name="Content Placeholder 2"/>
          <p:cNvSpPr>
            <a:spLocks noGrp="1"/>
          </p:cNvSpPr>
          <p:nvPr>
            <p:ph idx="1"/>
          </p:nvPr>
        </p:nvSpPr>
        <p:spPr>
          <a:xfrm>
            <a:off x="500034" y="1071546"/>
            <a:ext cx="8229600" cy="4525963"/>
          </a:xfrm>
        </p:spPr>
        <p:txBody>
          <a:bodyPr>
            <a:normAutofit/>
          </a:bodyPr>
          <a:lstStyle/>
          <a:p>
            <a:pPr algn="just" rtl="1"/>
            <a:r>
              <a:rPr lang="fa-IR" sz="2800" dirty="0">
                <a:cs typeface="B Lotus" pitchFamily="2" charset="-78"/>
              </a:rPr>
              <a:t>هریک از ساختمان داده‏های معرفی‏شده در</a:t>
            </a:r>
            <a:r>
              <a:rPr lang="en-US" sz="2800" dirty="0">
                <a:cs typeface="B Lotus" pitchFamily="2" charset="-78"/>
              </a:rPr>
              <a:t> </a:t>
            </a:r>
            <a:r>
              <a:rPr lang="fa-IR" sz="2800" dirty="0">
                <a:cs typeface="B Lotus" pitchFamily="2" charset="-78"/>
              </a:rPr>
              <a:t>چارچوب </a:t>
            </a:r>
            <a:r>
              <a:rPr lang="en-US" sz="2800" dirty="0">
                <a:cs typeface="B Lotus" pitchFamily="2" charset="-78"/>
              </a:rPr>
              <a:t>collections</a:t>
            </a:r>
            <a:r>
              <a:rPr lang="fa-IR" sz="2800" dirty="0">
                <a:cs typeface="B Lotus" pitchFamily="2" charset="-78"/>
              </a:rPr>
              <a:t> برای جستجو/دسترسی خاصی طراحی شده‏اند:</a:t>
            </a:r>
          </a:p>
          <a:p>
            <a:pPr lvl="1" algn="just" rtl="1"/>
            <a:r>
              <a:rPr lang="fa-IR" sz="2400" dirty="0">
                <a:cs typeface="B Lotus" pitchFamily="2" charset="-78"/>
              </a:rPr>
              <a:t>با داشتن یک </a:t>
            </a:r>
            <a:r>
              <a:rPr lang="en-US" sz="2400" dirty="0">
                <a:cs typeface="B Lotus" pitchFamily="2" charset="-78"/>
              </a:rPr>
              <a:t>Set</a:t>
            </a:r>
            <a:r>
              <a:rPr lang="fa-IR" sz="2400" dirty="0">
                <a:cs typeface="B Lotus" pitchFamily="2" charset="-78"/>
              </a:rPr>
              <a:t> می‏پرسیم: ”آیا آیتم </a:t>
            </a:r>
            <a:r>
              <a:rPr lang="en-US" sz="2400" dirty="0">
                <a:cs typeface="B Lotus" pitchFamily="2" charset="-78"/>
              </a:rPr>
              <a:t>X</a:t>
            </a:r>
            <a:r>
              <a:rPr lang="fa-IR" sz="2400" dirty="0">
                <a:cs typeface="B Lotus" pitchFamily="2" charset="-78"/>
              </a:rPr>
              <a:t> موجود است؟“</a:t>
            </a:r>
          </a:p>
          <a:p>
            <a:pPr lvl="1" algn="just" rtl="1"/>
            <a:r>
              <a:rPr lang="fa-IR" sz="2400" dirty="0">
                <a:cs typeface="B Lotus" pitchFamily="2" charset="-78"/>
              </a:rPr>
              <a:t>با داشتن یک </a:t>
            </a:r>
            <a:r>
              <a:rPr lang="en-US" sz="2400" dirty="0">
                <a:cs typeface="B Lotus" pitchFamily="2" charset="-78"/>
              </a:rPr>
              <a:t>List</a:t>
            </a:r>
            <a:r>
              <a:rPr lang="fa-IR" sz="2400" dirty="0">
                <a:cs typeface="B Lotus" pitchFamily="2" charset="-78"/>
              </a:rPr>
              <a:t> می‏گوییم: ” آیتم به شماره </a:t>
            </a:r>
            <a:r>
              <a:rPr lang="en-US" sz="2400" dirty="0">
                <a:cs typeface="B Lotus" pitchFamily="2" charset="-78"/>
              </a:rPr>
              <a:t>X</a:t>
            </a:r>
            <a:r>
              <a:rPr lang="fa-IR" sz="2400" dirty="0">
                <a:cs typeface="B Lotus" pitchFamily="2" charset="-78"/>
              </a:rPr>
              <a:t> را بدهید؟“</a:t>
            </a:r>
            <a:endParaRPr lang="en-US" sz="2400" dirty="0">
              <a:cs typeface="B Lotus" pitchFamily="2" charset="-78"/>
            </a:endParaRPr>
          </a:p>
          <a:p>
            <a:pPr lvl="1" algn="just" rtl="1"/>
            <a:r>
              <a:rPr lang="fa-IR" sz="2400" dirty="0">
                <a:cs typeface="B Lotus" pitchFamily="2" charset="-78"/>
              </a:rPr>
              <a:t>با داشتن یک </a:t>
            </a:r>
            <a:r>
              <a:rPr lang="en-US" sz="2400" dirty="0">
                <a:cs typeface="B Lotus" pitchFamily="2" charset="-78"/>
              </a:rPr>
              <a:t>Map</a:t>
            </a:r>
            <a:r>
              <a:rPr lang="fa-IR" sz="2400" dirty="0">
                <a:cs typeface="B Lotus" pitchFamily="2" charset="-78"/>
              </a:rPr>
              <a:t> می‏پرسیم: ”مقدار ذخیره‏شده برای کلید </a:t>
            </a:r>
            <a:r>
              <a:rPr lang="en-US" sz="2400" dirty="0">
                <a:cs typeface="B Lotus" pitchFamily="2" charset="-78"/>
              </a:rPr>
              <a:t>X</a:t>
            </a:r>
            <a:r>
              <a:rPr lang="fa-IR" sz="2400" dirty="0">
                <a:cs typeface="B Lotus" pitchFamily="2" charset="-78"/>
              </a:rPr>
              <a:t> را می‏خواهم.“</a:t>
            </a:r>
            <a:endParaRPr lang="en-US" sz="2400" dirty="0">
              <a:cs typeface="B Lotus" pitchFamily="2" charset="-78"/>
            </a:endParaRPr>
          </a:p>
          <a:p>
            <a:pPr lvl="1" algn="just" rtl="1"/>
            <a:endParaRPr lang="en-US" sz="2400" dirty="0">
              <a:cs typeface="B Lotus" pitchFamily="2" charset="-78"/>
            </a:endParaRPr>
          </a:p>
          <a:p>
            <a:endParaRPr lang="en-US" dirty="0"/>
          </a:p>
        </p:txBody>
      </p:sp>
      <p:sp>
        <p:nvSpPr>
          <p:cNvPr id="4" name="Slide Number Placeholder 3"/>
          <p:cNvSpPr>
            <a:spLocks noGrp="1"/>
          </p:cNvSpPr>
          <p:nvPr>
            <p:ph type="sldNum" sz="quarter" idx="12"/>
          </p:nvPr>
        </p:nvSpPr>
        <p:spPr/>
        <p:txBody>
          <a:bodyPr/>
          <a:lstStyle/>
          <a:p>
            <a:fld id="{79E6E8FA-B1EB-4DD1-845A-B9015C921A1C}" type="slidenum">
              <a:rPr lang="en-US" smtClean="0"/>
              <a:pPr/>
              <a:t>41</a:t>
            </a:fld>
            <a:endParaRPr lang="en-US"/>
          </a:p>
        </p:txBody>
      </p:sp>
      <p:pic>
        <p:nvPicPr>
          <p:cNvPr id="5" name="Picture 4"/>
          <p:cNvPicPr>
            <a:picLocks noChangeAspect="1" noChangeArrowheads="1"/>
          </p:cNvPicPr>
          <p:nvPr/>
        </p:nvPicPr>
        <p:blipFill>
          <a:blip r:embed="rId2"/>
          <a:srcRect/>
          <a:stretch>
            <a:fillRect/>
          </a:stretch>
        </p:blipFill>
        <p:spPr bwMode="auto">
          <a:xfrm>
            <a:off x="642910" y="3857628"/>
            <a:ext cx="1905000" cy="9779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en-US" sz="2800" dirty="0">
                <a:solidFill>
                  <a:schemeClr val="bg1"/>
                </a:solidFill>
                <a:cs typeface="B Lotus" pitchFamily="2" charset="-78"/>
              </a:rPr>
              <a:t>Map</a:t>
            </a:r>
            <a:r>
              <a:rPr lang="fa-IR" sz="2800" dirty="0">
                <a:solidFill>
                  <a:schemeClr val="bg1"/>
                </a:solidFill>
                <a:cs typeface="B Lotus" pitchFamily="2" charset="-78"/>
              </a:rPr>
              <a:t> چیست؟</a:t>
            </a:r>
            <a:endParaRPr lang="en-US" sz="2800" dirty="0">
              <a:solidFill>
                <a:schemeClr val="bg1"/>
              </a:solidFill>
              <a:cs typeface="B Lotus" pitchFamily="2" charset="-78"/>
            </a:endParaRPr>
          </a:p>
        </p:txBody>
      </p:sp>
      <p:sp>
        <p:nvSpPr>
          <p:cNvPr id="7" name="Content Placeholder 6"/>
          <p:cNvSpPr>
            <a:spLocks noGrp="1"/>
          </p:cNvSpPr>
          <p:nvPr>
            <p:ph idx="1"/>
          </p:nvPr>
        </p:nvSpPr>
        <p:spPr>
          <a:xfrm>
            <a:off x="428596" y="642918"/>
            <a:ext cx="8229600" cy="5000660"/>
          </a:xfrm>
        </p:spPr>
        <p:txBody>
          <a:bodyPr>
            <a:normAutofit fontScale="62500" lnSpcReduction="20000"/>
          </a:bodyPr>
          <a:lstStyle/>
          <a:p>
            <a:pPr algn="just" rtl="1">
              <a:lnSpc>
                <a:spcPct val="120000"/>
              </a:lnSpc>
            </a:pPr>
            <a:r>
              <a:rPr lang="en-US" sz="2800" b="1" dirty="0">
                <a:cs typeface="B Lotus" pitchFamily="2" charset="-78"/>
              </a:rPr>
              <a:t>map</a:t>
            </a:r>
            <a:r>
              <a:rPr lang="fa-IR" sz="2800" b="1" dirty="0">
                <a:cs typeface="B Lotus" pitchFamily="2" charset="-78"/>
              </a:rPr>
              <a:t>: یک</a:t>
            </a:r>
            <a:r>
              <a:rPr lang="en-US" sz="2800" dirty="0">
                <a:cs typeface="B Lotus" pitchFamily="2" charset="-78"/>
              </a:rPr>
              <a:t>collection </a:t>
            </a:r>
            <a:r>
              <a:rPr lang="fa-IR" sz="2800" dirty="0">
                <a:cs typeface="B Lotus" pitchFamily="2" charset="-78"/>
              </a:rPr>
              <a:t> بدون‏ترتیب است که مجموعه‏ای از اشیا (مقادیر مختلف) را به مجموعه‏ای از کلیدها مرتبط می‏کند، به شکلی که دسترسی به مقدار هر عنصر در زمانی بسیار اندک انجام شود. </a:t>
            </a:r>
          </a:p>
          <a:p>
            <a:pPr algn="just" rtl="1">
              <a:lnSpc>
                <a:spcPct val="120000"/>
              </a:lnSpc>
            </a:pPr>
            <a:r>
              <a:rPr lang="fa-IR" sz="2900" dirty="0">
                <a:cs typeface="B Lotus" pitchFamily="2" charset="-78"/>
              </a:rPr>
              <a:t>یک کلید به همراه مقدار آن یک جفت را تشکیل می‏دهند که در </a:t>
            </a:r>
            <a:r>
              <a:rPr lang="en-US" sz="2900" dirty="0">
                <a:cs typeface="B Lotus" pitchFamily="2" charset="-78"/>
              </a:rPr>
              <a:t>Map</a:t>
            </a:r>
            <a:r>
              <a:rPr lang="fa-IR" sz="2900" dirty="0">
                <a:cs typeface="B Lotus" pitchFamily="2" charset="-78"/>
              </a:rPr>
              <a:t> ذخیره می‏شوند. </a:t>
            </a:r>
            <a:endParaRPr lang="en-US" sz="2900" dirty="0">
              <a:cs typeface="B Lotus" pitchFamily="2" charset="-78"/>
            </a:endParaRPr>
          </a:p>
          <a:p>
            <a:pPr algn="just" rtl="1">
              <a:lnSpc>
                <a:spcPct val="120000"/>
              </a:lnSpc>
            </a:pPr>
            <a:r>
              <a:rPr lang="fa-IR" sz="2800" dirty="0">
                <a:cs typeface="B Lotus" pitchFamily="2" charset="-78"/>
              </a:rPr>
              <a:t>برای بازیابی یک مقدار باید کلید آن را داشته باشیم.</a:t>
            </a:r>
          </a:p>
          <a:p>
            <a:pPr algn="just" rtl="1">
              <a:lnSpc>
                <a:spcPct val="80000"/>
              </a:lnSpc>
            </a:pPr>
            <a:r>
              <a:rPr lang="fa-IR" sz="2800" dirty="0">
                <a:cs typeface="B Lotus" pitchFamily="2" charset="-78"/>
              </a:rPr>
              <a:t>هر کلید می‏تواند حداکثر یکبار ظاهر شود (تکرار کلیدها مجاز نیست).</a:t>
            </a:r>
          </a:p>
          <a:p>
            <a:pPr algn="just" rtl="1">
              <a:lnSpc>
                <a:spcPct val="80000"/>
              </a:lnSpc>
            </a:pPr>
            <a:r>
              <a:rPr lang="fa-IR" sz="2800" dirty="0">
                <a:cs typeface="B Lotus" pitchFamily="2" charset="-78"/>
              </a:rPr>
              <a:t>یک کلید به حداکثر یک عنصر نگاشت می‏شود. کلیدهای متفاوت ممکن است مقادیر یکسان داشته باشند. </a:t>
            </a:r>
          </a:p>
          <a:p>
            <a:pPr algn="just" rtl="1">
              <a:lnSpc>
                <a:spcPct val="80000"/>
              </a:lnSpc>
            </a:pPr>
            <a:r>
              <a:rPr lang="fa-IR" sz="2800" dirty="0">
                <a:cs typeface="B Lotus" pitchFamily="2" charset="-78"/>
              </a:rPr>
              <a:t>یک </a:t>
            </a:r>
            <a:r>
              <a:rPr lang="en-US" sz="2800" dirty="0">
                <a:cs typeface="B Lotus" pitchFamily="2" charset="-78"/>
              </a:rPr>
              <a:t>List</a:t>
            </a:r>
            <a:r>
              <a:rPr lang="fa-IR" sz="2800" dirty="0">
                <a:cs typeface="B Lotus" pitchFamily="2" charset="-78"/>
              </a:rPr>
              <a:t> در حقیقت </a:t>
            </a:r>
            <a:r>
              <a:rPr lang="en-US" sz="2800" dirty="0">
                <a:cs typeface="B Lotus" pitchFamily="2" charset="-78"/>
              </a:rPr>
              <a:t>Map</a:t>
            </a:r>
            <a:r>
              <a:rPr lang="fa-IR" sz="2800" dirty="0">
                <a:cs typeface="B Lotus" pitchFamily="2" charset="-78"/>
              </a:rPr>
              <a:t> ای است که کلیدهای آن مقادیر صحیح از 0</a:t>
            </a:r>
            <a:r>
              <a:rPr lang="en-US" sz="2800" dirty="0">
                <a:cs typeface="B Lotus" pitchFamily="2" charset="-78"/>
              </a:rPr>
              <a:t> </a:t>
            </a:r>
            <a:r>
              <a:rPr lang="fa-IR" sz="2800" dirty="0">
                <a:cs typeface="B Lotus" pitchFamily="2" charset="-78"/>
              </a:rPr>
              <a:t>تا </a:t>
            </a:r>
            <a:r>
              <a:rPr lang="en-US" sz="2800" dirty="0">
                <a:cs typeface="B Lotus" pitchFamily="2" charset="-78"/>
              </a:rPr>
              <a:t>size-1</a:t>
            </a:r>
            <a:r>
              <a:rPr lang="fa-IR" sz="2800" dirty="0">
                <a:cs typeface="B Lotus" pitchFamily="2" charset="-78"/>
              </a:rPr>
              <a:t> (طول لیست)</a:t>
            </a:r>
            <a:r>
              <a:rPr lang="en-US" sz="2800" dirty="0">
                <a:cs typeface="B Lotus" pitchFamily="2" charset="-78"/>
              </a:rPr>
              <a:t> </a:t>
            </a:r>
            <a:r>
              <a:rPr lang="fa-IR" sz="2800" dirty="0">
                <a:cs typeface="B Lotus" pitchFamily="2" charset="-78"/>
              </a:rPr>
              <a:t>هستند.</a:t>
            </a:r>
          </a:p>
          <a:p>
            <a:pPr lvl="1" algn="just" rtl="1"/>
            <a:r>
              <a:rPr lang="fa-IR" sz="2400" dirty="0">
                <a:cs typeface="B Lotus" pitchFamily="2" charset="-78"/>
              </a:rPr>
              <a:t>عملیات اصلی:</a:t>
            </a:r>
            <a:endParaRPr lang="en-GB" sz="2400" dirty="0">
              <a:cs typeface="B Lotus" pitchFamily="2" charset="-78"/>
            </a:endParaRPr>
          </a:p>
          <a:p>
            <a:pPr lvl="2"/>
            <a:r>
              <a:rPr lang="en-GB" sz="2000" b="1" dirty="0">
                <a:cs typeface="B Lotus" pitchFamily="2" charset="-78"/>
              </a:rPr>
              <a:t>put</a:t>
            </a:r>
            <a:r>
              <a:rPr lang="en-GB" sz="2000" dirty="0">
                <a:cs typeface="B Lotus" pitchFamily="2" charset="-78"/>
              </a:rPr>
              <a:t>(</a:t>
            </a:r>
            <a:r>
              <a:rPr lang="en-GB" sz="2000" dirty="0" err="1">
                <a:cs typeface="B Lotus" pitchFamily="2" charset="-78"/>
              </a:rPr>
              <a:t>key,value</a:t>
            </a:r>
            <a:r>
              <a:rPr lang="en-GB" sz="2000" dirty="0">
                <a:cs typeface="B Lotus" pitchFamily="2" charset="-78"/>
              </a:rPr>
              <a:t>)</a:t>
            </a:r>
            <a:br>
              <a:rPr lang="en-GB" sz="2000" dirty="0">
                <a:cs typeface="B Lotus" pitchFamily="2" charset="-78"/>
              </a:rPr>
            </a:br>
            <a:r>
              <a:rPr lang="en-GB" sz="2000" dirty="0">
                <a:cs typeface="B Lotus" pitchFamily="2" charset="-78"/>
              </a:rPr>
              <a:t>"Map this key to that value."</a:t>
            </a:r>
          </a:p>
          <a:p>
            <a:pPr lvl="2"/>
            <a:r>
              <a:rPr lang="en-GB" sz="2000" b="1" dirty="0">
                <a:cs typeface="B Lotus" pitchFamily="2" charset="-78"/>
              </a:rPr>
              <a:t>get</a:t>
            </a:r>
            <a:r>
              <a:rPr lang="en-GB" sz="2000" dirty="0">
                <a:cs typeface="B Lotus" pitchFamily="2" charset="-78"/>
              </a:rPr>
              <a:t>(key)</a:t>
            </a:r>
            <a:br>
              <a:rPr lang="en-GB" sz="2000" dirty="0">
                <a:cs typeface="B Lotus" pitchFamily="2" charset="-78"/>
              </a:rPr>
            </a:br>
            <a:r>
              <a:rPr lang="en-GB" sz="2000" dirty="0">
                <a:cs typeface="B Lotus" pitchFamily="2" charset="-78"/>
              </a:rPr>
              <a:t>"What value, if any, does this key map to?"</a:t>
            </a:r>
          </a:p>
          <a:p>
            <a:pPr lvl="1" algn="just" rtl="1"/>
            <a:r>
              <a:rPr lang="fa-IR" sz="2400" dirty="0">
                <a:cs typeface="B Lotus" pitchFamily="2" charset="-78"/>
              </a:rPr>
              <a:t>اسامی دیگر برای </a:t>
            </a:r>
            <a:r>
              <a:rPr lang="en-US" sz="2400" dirty="0">
                <a:cs typeface="B Lotus" pitchFamily="2" charset="-78"/>
              </a:rPr>
              <a:t>map</a:t>
            </a:r>
            <a:r>
              <a:rPr lang="fa-IR" sz="2400" dirty="0">
                <a:cs typeface="B Lotus" pitchFamily="2" charset="-78"/>
              </a:rPr>
              <a:t> ها:</a:t>
            </a:r>
            <a:endParaRPr lang="en-GB" sz="2400" dirty="0">
              <a:cs typeface="B Lotus" pitchFamily="2" charset="-78"/>
            </a:endParaRPr>
          </a:p>
          <a:p>
            <a:pPr lvl="2" algn="just"/>
            <a:r>
              <a:rPr lang="en-GB" sz="2000" dirty="0">
                <a:cs typeface="B Lotus" pitchFamily="2" charset="-78"/>
              </a:rPr>
              <a:t>hashes or hash tables</a:t>
            </a:r>
          </a:p>
          <a:p>
            <a:pPr lvl="2" algn="just"/>
            <a:r>
              <a:rPr lang="en-GB" sz="2000" dirty="0">
                <a:cs typeface="B Lotus" pitchFamily="2" charset="-78"/>
              </a:rPr>
              <a:t>dictionaries</a:t>
            </a:r>
          </a:p>
          <a:p>
            <a:pPr lvl="2" algn="just"/>
            <a:r>
              <a:rPr lang="en-GB" sz="2000" dirty="0">
                <a:cs typeface="B Lotus" pitchFamily="2" charset="-78"/>
              </a:rPr>
              <a:t>associative arrays</a:t>
            </a:r>
            <a:endParaRPr lang="fa-IR" sz="2000" dirty="0">
              <a:cs typeface="B Lotus" pitchFamily="2" charset="-78"/>
            </a:endParaRPr>
          </a:p>
          <a:p>
            <a:pPr lvl="2" algn="just"/>
            <a:r>
              <a:rPr lang="en-US" sz="2100" dirty="0">
                <a:cs typeface="B Lotus" pitchFamily="2" charset="-78"/>
              </a:rPr>
              <a:t>Table</a:t>
            </a:r>
            <a:endParaRPr lang="fa-IR" sz="2100" dirty="0">
              <a:cs typeface="B Lotus" pitchFamily="2" charset="-78"/>
            </a:endParaRPr>
          </a:p>
          <a:p>
            <a:pPr lvl="2" algn="just"/>
            <a:r>
              <a:rPr lang="en-US" sz="2100" dirty="0">
                <a:cs typeface="B Lotus" pitchFamily="2" charset="-78"/>
              </a:rPr>
              <a:t> search table</a:t>
            </a:r>
            <a:endParaRPr lang="fa-IR" sz="2100" dirty="0">
              <a:cs typeface="B Lotus" pitchFamily="2" charset="-78"/>
            </a:endParaRPr>
          </a:p>
          <a:p>
            <a:pPr lvl="2" algn="just"/>
            <a:r>
              <a:rPr lang="en-US" sz="2100" dirty="0">
                <a:cs typeface="B Lotus" pitchFamily="2" charset="-78"/>
              </a:rPr>
              <a:t>associative container</a:t>
            </a:r>
          </a:p>
          <a:p>
            <a:pPr lvl="2" algn="just"/>
            <a:endParaRPr lang="en-US" sz="2800" dirty="0">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42</a:t>
            </a:fld>
            <a:endParaRPr lang="en-US"/>
          </a:p>
        </p:txBody>
      </p:sp>
      <p:pic>
        <p:nvPicPr>
          <p:cNvPr id="1026" name="Picture 2"/>
          <p:cNvPicPr>
            <a:picLocks noChangeAspect="1" noChangeArrowheads="1"/>
          </p:cNvPicPr>
          <p:nvPr/>
        </p:nvPicPr>
        <p:blipFill>
          <a:blip r:embed="rId2"/>
          <a:srcRect/>
          <a:stretch>
            <a:fillRect/>
          </a:stretch>
        </p:blipFill>
        <p:spPr bwMode="auto">
          <a:xfrm>
            <a:off x="5357818" y="4000504"/>
            <a:ext cx="3214710" cy="2714620"/>
          </a:xfrm>
          <a:prstGeom prst="rect">
            <a:avLst/>
          </a:prstGeom>
          <a:noFill/>
          <a:ln w="9525">
            <a:noFill/>
            <a:miter lim="800000"/>
            <a:headEnd/>
            <a:tailEnd/>
          </a:ln>
          <a:effectLst/>
        </p:spPr>
      </p:pic>
      <p:pic>
        <p:nvPicPr>
          <p:cNvPr id="8" name="Picture 7"/>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1000100" y="5715016"/>
            <a:ext cx="1905000" cy="9779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linds(horizontal)">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blinds(horizontal)">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blinds(horizontal)">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blinds(horizontal)">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blinds(horizontal)">
                                      <p:cBhvr>
                                        <p:cTn id="52" dur="500"/>
                                        <p:tgtEl>
                                          <p:spTgt spid="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
                                            <p:txEl>
                                              <p:pRg st="10" end="10"/>
                                            </p:txEl>
                                          </p:spTgt>
                                        </p:tgtEl>
                                        <p:attrNameLst>
                                          <p:attrName>style.visibility</p:attrName>
                                        </p:attrNameLst>
                                      </p:cBhvr>
                                      <p:to>
                                        <p:strVal val="visible"/>
                                      </p:to>
                                    </p:set>
                                    <p:animEffect transition="in" filter="blinds(horizontal)">
                                      <p:cBhvr>
                                        <p:cTn id="57" dur="500"/>
                                        <p:tgtEl>
                                          <p:spTgt spid="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
                                            <p:txEl>
                                              <p:pRg st="11" end="11"/>
                                            </p:txEl>
                                          </p:spTgt>
                                        </p:tgtEl>
                                        <p:attrNameLst>
                                          <p:attrName>style.visibility</p:attrName>
                                        </p:attrNameLst>
                                      </p:cBhvr>
                                      <p:to>
                                        <p:strVal val="visible"/>
                                      </p:to>
                                    </p:set>
                                    <p:animEffect transition="in" filter="blinds(horizontal)">
                                      <p:cBhvr>
                                        <p:cTn id="62" dur="500"/>
                                        <p:tgtEl>
                                          <p:spTgt spid="7">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7">
                                            <p:txEl>
                                              <p:pRg st="12" end="12"/>
                                            </p:txEl>
                                          </p:spTgt>
                                        </p:tgtEl>
                                        <p:attrNameLst>
                                          <p:attrName>style.visibility</p:attrName>
                                        </p:attrNameLst>
                                      </p:cBhvr>
                                      <p:to>
                                        <p:strVal val="visible"/>
                                      </p:to>
                                    </p:set>
                                    <p:animEffect transition="in" filter="blinds(horizontal)">
                                      <p:cBhvr>
                                        <p:cTn id="67" dur="500"/>
                                        <p:tgtEl>
                                          <p:spTgt spid="7">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
                                            <p:txEl>
                                              <p:pRg st="13" end="13"/>
                                            </p:txEl>
                                          </p:spTgt>
                                        </p:tgtEl>
                                        <p:attrNameLst>
                                          <p:attrName>style.visibility</p:attrName>
                                        </p:attrNameLst>
                                      </p:cBhvr>
                                      <p:to>
                                        <p:strVal val="visible"/>
                                      </p:to>
                                    </p:set>
                                    <p:animEffect transition="in" filter="blinds(horizontal)">
                                      <p:cBhvr>
                                        <p:cTn id="72" dur="500"/>
                                        <p:tgtEl>
                                          <p:spTgt spid="7">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7">
                                            <p:txEl>
                                              <p:pRg st="14" end="14"/>
                                            </p:txEl>
                                          </p:spTgt>
                                        </p:tgtEl>
                                        <p:attrNameLst>
                                          <p:attrName>style.visibility</p:attrName>
                                        </p:attrNameLst>
                                      </p:cBhvr>
                                      <p:to>
                                        <p:strVal val="visible"/>
                                      </p:to>
                                    </p:set>
                                    <p:animEffect transition="in" filter="blinds(horizontal)">
                                      <p:cBhvr>
                                        <p:cTn id="77" dur="500"/>
                                        <p:tgtEl>
                                          <p:spTgt spid="7">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7">
                                            <p:txEl>
                                              <p:pRg st="15" end="15"/>
                                            </p:txEl>
                                          </p:spTgt>
                                        </p:tgtEl>
                                        <p:attrNameLst>
                                          <p:attrName>style.visibility</p:attrName>
                                        </p:attrNameLst>
                                      </p:cBhvr>
                                      <p:to>
                                        <p:strVal val="visible"/>
                                      </p:to>
                                    </p:set>
                                    <p:animEffect transition="in" filter="blinds(horizontal)">
                                      <p:cBhvr>
                                        <p:cTn id="82" dur="500"/>
                                        <p:tgtEl>
                                          <p:spTgt spid="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368280"/>
          </a:xfrm>
        </p:spPr>
        <p:txBody>
          <a:bodyPr>
            <a:noAutofit/>
          </a:bodyPr>
          <a:lstStyle/>
          <a:p>
            <a:pPr rtl="1"/>
            <a:r>
              <a:rPr lang="fa-IR" sz="2400" dirty="0">
                <a:solidFill>
                  <a:schemeClr val="bg1"/>
                </a:solidFill>
                <a:cs typeface="B Lotus" pitchFamily="2" charset="-78"/>
              </a:rPr>
              <a:t>نگاهی دوباره به چارچوب </a:t>
            </a:r>
            <a:r>
              <a:rPr lang="en-US" sz="2400" dirty="0">
                <a:solidFill>
                  <a:schemeClr val="bg1"/>
                </a:solidFill>
                <a:cs typeface="B Lotus" pitchFamily="2" charset="-78"/>
              </a:rPr>
              <a:t>collection</a:t>
            </a:r>
          </a:p>
        </p:txBody>
      </p:sp>
      <p:sp>
        <p:nvSpPr>
          <p:cNvPr id="4" name="Slide Number Placeholder 3"/>
          <p:cNvSpPr>
            <a:spLocks noGrp="1"/>
          </p:cNvSpPr>
          <p:nvPr>
            <p:ph type="sldNum" sz="quarter" idx="12"/>
          </p:nvPr>
        </p:nvSpPr>
        <p:spPr/>
        <p:txBody>
          <a:bodyPr/>
          <a:lstStyle/>
          <a:p>
            <a:fld id="{79E6E8FA-B1EB-4DD1-845A-B9015C921A1C}" type="slidenum">
              <a:rPr lang="en-US" smtClean="0"/>
              <a:pPr/>
              <a:t>43</a:t>
            </a:fld>
            <a:endParaRPr lang="en-US"/>
          </a:p>
        </p:txBody>
      </p:sp>
      <p:pic>
        <p:nvPicPr>
          <p:cNvPr id="1026"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2285984" y="1000108"/>
            <a:ext cx="5981700" cy="2371725"/>
          </a:xfrm>
          <a:prstGeom prst="rect">
            <a:avLst/>
          </a:prstGeom>
          <a:noFill/>
          <a:ln w="9525">
            <a:noFill/>
            <a:miter lim="800000"/>
            <a:headEnd/>
            <a:tailEnd/>
          </a:ln>
          <a:effectLst/>
        </p:spPr>
      </p:pic>
      <p:sp>
        <p:nvSpPr>
          <p:cNvPr id="9" name="TextBox 8"/>
          <p:cNvSpPr txBox="1"/>
          <p:nvPr/>
        </p:nvSpPr>
        <p:spPr>
          <a:xfrm>
            <a:off x="428596" y="1000108"/>
            <a:ext cx="3429024" cy="668142"/>
          </a:xfrm>
          <a:prstGeom prst="rect">
            <a:avLst/>
          </a:prstGeom>
        </p:spPr>
        <p:style>
          <a:lnRef idx="0">
            <a:schemeClr val="accent1"/>
          </a:lnRef>
          <a:fillRef idx="3">
            <a:schemeClr val="accent1"/>
          </a:fillRef>
          <a:effectRef idx="3">
            <a:schemeClr val="accent1"/>
          </a:effectRef>
          <a:fontRef idx="minor">
            <a:schemeClr val="lt1"/>
          </a:fontRef>
        </p:style>
        <p:txBody>
          <a:bodyPr wrap="square" lIns="18000" tIns="10800" rIns="18000" bIns="10800" rtlCol="0">
            <a:spAutoFit/>
          </a:bodyPr>
          <a:lstStyle/>
          <a:p>
            <a:pPr algn="just" rtl="1"/>
            <a:r>
              <a:rPr lang="fa-IR" sz="1400" dirty="0">
                <a:solidFill>
                  <a:schemeClr val="bg1"/>
                </a:solidFill>
                <a:cs typeface="B Lotus" pitchFamily="2" charset="-78"/>
              </a:rPr>
              <a:t>توجه داشته باشید که واسط </a:t>
            </a:r>
            <a:r>
              <a:rPr lang="en-US" sz="1400" dirty="0">
                <a:solidFill>
                  <a:schemeClr val="bg1"/>
                </a:solidFill>
                <a:cs typeface="B Lotus" pitchFamily="2" charset="-78"/>
              </a:rPr>
              <a:t>Map</a:t>
            </a:r>
            <a:r>
              <a:rPr lang="fa-IR" sz="1400" dirty="0">
                <a:solidFill>
                  <a:schemeClr val="bg1"/>
                </a:solidFill>
                <a:cs typeface="B Lotus" pitchFamily="2" charset="-78"/>
              </a:rPr>
              <a:t> درواقع واسط </a:t>
            </a:r>
            <a:r>
              <a:rPr lang="en-US" sz="1400" dirty="0">
                <a:solidFill>
                  <a:schemeClr val="bg1"/>
                </a:solidFill>
                <a:cs typeface="B Lotus" pitchFamily="2" charset="-78"/>
              </a:rPr>
              <a:t>Collection</a:t>
            </a:r>
            <a:r>
              <a:rPr lang="fa-IR" sz="1400" dirty="0">
                <a:solidFill>
                  <a:schemeClr val="bg1"/>
                </a:solidFill>
                <a:cs typeface="B Lotus" pitchFamily="2" charset="-78"/>
              </a:rPr>
              <a:t> را ارثبری نمی‏کند، با این‏حال </a:t>
            </a:r>
            <a:r>
              <a:rPr lang="en-US" sz="1400" dirty="0">
                <a:solidFill>
                  <a:schemeClr val="bg1"/>
                </a:solidFill>
                <a:cs typeface="B Lotus" pitchFamily="2" charset="-78"/>
              </a:rPr>
              <a:t>Map</a:t>
            </a:r>
            <a:r>
              <a:rPr lang="fa-IR" sz="1400" dirty="0">
                <a:solidFill>
                  <a:schemeClr val="bg1"/>
                </a:solidFill>
                <a:cs typeface="B Lotus" pitchFamily="2" charset="-78"/>
              </a:rPr>
              <a:t> بخشی از چارچوب </a:t>
            </a:r>
            <a:r>
              <a:rPr lang="en-US" sz="1400" dirty="0">
                <a:solidFill>
                  <a:schemeClr val="bg1"/>
                </a:solidFill>
                <a:cs typeface="B Lotus" pitchFamily="2" charset="-78"/>
              </a:rPr>
              <a:t>collection</a:t>
            </a:r>
            <a:r>
              <a:rPr lang="fa-IR" sz="1400" dirty="0">
                <a:solidFill>
                  <a:schemeClr val="bg1"/>
                </a:solidFill>
                <a:cs typeface="B Lotus" pitchFamily="2" charset="-78"/>
              </a:rPr>
              <a:t> به حساب می‏آید.</a:t>
            </a:r>
            <a:endParaRPr lang="en-US" sz="1400" dirty="0">
              <a:solidFill>
                <a:schemeClr val="bg1"/>
              </a:solidFill>
              <a:cs typeface="B Lotus" pitchFamily="2" charset="-78"/>
            </a:endParaRPr>
          </a:p>
        </p:txBody>
      </p:sp>
      <p:pic>
        <p:nvPicPr>
          <p:cNvPr id="1027" name="Picture 3"/>
          <p:cNvPicPr>
            <a:picLocks noChangeAspect="1" noChangeArrowheads="1"/>
          </p:cNvPicPr>
          <p:nvPr/>
        </p:nvPicPr>
        <p:blipFill>
          <a:blip r:embed="rId3"/>
          <a:srcRect/>
          <a:stretch>
            <a:fillRect/>
          </a:stretch>
        </p:blipFill>
        <p:spPr bwMode="auto">
          <a:xfrm>
            <a:off x="1785918" y="3857628"/>
            <a:ext cx="5705475" cy="2524125"/>
          </a:xfrm>
          <a:prstGeom prst="rect">
            <a:avLst/>
          </a:prstGeom>
          <a:noFill/>
          <a:ln w="9525">
            <a:noFill/>
            <a:miter lim="800000"/>
            <a:headEnd/>
            <a:tailEnd/>
          </a:ln>
          <a:effec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fa-IR" sz="3100" dirty="0">
                <a:solidFill>
                  <a:schemeClr val="bg1"/>
                </a:solidFill>
                <a:cs typeface="B Lotus" pitchFamily="2" charset="-78"/>
              </a:rPr>
              <a:t>واسط </a:t>
            </a:r>
            <a:r>
              <a:rPr lang="en-US" sz="2800" dirty="0">
                <a:solidFill>
                  <a:schemeClr val="bg1"/>
                </a:solidFill>
                <a:cs typeface="B Lotus" pitchFamily="2" charset="-78"/>
              </a:rPr>
              <a:t>Map</a:t>
            </a:r>
          </a:p>
        </p:txBody>
      </p:sp>
      <p:sp>
        <p:nvSpPr>
          <p:cNvPr id="5" name="Slide Number Placeholder 4"/>
          <p:cNvSpPr>
            <a:spLocks noGrp="1"/>
          </p:cNvSpPr>
          <p:nvPr>
            <p:ph type="sldNum" sz="quarter" idx="12"/>
          </p:nvPr>
        </p:nvSpPr>
        <p:spPr/>
        <p:txBody>
          <a:bodyPr/>
          <a:lstStyle/>
          <a:p>
            <a:fld id="{E2E32164-7D64-46C2-AECF-5ED4A3D0BCDA}" type="slidenum">
              <a:rPr lang="en-US" smtClean="0"/>
              <a:pPr/>
              <a:t>44</a:t>
            </a:fld>
            <a:endParaRPr lang="en-US"/>
          </a:p>
        </p:txBody>
      </p:sp>
      <p:sp>
        <p:nvSpPr>
          <p:cNvPr id="8" name="Rectangle 3"/>
          <p:cNvSpPr txBox="1">
            <a:spLocks noChangeArrowheads="1"/>
          </p:cNvSpPr>
          <p:nvPr/>
        </p:nvSpPr>
        <p:spPr>
          <a:xfrm>
            <a:off x="755576" y="1000108"/>
            <a:ext cx="8388424" cy="5857892"/>
          </a:xfrm>
          <a:prstGeom prst="rect">
            <a:avLst/>
          </a:prstGeom>
        </p:spPr>
        <p:txBody>
          <a:bodyPr vert="horz" lIns="91440" tIns="45720" rIns="91440" bIns="18000" rtlCol="0">
            <a:normAutofit fontScale="70000" lnSpcReduction="20000"/>
          </a:bodyPr>
          <a:lstStyle/>
          <a:p>
            <a:pPr marL="342900" lvl="1" indent="-342900">
              <a:lnSpc>
                <a:spcPct val="110000"/>
              </a:lnSpc>
              <a:spcBef>
                <a:spcPct val="20000"/>
              </a:spcBef>
              <a:defRPr/>
            </a:pP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public interface Map { </a:t>
            </a:r>
            <a:b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b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Object put(Object key, Object value); //</a:t>
            </a:r>
            <a:r>
              <a:rPr lang="en-US" sz="2100" dirty="0">
                <a:solidFill>
                  <a:srgbClr val="0070C0"/>
                </a:solidFill>
              </a:rPr>
              <a:t>Associates the specified value with the specified key in map</a:t>
            </a:r>
          </a:p>
          <a:p>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lang="en-GB" sz="2000" dirty="0">
                <a:latin typeface="Times New Roman" pitchFamily="18" charset="0"/>
                <a:cs typeface="Times New Roman" pitchFamily="18" charset="0"/>
              </a:rPr>
              <a:t>- Object </a:t>
            </a:r>
            <a:r>
              <a:rPr lang="en-US" sz="2000" dirty="0">
                <a:latin typeface="Times New Roman" pitchFamily="18" charset="0"/>
                <a:cs typeface="Times New Roman" pitchFamily="18" charset="0"/>
              </a:rPr>
              <a:t>get(Object key) //</a:t>
            </a:r>
            <a:r>
              <a:rPr lang="en-US" sz="2100" dirty="0">
                <a:solidFill>
                  <a:srgbClr val="0070C0"/>
                </a:solidFill>
              </a:rPr>
              <a:t>Returns the value to which this map maps the specified key.</a:t>
            </a:r>
          </a:p>
          <a:p>
            <a:pPr marL="342900" lvl="1" indent="-342900">
              <a:lnSpc>
                <a:spcPct val="110000"/>
              </a:lnSpc>
              <a:spcBef>
                <a:spcPct val="20000"/>
              </a:spcBef>
              <a:defRPr/>
            </a:pP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 Object remove(Object key); </a:t>
            </a:r>
            <a:b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b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boolean containsKey(Object key);       </a:t>
            </a:r>
            <a:r>
              <a:rPr kumimoji="0" lang="fa-IR"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a:t>
            </a:r>
            <a:r>
              <a:rPr lang="en-US" sz="2000" dirty="0">
                <a:solidFill>
                  <a:srgbClr val="0070C0"/>
                </a:solidFill>
              </a:rPr>
              <a:t>Returns true if this map contains a mapping for the specified key.</a:t>
            </a:r>
          </a:p>
          <a:p>
            <a:pPr marL="342900" lvl="1" indent="-342900">
              <a:lnSpc>
                <a:spcPct val="110000"/>
              </a:lnSpc>
              <a:spcBef>
                <a:spcPct val="20000"/>
              </a:spcBef>
              <a:defRPr/>
            </a:pPr>
            <a:r>
              <a:rPr kumimoji="0" lang="fa-IR"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boolean containsValue(Object value);</a:t>
            </a:r>
            <a:r>
              <a:rPr lang="en-US" sz="2000" dirty="0">
                <a:latin typeface="Times New Roman" pitchFamily="18" charset="0"/>
                <a:cs typeface="Times New Roman" pitchFamily="18" charset="0"/>
              </a:rPr>
              <a:t>   </a:t>
            </a:r>
            <a:r>
              <a:rPr kumimoji="0" lang="fa-IR"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lang="en-US" sz="2100" dirty="0">
                <a:solidFill>
                  <a:srgbClr val="0070C0"/>
                </a:solidFill>
              </a:rPr>
              <a:t>Returns true if this map maps one or more keys to the specified value.</a:t>
            </a:r>
          </a:p>
          <a:p>
            <a:pPr marL="342900" indent="-342900">
              <a:lnSpc>
                <a:spcPct val="110000"/>
              </a:lnSpc>
              <a:spcBef>
                <a:spcPct val="20000"/>
              </a:spcBef>
              <a:defRPr/>
            </a:pP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 int size();    //</a:t>
            </a:r>
            <a:r>
              <a:rPr lang="en-US" sz="2000" dirty="0">
                <a:solidFill>
                  <a:srgbClr val="0070C0"/>
                </a:solidFill>
              </a:rPr>
              <a:t>Returns the number of key-value mappings</a:t>
            </a:r>
          </a:p>
          <a:p>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 </a:t>
            </a:r>
            <a:r>
              <a:rPr lang="en-US" sz="2100" dirty="0">
                <a:latin typeface="Times New Roman" pitchFamily="18" charset="0"/>
                <a:cs typeface="Times New Roman" pitchFamily="18" charset="0"/>
              </a:rPr>
              <a:t>Set&lt;K&gt; keySet()  //</a:t>
            </a:r>
            <a:r>
              <a:rPr lang="en-US" sz="2100" dirty="0">
                <a:solidFill>
                  <a:srgbClr val="0070C0"/>
                </a:solidFill>
              </a:rPr>
              <a:t>Returns a Set view of the keys contained in this map. </a:t>
            </a:r>
          </a:p>
          <a:p>
            <a:pPr marL="342900" indent="-342900">
              <a:lnSpc>
                <a:spcPct val="110000"/>
              </a:lnSpc>
              <a:spcBef>
                <a:spcPct val="20000"/>
              </a:spcBef>
              <a:defRPr/>
            </a:pPr>
            <a:r>
              <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 boolean isEmpty();  //</a:t>
            </a:r>
            <a:r>
              <a:rPr lang="en-US" sz="2100" dirty="0">
                <a:solidFill>
                  <a:srgbClr val="0070C0"/>
                </a:solidFill>
              </a:rPr>
              <a:t>Returns true if this map contains no key-value mappings.</a:t>
            </a:r>
          </a:p>
          <a:p>
            <a:pPr marL="342900" marR="0" lvl="0" indent="-342900" algn="l" defTabSz="914400" rtl="0" eaLnBrk="1" fontAlgn="auto" latinLnBrk="0" hangingPunct="1">
              <a:lnSpc>
                <a:spcPct val="110000"/>
              </a:lnSpc>
              <a:spcBef>
                <a:spcPct val="20000"/>
              </a:spcBef>
              <a:spcAft>
                <a:spcPts val="0"/>
              </a:spcAft>
              <a:buClrTx/>
              <a:buSzTx/>
              <a:buFont typeface="Wingdings" pitchFamily="2" charset="2"/>
              <a:buNone/>
              <a:tabLst/>
              <a:defRPr/>
            </a:pPr>
            <a:endParaRPr kumimoji="0" lang="en-GB"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10000"/>
              </a:lnSpc>
              <a:spcBef>
                <a:spcPct val="20000"/>
              </a:spcBef>
              <a:spcAft>
                <a:spcPts val="0"/>
              </a:spcAft>
              <a:buClrTx/>
              <a:buSzTx/>
              <a:buFont typeface="Wingdings" pitchFamily="2" charset="2"/>
              <a:buNone/>
              <a:tabLst/>
              <a:defRPr/>
            </a:pPr>
            <a:endParaRPr lang="en-GB" sz="2000" dirty="0">
              <a:latin typeface="Times New Roman" pitchFamily="18" charset="0"/>
              <a:ea typeface="+mn-ea"/>
              <a:cs typeface="Times New Roman" pitchFamily="18" charset="0"/>
            </a:endParaRPr>
          </a:p>
          <a:p>
            <a:pPr marL="342900" marR="0" lvl="0" indent="-342900" algn="l" defTabSz="914400" rtl="0" eaLnBrk="1" fontAlgn="auto" latinLnBrk="0" hangingPunct="1">
              <a:lnSpc>
                <a:spcPct val="110000"/>
              </a:lnSpc>
              <a:spcBef>
                <a:spcPct val="20000"/>
              </a:spcBef>
              <a:spcAft>
                <a:spcPts val="0"/>
              </a:spcAft>
              <a:buClrTx/>
              <a:buSzTx/>
              <a:buFont typeface="Wingdings" pitchFamily="2" charset="2"/>
              <a:buNone/>
              <a:tabLst/>
              <a:defRPr/>
            </a:pPr>
            <a:br>
              <a:rPr kumimoji="0" lang="en-GB" sz="2000" b="0" i="0" u="none" strike="noStrike" kern="1200" cap="none" spc="0" normalizeH="0" baseline="0" noProof="0" dirty="0">
                <a:ln>
                  <a:noFill/>
                </a:ln>
                <a:solidFill>
                  <a:schemeClr val="tx1"/>
                </a:solidFill>
                <a:effectLst/>
                <a:uLnTx/>
                <a:uFillTx/>
                <a:latin typeface="Courier New" pitchFamily="49" charset="0"/>
                <a:ea typeface="+mn-ea"/>
                <a:cs typeface="+mn-cs"/>
              </a:rPr>
            </a:br>
            <a:br>
              <a:rPr kumimoji="0" lang="en-GB" sz="2000" b="0" i="0" u="none" strike="noStrike" kern="1200" cap="none" spc="0" normalizeH="0" baseline="0" noProof="0" dirty="0">
                <a:ln>
                  <a:noFill/>
                </a:ln>
                <a:solidFill>
                  <a:schemeClr val="tx1"/>
                </a:solidFill>
                <a:effectLst/>
                <a:uLnTx/>
                <a:uFillTx/>
                <a:latin typeface="Courier New" pitchFamily="49" charset="0"/>
                <a:ea typeface="+mn-ea"/>
                <a:cs typeface="+mn-cs"/>
              </a:rPr>
            </a:br>
            <a:r>
              <a:rPr lang="en-GB" sz="2600" dirty="0">
                <a:latin typeface="Times New Roman" pitchFamily="18" charset="0"/>
                <a:cs typeface="Times New Roman" pitchFamily="18" charset="0"/>
              </a:rPr>
              <a:t>void putAll(Map map); </a:t>
            </a:r>
            <a:endParaRPr lang="fa-IR" sz="2600" dirty="0">
              <a:latin typeface="Times New Roman" pitchFamily="18" charset="0"/>
              <a:cs typeface="Times New Roman" pitchFamily="18" charset="0"/>
            </a:endParaRPr>
          </a:p>
          <a:p>
            <a:pPr marL="342900" lvl="0" indent="-342900" algn="r" rtl="1">
              <a:lnSpc>
                <a:spcPct val="170000"/>
              </a:lnSpc>
              <a:spcBef>
                <a:spcPct val="20000"/>
              </a:spcBef>
              <a:buFont typeface="Arial" pitchFamily="34" charset="0"/>
              <a:buChar char="•"/>
              <a:defRPr/>
            </a:pPr>
            <a:r>
              <a:rPr lang="en-US" sz="2600" dirty="0">
                <a:solidFill>
                  <a:srgbClr val="FF0000"/>
                </a:solidFill>
                <a:latin typeface="Times New Roman" pitchFamily="18" charset="0"/>
                <a:cs typeface="Times New Roman" pitchFamily="18" charset="0"/>
              </a:rPr>
              <a:t>Map</a:t>
            </a:r>
            <a:r>
              <a:rPr lang="fa-IR" sz="2600" dirty="0">
                <a:latin typeface="Courier New" pitchFamily="49" charset="0"/>
                <a:cs typeface="B Lotus" pitchFamily="2" charset="-78"/>
              </a:rPr>
              <a:t> مشخص شده در آرگومان را در</a:t>
            </a:r>
            <a:r>
              <a:rPr lang="fa-IR" sz="2600" dirty="0">
                <a:solidFill>
                  <a:srgbClr val="FF0000"/>
                </a:solidFill>
                <a:latin typeface="Times New Roman" pitchFamily="18" charset="0"/>
                <a:cs typeface="Times New Roman" pitchFamily="18" charset="0"/>
              </a:rPr>
              <a:t> </a:t>
            </a:r>
            <a:r>
              <a:rPr lang="en-US" sz="2600" dirty="0">
                <a:solidFill>
                  <a:srgbClr val="FF0000"/>
                </a:solidFill>
                <a:latin typeface="Times New Roman" pitchFamily="18" charset="0"/>
                <a:cs typeface="Times New Roman" pitchFamily="18" charset="0"/>
              </a:rPr>
              <a:t>Map</a:t>
            </a:r>
            <a:r>
              <a:rPr lang="fa-IR" sz="2600" dirty="0">
                <a:latin typeface="Courier New" pitchFamily="49" charset="0"/>
                <a:cs typeface="B Lotus" pitchFamily="2" charset="-78"/>
              </a:rPr>
              <a:t> فراخواننده متد کپی می‏کند. در مثال زیر، محتوای </a:t>
            </a:r>
            <a:r>
              <a:rPr lang="en-US" sz="2300" dirty="0">
                <a:solidFill>
                  <a:schemeClr val="accent2"/>
                </a:solidFill>
                <a:latin typeface="Verdana" pitchFamily="34" charset="0"/>
              </a:rPr>
              <a:t>oldMap</a:t>
            </a:r>
            <a:r>
              <a:rPr lang="fa-IR" sz="2600" dirty="0">
                <a:latin typeface="Courier New" pitchFamily="49" charset="0"/>
                <a:cs typeface="B Lotus" pitchFamily="2" charset="-78"/>
              </a:rPr>
              <a:t> در </a:t>
            </a:r>
            <a:r>
              <a:rPr lang="en-US" sz="2300" dirty="0">
                <a:solidFill>
                  <a:schemeClr val="accent2"/>
                </a:solidFill>
                <a:latin typeface="Verdana" pitchFamily="34" charset="0"/>
              </a:rPr>
              <a:t>newMap</a:t>
            </a:r>
            <a:r>
              <a:rPr lang="fa-IR" sz="2600" dirty="0">
                <a:latin typeface="Courier New" pitchFamily="49" charset="0"/>
                <a:cs typeface="B Lotus" pitchFamily="2" charset="-78"/>
              </a:rPr>
              <a:t> کپی می‏شود.</a:t>
            </a:r>
          </a:p>
          <a:p>
            <a:pPr marL="342900" marR="0" lvl="0" indent="-342900" algn="r" defTabSz="914400" rtl="1" eaLnBrk="1" fontAlgn="auto" latinLnBrk="0" hangingPunct="1">
              <a:lnSpc>
                <a:spcPct val="90000"/>
              </a:lnSpc>
              <a:spcBef>
                <a:spcPct val="20000"/>
              </a:spcBef>
              <a:spcAft>
                <a:spcPts val="0"/>
              </a:spcAft>
              <a:buClrTx/>
              <a:buSzTx/>
              <a:buFont typeface="Arial" pitchFamily="34" charset="0"/>
              <a:buChar char="•"/>
              <a:tabLst/>
              <a:defRPr/>
            </a:pPr>
            <a:r>
              <a:rPr kumimoji="0" lang="fa-IR" sz="2600" b="0" i="0" u="none" strike="noStrike" kern="1200" cap="none" spc="0" normalizeH="0" baseline="0" noProof="0" dirty="0">
                <a:ln>
                  <a:noFill/>
                </a:ln>
                <a:solidFill>
                  <a:schemeClr val="tx1"/>
                </a:solidFill>
                <a:effectLst/>
                <a:uLnTx/>
                <a:uFillTx/>
                <a:latin typeface="Courier New" pitchFamily="49" charset="0"/>
                <a:cs typeface="B Lotus" pitchFamily="2" charset="-78"/>
              </a:rPr>
              <a:t>مثال:</a:t>
            </a:r>
            <a:r>
              <a:rPr lang="en-US" sz="2300" dirty="0">
                <a:solidFill>
                  <a:schemeClr val="accent2"/>
                </a:solidFill>
                <a:latin typeface="Verdana" pitchFamily="34" charset="0"/>
              </a:rPr>
              <a:t>newMap.putAll(oldMap);                                </a:t>
            </a:r>
            <a:r>
              <a:rPr lang="fa-IR" sz="2300" dirty="0">
                <a:solidFill>
                  <a:schemeClr val="accent2"/>
                </a:solidFill>
                <a:latin typeface="Verdana" pitchFamily="34" charset="0"/>
              </a:rPr>
              <a:t>   </a:t>
            </a:r>
            <a:endParaRPr lang="en-US" sz="2300" dirty="0">
              <a:solidFill>
                <a:schemeClr val="accent2"/>
              </a:solidFill>
              <a:latin typeface="Verdana" pitchFamily="34" charset="0"/>
            </a:endParaRPr>
          </a:p>
          <a:p>
            <a:pPr marL="342900" marR="0" lvl="0" indent="-342900" algn="l" defTabSz="914400" eaLnBrk="1" fontAlgn="auto" latinLnBrk="0" hangingPunct="1">
              <a:lnSpc>
                <a:spcPct val="90000"/>
              </a:lnSpc>
              <a:spcBef>
                <a:spcPct val="20000"/>
              </a:spcBef>
              <a:spcAft>
                <a:spcPts val="0"/>
              </a:spcAft>
              <a:buClrTx/>
              <a:buSzTx/>
              <a:buFont typeface="Wingdings" pitchFamily="2" charset="2"/>
              <a:buNone/>
              <a:tabLst/>
              <a:defRPr/>
            </a:pPr>
            <a:endParaRPr kumimoji="0" lang="en-GB" sz="2600" b="0" i="0" u="none" strike="noStrike" kern="1200" cap="none" spc="0" normalizeH="0" baseline="0" noProof="0" dirty="0">
              <a:ln>
                <a:noFill/>
              </a:ln>
              <a:solidFill>
                <a:schemeClr val="tx1"/>
              </a:solidFill>
              <a:effectLst/>
              <a:uLnTx/>
              <a:uFillTx/>
              <a:latin typeface="Courier New" pitchFamily="49" charset="0"/>
            </a:endParaRPr>
          </a:p>
          <a:p>
            <a:pPr marL="342900" lvl="0" indent="-342900">
              <a:lnSpc>
                <a:spcPct val="90000"/>
              </a:lnSpc>
              <a:spcBef>
                <a:spcPct val="20000"/>
              </a:spcBef>
              <a:defRPr/>
            </a:pPr>
            <a:br>
              <a:rPr kumimoji="0" lang="en-GB" sz="2600" b="0" i="0" u="none" strike="noStrike" kern="1200" cap="none" spc="0" normalizeH="0" baseline="0" noProof="0" dirty="0">
                <a:ln>
                  <a:noFill/>
                </a:ln>
                <a:solidFill>
                  <a:schemeClr val="tx1"/>
                </a:solidFill>
                <a:effectLst/>
                <a:uLnTx/>
                <a:uFillTx/>
                <a:latin typeface="Courier New" pitchFamily="49" charset="0"/>
              </a:rPr>
            </a:br>
            <a:r>
              <a:rPr lang="en-GB" sz="2600" dirty="0">
                <a:latin typeface="Times New Roman" pitchFamily="18" charset="0"/>
                <a:cs typeface="Times New Roman" pitchFamily="18" charset="0"/>
              </a:rPr>
              <a:t>void clear(); </a:t>
            </a:r>
            <a:r>
              <a:rPr lang="fa-IR" sz="2600" dirty="0">
                <a:latin typeface="Times New Roman" pitchFamily="18" charset="0"/>
                <a:cs typeface="Times New Roman" pitchFamily="18" charset="0"/>
              </a:rPr>
              <a:t>//</a:t>
            </a:r>
            <a:r>
              <a:rPr lang="en-US" sz="2600" dirty="0"/>
              <a:t> </a:t>
            </a:r>
            <a:r>
              <a:rPr lang="en-US" sz="2600" dirty="0">
                <a:solidFill>
                  <a:srgbClr val="0070C0"/>
                </a:solidFill>
              </a:rPr>
              <a:t>Removes all mappings from this map </a:t>
            </a:r>
            <a:endParaRPr lang="en-GB" sz="2600" dirty="0">
              <a:solidFill>
                <a:srgbClr val="0070C0"/>
              </a:solidFill>
            </a:endParaRPr>
          </a:p>
          <a:p>
            <a:pPr marL="342900" lvl="0" indent="-342900" algn="r" rtl="1">
              <a:lnSpc>
                <a:spcPct val="90000"/>
              </a:lnSpc>
              <a:spcBef>
                <a:spcPct val="20000"/>
              </a:spcBef>
              <a:defRPr/>
            </a:pPr>
            <a:br>
              <a:rPr kumimoji="0" lang="en-GB" sz="2600" b="0" i="0" u="none" strike="noStrike" kern="1200" cap="none" spc="0" normalizeH="0" baseline="0" noProof="0" dirty="0">
                <a:ln>
                  <a:noFill/>
                </a:ln>
                <a:solidFill>
                  <a:schemeClr val="tx1"/>
                </a:solidFill>
                <a:effectLst/>
                <a:uLnTx/>
                <a:uFillTx/>
                <a:latin typeface="Courier New" pitchFamily="49" charset="0"/>
              </a:rPr>
            </a:br>
            <a:r>
              <a:rPr lang="fa-IR" sz="2600" dirty="0">
                <a:latin typeface="Courier New" pitchFamily="49" charset="0"/>
                <a:cs typeface="B Lotus" pitchFamily="2" charset="-78"/>
              </a:rPr>
              <a:t>مثال:</a:t>
            </a:r>
            <a:r>
              <a:rPr lang="en-US" sz="2600" dirty="0">
                <a:latin typeface="Courier New" pitchFamily="49" charset="0"/>
                <a:cs typeface="B Lotus" pitchFamily="2" charset="-78"/>
              </a:rPr>
              <a:t>                      </a:t>
            </a:r>
            <a:r>
              <a:rPr lang="fa-IR" sz="2600" dirty="0">
                <a:latin typeface="Courier New" pitchFamily="49" charset="0"/>
                <a:cs typeface="B Lotus" pitchFamily="2" charset="-78"/>
              </a:rPr>
              <a:t> </a:t>
            </a:r>
            <a:r>
              <a:rPr lang="en-US" sz="2600" dirty="0">
                <a:solidFill>
                  <a:schemeClr val="accent2"/>
                </a:solidFill>
                <a:latin typeface="Verdana" pitchFamily="34" charset="0"/>
              </a:rPr>
              <a:t>oldMap.clear();</a:t>
            </a:r>
            <a:r>
              <a:rPr lang="fa-IR" sz="2600" dirty="0">
                <a:solidFill>
                  <a:schemeClr val="accent2"/>
                </a:solidFill>
                <a:latin typeface="Verdana" pitchFamily="34" charset="0"/>
              </a:rPr>
              <a:t> </a:t>
            </a:r>
            <a:endParaRPr kumimoji="0" lang="en-GB" sz="2600" b="0" i="0" u="none" strike="noStrike" kern="1200" cap="none" spc="0" normalizeH="0" baseline="0" noProof="0" dirty="0">
              <a:ln>
                <a:noFill/>
              </a:ln>
              <a:solidFill>
                <a:schemeClr val="tx1"/>
              </a:solidFill>
              <a:effectLst/>
              <a:uLnTx/>
              <a:uFillTx/>
              <a:latin typeface="Courier New" pitchFamily="49" charset="0"/>
            </a:endParaRP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None/>
              <a:tabLst/>
              <a:defRPr/>
            </a:pPr>
            <a:r>
              <a:rPr kumimoji="0" lang="en-GB" sz="2600" b="0" i="0" u="none" strike="noStrike" kern="1200" cap="none" spc="0" normalizeH="0" baseline="0" noProof="0" dirty="0">
                <a:ln>
                  <a:noFill/>
                </a:ln>
                <a:solidFill>
                  <a:schemeClr val="tx1"/>
                </a:solidFill>
                <a:effectLst/>
                <a:uLnTx/>
                <a:uFillTx/>
                <a:latin typeface="Courier New" pitchFamily="49" charset="0"/>
              </a:rPr>
              <a:t>  </a:t>
            </a:r>
          </a:p>
        </p:txBody>
      </p:sp>
      <p:sp>
        <p:nvSpPr>
          <p:cNvPr id="9" name="AutoShape 4"/>
          <p:cNvSpPr>
            <a:spLocks/>
          </p:cNvSpPr>
          <p:nvPr/>
        </p:nvSpPr>
        <p:spPr bwMode="auto">
          <a:xfrm>
            <a:off x="484079" y="842943"/>
            <a:ext cx="295276" cy="2714644"/>
          </a:xfrm>
          <a:prstGeom prst="leftBrace">
            <a:avLst>
              <a:gd name="adj1" fmla="val 97656"/>
              <a:gd name="adj2" fmla="val 50000"/>
            </a:avLst>
          </a:prstGeom>
          <a:noFill/>
          <a:ln w="12700">
            <a:solidFill>
              <a:srgbClr val="FF6600"/>
            </a:solidFill>
            <a:round/>
            <a:headEnd/>
            <a:tailEnd/>
          </a:ln>
        </p:spPr>
        <p:txBody>
          <a:bodyPr wrap="none" anchor="ctr"/>
          <a:lstStyle/>
          <a:p>
            <a:endParaRPr lang="en-US"/>
          </a:p>
        </p:txBody>
      </p:sp>
      <p:sp>
        <p:nvSpPr>
          <p:cNvPr id="10" name="Text Box 5"/>
          <p:cNvSpPr txBox="1">
            <a:spLocks noChangeArrowheads="1"/>
          </p:cNvSpPr>
          <p:nvPr/>
        </p:nvSpPr>
        <p:spPr bwMode="auto">
          <a:xfrm>
            <a:off x="142844" y="2000240"/>
            <a:ext cx="1130300" cy="400050"/>
          </a:xfrm>
          <a:prstGeom prst="rect">
            <a:avLst/>
          </a:prstGeom>
          <a:noFill/>
          <a:ln w="12700">
            <a:noFill/>
            <a:miter lim="800000"/>
            <a:headEnd/>
            <a:tailEnd/>
          </a:ln>
        </p:spPr>
        <p:txBody>
          <a:bodyPr wrap="none">
            <a:spAutoFit/>
          </a:bodyPr>
          <a:lstStyle/>
          <a:p>
            <a:r>
              <a:rPr lang="fa-IR" sz="2000" dirty="0">
                <a:solidFill>
                  <a:srgbClr val="FF0000"/>
                </a:solidFill>
                <a:latin typeface="Arial" charset="0"/>
                <a:cs typeface="B Lotus" pitchFamily="2" charset="-78"/>
              </a:rPr>
              <a:t>عملیات مهم</a:t>
            </a:r>
            <a:endParaRPr lang="en-GB" sz="2000" dirty="0">
              <a:solidFill>
                <a:srgbClr val="FF0000"/>
              </a:solidFill>
              <a:latin typeface="Arial" charset="0"/>
              <a:cs typeface="B Lotus" pitchFamily="2" charset="-78"/>
            </a:endParaRPr>
          </a:p>
        </p:txBody>
      </p:sp>
      <p:sp>
        <p:nvSpPr>
          <p:cNvPr id="11" name="AutoShape 6"/>
          <p:cNvSpPr>
            <a:spLocks/>
          </p:cNvSpPr>
          <p:nvPr/>
        </p:nvSpPr>
        <p:spPr bwMode="auto">
          <a:xfrm>
            <a:off x="971599" y="3929054"/>
            <a:ext cx="162221" cy="2452274"/>
          </a:xfrm>
          <a:prstGeom prst="leftBrace">
            <a:avLst>
              <a:gd name="adj1" fmla="val 20833"/>
              <a:gd name="adj2" fmla="val 50000"/>
            </a:avLst>
          </a:prstGeom>
          <a:noFill/>
          <a:ln w="12700">
            <a:solidFill>
              <a:srgbClr val="FF6600"/>
            </a:solidFill>
            <a:round/>
            <a:headEnd/>
            <a:tailEnd/>
          </a:ln>
        </p:spPr>
        <p:txBody>
          <a:bodyPr wrap="none" anchor="ctr"/>
          <a:lstStyle/>
          <a:p>
            <a:endParaRPr lang="en-US"/>
          </a:p>
        </p:txBody>
      </p:sp>
      <p:sp>
        <p:nvSpPr>
          <p:cNvPr id="12" name="Text Box 7"/>
          <p:cNvSpPr txBox="1">
            <a:spLocks noChangeArrowheads="1"/>
          </p:cNvSpPr>
          <p:nvPr/>
        </p:nvSpPr>
        <p:spPr bwMode="auto">
          <a:xfrm>
            <a:off x="37449" y="4513592"/>
            <a:ext cx="1071570" cy="923330"/>
          </a:xfrm>
          <a:prstGeom prst="rect">
            <a:avLst/>
          </a:prstGeom>
          <a:noFill/>
          <a:ln w="12700">
            <a:noFill/>
            <a:miter lim="800000"/>
            <a:headEnd/>
            <a:tailEnd/>
          </a:ln>
        </p:spPr>
        <p:txBody>
          <a:bodyPr wrap="square">
            <a:spAutoFit/>
          </a:bodyPr>
          <a:lstStyle/>
          <a:p>
            <a:pPr algn="ctr"/>
            <a:r>
              <a:rPr lang="fa-IR" sz="1800" dirty="0">
                <a:solidFill>
                  <a:srgbClr val="FF0000"/>
                </a:solidFill>
                <a:latin typeface="Arial" charset="0"/>
                <a:cs typeface="B Lotus" pitchFamily="2" charset="-78"/>
              </a:rPr>
              <a:t>عملیات برروی کل عناصر</a:t>
            </a:r>
            <a:endParaRPr lang="en-GB" sz="1800" dirty="0">
              <a:solidFill>
                <a:srgbClr val="FF0000"/>
              </a:solidFill>
              <a:latin typeface="Arial" charset="0"/>
              <a:cs typeface="B Lotus" pitchFamily="2" charset="-7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linds(horizont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linds(horizontal)">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linds(horizontal)">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blinds(horizontal)">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blinds(horizontal)">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blinds(horizontal)">
                                      <p:cBhvr>
                                        <p:cTn id="47" dur="500"/>
                                        <p:tgtEl>
                                          <p:spTgt spid="8">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8">
                                            <p:txEl>
                                              <p:pRg st="11" end="11"/>
                                            </p:txEl>
                                          </p:spTgt>
                                        </p:tgtEl>
                                        <p:attrNameLst>
                                          <p:attrName>style.visibility</p:attrName>
                                        </p:attrNameLst>
                                      </p:cBhvr>
                                      <p:to>
                                        <p:strVal val="visible"/>
                                      </p:to>
                                    </p:set>
                                    <p:animEffect transition="in" filter="blinds(horizontal)">
                                      <p:cBhvr>
                                        <p:cTn id="52" dur="500"/>
                                        <p:tgtEl>
                                          <p:spTgt spid="8">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8">
                                            <p:txEl>
                                              <p:pRg st="13" end="13"/>
                                            </p:txEl>
                                          </p:spTgt>
                                        </p:tgtEl>
                                        <p:attrNameLst>
                                          <p:attrName>style.visibility</p:attrName>
                                        </p:attrNameLst>
                                      </p:cBhvr>
                                      <p:to>
                                        <p:strVal val="visible"/>
                                      </p:to>
                                    </p:set>
                                    <p:animEffect transition="in" filter="blinds(horizontal)">
                                      <p:cBhvr>
                                        <p:cTn id="57" dur="500"/>
                                        <p:tgtEl>
                                          <p:spTgt spid="8">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8">
                                            <p:txEl>
                                              <p:pRg st="14" end="14"/>
                                            </p:txEl>
                                          </p:spTgt>
                                        </p:tgtEl>
                                        <p:attrNameLst>
                                          <p:attrName>style.visibility</p:attrName>
                                        </p:attrNameLst>
                                      </p:cBhvr>
                                      <p:to>
                                        <p:strVal val="visible"/>
                                      </p:to>
                                    </p:set>
                                    <p:animEffect transition="in" filter="blinds(horizontal)">
                                      <p:cBhvr>
                                        <p:cTn id="62" dur="500"/>
                                        <p:tgtEl>
                                          <p:spTgt spid="8">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8">
                                            <p:txEl>
                                              <p:pRg st="15" end="15"/>
                                            </p:txEl>
                                          </p:spTgt>
                                        </p:tgtEl>
                                        <p:attrNameLst>
                                          <p:attrName>style.visibility</p:attrName>
                                        </p:attrNameLst>
                                      </p:cBhvr>
                                      <p:to>
                                        <p:strVal val="visible"/>
                                      </p:to>
                                    </p:set>
                                    <p:animEffect transition="in" filter="blinds(horizontal)">
                                      <p:cBhvr>
                                        <p:cTn id="67"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4290"/>
            <a:ext cx="8229600" cy="368280"/>
          </a:xfrm>
        </p:spPr>
        <p:txBody>
          <a:bodyPr>
            <a:normAutofit fontScale="90000"/>
          </a:bodyPr>
          <a:lstStyle/>
          <a:p>
            <a:pPr rtl="1"/>
            <a:r>
              <a:rPr lang="fa-IR" sz="2800" dirty="0">
                <a:solidFill>
                  <a:schemeClr val="bg1"/>
                </a:solidFill>
                <a:cs typeface="B Lotus" pitchFamily="2" charset="-78"/>
              </a:rPr>
              <a:t>نکات مهم</a:t>
            </a:r>
            <a:endParaRPr lang="en-US" sz="2800" dirty="0">
              <a:solidFill>
                <a:schemeClr val="bg1"/>
              </a:solidFill>
              <a:cs typeface="B Lotus" pitchFamily="2" charset="-78"/>
            </a:endParaRPr>
          </a:p>
        </p:txBody>
      </p:sp>
      <p:sp>
        <p:nvSpPr>
          <p:cNvPr id="5" name="Slide Number Placeholder 4"/>
          <p:cNvSpPr>
            <a:spLocks noGrp="1"/>
          </p:cNvSpPr>
          <p:nvPr>
            <p:ph type="sldNum" sz="quarter" idx="12"/>
          </p:nvPr>
        </p:nvSpPr>
        <p:spPr/>
        <p:txBody>
          <a:bodyPr/>
          <a:lstStyle/>
          <a:p>
            <a:fld id="{E2E32164-7D64-46C2-AECF-5ED4A3D0BCDA}" type="slidenum">
              <a:rPr lang="en-US" smtClean="0"/>
              <a:pPr/>
              <a:t>45</a:t>
            </a:fld>
            <a:endParaRPr lang="en-US"/>
          </a:p>
        </p:txBody>
      </p:sp>
      <p:sp>
        <p:nvSpPr>
          <p:cNvPr id="8" name="Rectangle 3"/>
          <p:cNvSpPr txBox="1">
            <a:spLocks noChangeArrowheads="1"/>
          </p:cNvSpPr>
          <p:nvPr/>
        </p:nvSpPr>
        <p:spPr>
          <a:xfrm>
            <a:off x="357158" y="1066800"/>
            <a:ext cx="8405842" cy="5257800"/>
          </a:xfrm>
          <a:prstGeom prst="rect">
            <a:avLst/>
          </a:prstGeom>
        </p:spPr>
        <p:txBody>
          <a:bodyPr vert="horz" lIns="91440" tIns="45720" rIns="91440" bIns="45720" rtlCol="0">
            <a:normAutofit/>
          </a:bodyPr>
          <a:lstStyle/>
          <a:p>
            <a:pPr algn="r" rtl="1">
              <a:buFont typeface="Arial" pitchFamily="34" charset="0"/>
              <a:buChar char="•"/>
            </a:pPr>
            <a:r>
              <a:rPr lang="fa-IR" sz="2000" dirty="0">
                <a:cs typeface="B Lotus" pitchFamily="2" charset="-78"/>
              </a:rPr>
              <a:t>اگر </a:t>
            </a:r>
            <a:r>
              <a:rPr lang="en-US" sz="2000" dirty="0">
                <a:cs typeface="B Lotus" pitchFamily="2" charset="-78"/>
              </a:rPr>
              <a:t>map</a:t>
            </a:r>
            <a:r>
              <a:rPr lang="fa-IR" sz="2000" dirty="0">
                <a:cs typeface="B Lotus" pitchFamily="2" charset="-78"/>
              </a:rPr>
              <a:t> از قبل حاوی کلید مربوطه باشد، فراخوانی متد </a:t>
            </a:r>
            <a:r>
              <a:rPr lang="en-US" sz="2000" dirty="0">
                <a:solidFill>
                  <a:schemeClr val="accent2"/>
                </a:solidFill>
                <a:latin typeface="Verdana" pitchFamily="34" charset="0"/>
                <a:cs typeface="B Lotus" pitchFamily="2" charset="-78"/>
              </a:rPr>
              <a:t>put(key, value)</a:t>
            </a:r>
            <a:r>
              <a:rPr lang="fa-IR" sz="2000" dirty="0">
                <a:solidFill>
                  <a:schemeClr val="accent2"/>
                </a:solidFill>
                <a:latin typeface="Verdana" pitchFamily="34" charset="0"/>
                <a:cs typeface="B Lotus" pitchFamily="2" charset="-78"/>
              </a:rPr>
              <a:t> </a:t>
            </a:r>
            <a:r>
              <a:rPr lang="fa-IR" sz="2000" dirty="0">
                <a:cs typeface="B Lotus" pitchFamily="2" charset="-78"/>
              </a:rPr>
              <a:t>مقدار مرتبط با کلید موجود را با مقدار آرگومان </a:t>
            </a:r>
            <a:r>
              <a:rPr lang="en-US" sz="2000" dirty="0">
                <a:cs typeface="B Lotus" pitchFamily="2" charset="-78"/>
              </a:rPr>
              <a:t>value</a:t>
            </a:r>
            <a:r>
              <a:rPr lang="fa-IR" sz="2000" dirty="0">
                <a:cs typeface="B Lotus" pitchFamily="2" charset="-78"/>
              </a:rPr>
              <a:t> جدید، جایگزین می‏کند.</a:t>
            </a:r>
          </a:p>
          <a:p>
            <a:pPr lvl="1" algn="r" rtl="1">
              <a:buFont typeface="Arial" pitchFamily="34" charset="0"/>
              <a:buChar char="•"/>
            </a:pPr>
            <a:r>
              <a:rPr lang="fa-IR" sz="2000" dirty="0">
                <a:cs typeface="B Lotus" pitchFamily="2" charset="-78"/>
              </a:rPr>
              <a:t>  این‏کار به معنای آن است که جاوا آزمون برابری </a:t>
            </a:r>
            <a:r>
              <a:rPr lang="en-US" sz="2000" dirty="0">
                <a:cs typeface="B Lotus" pitchFamily="2" charset="-78"/>
              </a:rPr>
              <a:t>(equality)</a:t>
            </a:r>
            <a:r>
              <a:rPr lang="fa-IR" sz="2000" dirty="0">
                <a:cs typeface="B Lotus" pitchFamily="2" charset="-78"/>
              </a:rPr>
              <a:t> را برروی کلیدها انجام می‏دهد.</a:t>
            </a:r>
          </a:p>
          <a:p>
            <a:pPr lvl="1" algn="r" rtl="1">
              <a:buFont typeface="Arial" pitchFamily="34" charset="0"/>
              <a:buChar char="•"/>
            </a:pPr>
            <a:r>
              <a:rPr lang="fa-IR" sz="2000" dirty="0">
                <a:cs typeface="B Lotus" pitchFamily="2" charset="-78"/>
              </a:rPr>
              <a:t> در کلاس</a:t>
            </a:r>
            <a:r>
              <a:rPr lang="en-US" sz="2000" dirty="0" err="1">
                <a:solidFill>
                  <a:schemeClr val="accent2"/>
                </a:solidFill>
                <a:latin typeface="Verdana" pitchFamily="34" charset="0"/>
                <a:cs typeface="B Lotus" pitchFamily="2" charset="-78"/>
              </a:rPr>
              <a:t>HashMap</a:t>
            </a:r>
            <a:r>
              <a:rPr lang="en-US" sz="2000" dirty="0">
                <a:cs typeface="B Lotus" pitchFamily="2" charset="-78"/>
              </a:rPr>
              <a:t> </a:t>
            </a:r>
            <a:r>
              <a:rPr lang="fa-IR" sz="2000" dirty="0">
                <a:cs typeface="B Lotus" pitchFamily="2" charset="-78"/>
              </a:rPr>
              <a:t> لازم است برای کلیدهایی از اشیای غیرعددی و رشته‏ای، متدهای </a:t>
            </a:r>
            <a:r>
              <a:rPr lang="en-US" sz="2000" dirty="0">
                <a:solidFill>
                  <a:schemeClr val="accent2"/>
                </a:solidFill>
                <a:latin typeface="Verdana" pitchFamily="34" charset="0"/>
                <a:cs typeface="B Lotus" pitchFamily="2" charset="-78"/>
              </a:rPr>
              <a:t>equals</a:t>
            </a:r>
            <a:r>
              <a:rPr lang="en-US" sz="2000" dirty="0">
                <a:cs typeface="B Lotus" pitchFamily="2" charset="-78"/>
              </a:rPr>
              <a:t> </a:t>
            </a:r>
            <a:r>
              <a:rPr lang="fa-IR" sz="2000" dirty="0">
                <a:cs typeface="B Lotus" pitchFamily="2" charset="-78"/>
              </a:rPr>
              <a:t> و </a:t>
            </a:r>
            <a:r>
              <a:rPr lang="en-US" sz="2000" dirty="0">
                <a:cs typeface="B Lotus" pitchFamily="2" charset="-78"/>
              </a:rPr>
              <a:t> </a:t>
            </a:r>
            <a:r>
              <a:rPr lang="en-US" sz="2000" dirty="0">
                <a:solidFill>
                  <a:schemeClr val="accent2"/>
                </a:solidFill>
                <a:latin typeface="Verdana" pitchFamily="34" charset="0"/>
                <a:cs typeface="B Lotus" pitchFamily="2" charset="-78"/>
              </a:rPr>
              <a:t>hashCode</a:t>
            </a:r>
            <a:r>
              <a:rPr lang="en-US" sz="2000" dirty="0">
                <a:cs typeface="B Lotus" pitchFamily="2" charset="-78"/>
              </a:rPr>
              <a:t> </a:t>
            </a:r>
            <a:r>
              <a:rPr lang="fa-IR" sz="2000" dirty="0">
                <a:cs typeface="B Lotus" pitchFamily="2" charset="-78"/>
              </a:rPr>
              <a:t>را بازنویسی کنید. </a:t>
            </a:r>
            <a:endParaRPr lang="en-US" sz="2000" dirty="0">
              <a:cs typeface="B Lotus" pitchFamily="2" charset="-78"/>
            </a:endParaRPr>
          </a:p>
          <a:p>
            <a:pPr lvl="1" algn="r" rtl="1">
              <a:buFont typeface="Arial" pitchFamily="34" charset="0"/>
              <a:buChar char="•"/>
            </a:pPr>
            <a:r>
              <a:rPr lang="fa-IR" sz="2000" dirty="0">
                <a:cs typeface="B Lotus" pitchFamily="2" charset="-78"/>
              </a:rPr>
              <a:t> در کلاس </a:t>
            </a:r>
            <a:r>
              <a:rPr lang="en-US" sz="2000" dirty="0">
                <a:solidFill>
                  <a:schemeClr val="accent2"/>
                </a:solidFill>
                <a:latin typeface="Verdana" pitchFamily="34" charset="0"/>
                <a:cs typeface="B Lotus" pitchFamily="2" charset="-78"/>
              </a:rPr>
              <a:t>TreeMap</a:t>
            </a:r>
            <a:r>
              <a:rPr lang="en-US" sz="2000" dirty="0">
                <a:cs typeface="B Lotus" pitchFamily="2" charset="-78"/>
              </a:rPr>
              <a:t> </a:t>
            </a:r>
            <a:r>
              <a:rPr lang="fa-IR" sz="2000" dirty="0">
                <a:cs typeface="B Lotus" pitchFamily="2" charset="-78"/>
              </a:rPr>
              <a:t> لازم است متد</a:t>
            </a:r>
            <a:r>
              <a:rPr lang="en-US" sz="2000" dirty="0">
                <a:solidFill>
                  <a:schemeClr val="accent2"/>
                </a:solidFill>
                <a:latin typeface="Verdana" pitchFamily="34" charset="0"/>
                <a:cs typeface="B Lotus" pitchFamily="2" charset="-78"/>
              </a:rPr>
              <a:t>equals</a:t>
            </a:r>
            <a:r>
              <a:rPr lang="en-US" sz="2000" dirty="0">
                <a:cs typeface="B Lotus" pitchFamily="2" charset="-78"/>
              </a:rPr>
              <a:t> </a:t>
            </a:r>
            <a:r>
              <a:rPr lang="fa-IR" sz="2000" dirty="0">
                <a:cs typeface="B Lotus" pitchFamily="2" charset="-78"/>
              </a:rPr>
              <a:t> را تعریف نموده و متد مقایسه در واسط </a:t>
            </a:r>
            <a:r>
              <a:rPr lang="en-US" sz="2000" dirty="0">
                <a:solidFill>
                  <a:schemeClr val="accent2"/>
                </a:solidFill>
                <a:latin typeface="Verdana" pitchFamily="34" charset="0"/>
                <a:cs typeface="B Lotus" pitchFamily="2" charset="-78"/>
              </a:rPr>
              <a:t>Comparable</a:t>
            </a:r>
            <a:r>
              <a:rPr lang="en-US" sz="2000" dirty="0">
                <a:cs typeface="B Lotus" pitchFamily="2" charset="-78"/>
              </a:rPr>
              <a:t> </a:t>
            </a:r>
            <a:r>
              <a:rPr lang="fa-IR" sz="2000" dirty="0">
                <a:cs typeface="B Lotus" pitchFamily="2" charset="-78"/>
              </a:rPr>
              <a:t> را برای همه کلیدهایتان بازنویسی کنید. </a:t>
            </a:r>
            <a:endParaRPr lang="en-US" sz="2000" dirty="0">
              <a:cs typeface="B Lotus" pitchFamily="2" charset="-78"/>
            </a:endParaRPr>
          </a:p>
          <a:p>
            <a:pPr lvl="1" algn="r" rtl="1">
              <a:buFont typeface="Arial" pitchFamily="34" charset="0"/>
              <a:buChar char="•"/>
            </a:pPr>
            <a:endParaRPr lang="fa-IR" sz="2000" dirty="0">
              <a:cs typeface="B Lotus" pitchFamily="2" charset="-78"/>
            </a:endParaRPr>
          </a:p>
          <a:p>
            <a:pPr lvl="1" algn="r" rtl="1">
              <a:buFont typeface="Arial" pitchFamily="34" charset="0"/>
              <a:buChar char="•"/>
            </a:pPr>
            <a:endParaRPr lang="fa-IR" sz="2000" dirty="0">
              <a:cs typeface="B Lotus" pitchFamily="2" charset="-78"/>
            </a:endParaRPr>
          </a:p>
          <a:p>
            <a:pPr lvl="1" algn="just" rtl="1">
              <a:buFont typeface="Arial" pitchFamily="34" charset="0"/>
              <a:buChar char="•"/>
            </a:pPr>
            <a:r>
              <a:rPr lang="fa-IR" sz="2000" dirty="0">
                <a:cs typeface="B Lotus" pitchFamily="2" charset="-78"/>
              </a:rPr>
              <a:t>   تفاوت میان </a:t>
            </a:r>
            <a:r>
              <a:rPr lang="en-US" sz="2400" dirty="0">
                <a:solidFill>
                  <a:schemeClr val="accent2"/>
                </a:solidFill>
                <a:latin typeface="Consolas" pitchFamily="49" charset="0"/>
              </a:rPr>
              <a:t>Hashtable</a:t>
            </a:r>
            <a:r>
              <a:rPr lang="fa-IR" sz="2000" dirty="0">
                <a:cs typeface="B Lotus" pitchFamily="2" charset="-78"/>
              </a:rPr>
              <a:t> و </a:t>
            </a:r>
            <a:r>
              <a:rPr lang="en-US" sz="2400" dirty="0">
                <a:solidFill>
                  <a:schemeClr val="accent2"/>
                </a:solidFill>
                <a:latin typeface="Consolas" pitchFamily="49" charset="0"/>
              </a:rPr>
              <a:t>HashMap</a:t>
            </a:r>
            <a:r>
              <a:rPr lang="en-US" sz="2400" dirty="0"/>
              <a:t> </a:t>
            </a:r>
            <a:r>
              <a:rPr lang="fa-IR" sz="2400" dirty="0"/>
              <a:t>:</a:t>
            </a:r>
          </a:p>
          <a:p>
            <a:pPr lvl="1" algn="just" rtl="1">
              <a:buFont typeface="Arial" pitchFamily="34" charset="0"/>
              <a:buChar char="•"/>
            </a:pPr>
            <a:r>
              <a:rPr lang="fa-IR" sz="2400" dirty="0">
                <a:cs typeface="B Lotus" pitchFamily="2" charset="-78"/>
              </a:rPr>
              <a:t> </a:t>
            </a:r>
            <a:r>
              <a:rPr lang="en-US" sz="2400" dirty="0" err="1">
                <a:solidFill>
                  <a:schemeClr val="accent2"/>
                </a:solidFill>
                <a:latin typeface="Consolas" pitchFamily="49" charset="0"/>
              </a:rPr>
              <a:t>Hashtable</a:t>
            </a:r>
            <a:r>
              <a:rPr lang="en-US" sz="2400" dirty="0"/>
              <a:t> </a:t>
            </a:r>
            <a:r>
              <a:rPr lang="fa-IR" sz="2400" dirty="0"/>
              <a:t> </a:t>
            </a:r>
            <a:r>
              <a:rPr lang="fa-IR" sz="2400" dirty="0">
                <a:cs typeface="B Lotus" pitchFamily="2" charset="-78"/>
              </a:rPr>
              <a:t>سنکرون، اما </a:t>
            </a:r>
            <a:r>
              <a:rPr lang="en-US" sz="2400" dirty="0">
                <a:cs typeface="B Lotus" pitchFamily="2" charset="-78"/>
              </a:rPr>
              <a:t> </a:t>
            </a:r>
            <a:r>
              <a:rPr lang="en-US" sz="2400" dirty="0">
                <a:solidFill>
                  <a:schemeClr val="accent2"/>
                </a:solidFill>
                <a:latin typeface="Consolas" pitchFamily="49" charset="0"/>
              </a:rPr>
              <a:t>HashMap</a:t>
            </a:r>
            <a:r>
              <a:rPr lang="en-US" sz="2400" dirty="0"/>
              <a:t> </a:t>
            </a:r>
            <a:r>
              <a:rPr lang="fa-IR" sz="2400" dirty="0">
                <a:cs typeface="B Lotus" pitchFamily="2" charset="-78"/>
              </a:rPr>
              <a:t>آسنکرون است.</a:t>
            </a:r>
          </a:p>
          <a:p>
            <a:pPr lvl="1" algn="just" rtl="1">
              <a:buFont typeface="Arial" pitchFamily="34" charset="0"/>
              <a:buChar char="•"/>
            </a:pPr>
            <a:r>
              <a:rPr lang="en-US" sz="2400" dirty="0">
                <a:solidFill>
                  <a:schemeClr val="accent2"/>
                </a:solidFill>
                <a:latin typeface="Consolas" pitchFamily="49" charset="0"/>
              </a:rPr>
              <a:t> HashMap</a:t>
            </a:r>
            <a:r>
              <a:rPr lang="en-US" sz="2400" dirty="0"/>
              <a:t> </a:t>
            </a:r>
            <a:r>
              <a:rPr lang="fa-IR" sz="2400" dirty="0">
                <a:cs typeface="B Lotus" pitchFamily="2" charset="-78"/>
              </a:rPr>
              <a:t>امکان نگهداری مقدار و کلید </a:t>
            </a:r>
            <a:r>
              <a:rPr lang="en-US" sz="2400" dirty="0">
                <a:cs typeface="B Lotus" pitchFamily="2" charset="-78"/>
              </a:rPr>
              <a:t>null</a:t>
            </a:r>
            <a:r>
              <a:rPr lang="fa-IR" sz="2400" dirty="0">
                <a:cs typeface="B Lotus" pitchFamily="2" charset="-78"/>
              </a:rPr>
              <a:t> را می‏دهد.</a:t>
            </a:r>
          </a:p>
          <a:p>
            <a:pPr lvl="2" algn="just" rtl="1">
              <a:buFont typeface="Arial" pitchFamily="34" charset="0"/>
              <a:buChar char="•"/>
            </a:pPr>
            <a:r>
              <a:rPr lang="fa-IR" sz="2400" dirty="0">
                <a:cs typeface="B Lotus" pitchFamily="2" charset="-78"/>
              </a:rPr>
              <a:t> اما در</a:t>
            </a:r>
            <a:r>
              <a:rPr lang="en-US" sz="2400" dirty="0">
                <a:solidFill>
                  <a:schemeClr val="accent2"/>
                </a:solidFill>
                <a:latin typeface="Consolas" pitchFamily="49" charset="0"/>
              </a:rPr>
              <a:t>Hashtable</a:t>
            </a:r>
            <a:r>
              <a:rPr lang="en-US" sz="2400" dirty="0"/>
              <a:t> </a:t>
            </a:r>
            <a:r>
              <a:rPr lang="fa-IR" sz="2400" dirty="0">
                <a:cs typeface="B Lotus" pitchFamily="2" charset="-78"/>
              </a:rPr>
              <a:t> این کار مجاز نیست.</a:t>
            </a:r>
          </a:p>
          <a:p>
            <a:pPr lvl="1" algn="r" rtl="1"/>
            <a:endParaRPr lang="fa-IR" sz="2000" dirty="0">
              <a:cs typeface="B Lotus" pitchFamily="2" charset="-7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linds(horizont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blinds(horizontal)">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blinds(horizontal)">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blinds(horizontal)">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blinds(horizontal)">
                                      <p:cBhvr>
                                        <p:cTn id="42"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511156"/>
          </a:xfrm>
        </p:spPr>
        <p:txBody>
          <a:bodyPr>
            <a:normAutofit fontScale="90000"/>
          </a:bodyPr>
          <a:lstStyle/>
          <a:p>
            <a:pPr rtl="1"/>
            <a:r>
              <a:rPr lang="fa-IR" sz="3600" dirty="0">
                <a:solidFill>
                  <a:schemeClr val="bg1"/>
                </a:solidFill>
                <a:cs typeface="B Lotus" pitchFamily="2" charset="-78"/>
              </a:rPr>
              <a:t>پیاده سازیهای </a:t>
            </a:r>
            <a:r>
              <a:rPr lang="en-US" sz="3600" dirty="0">
                <a:solidFill>
                  <a:schemeClr val="bg1"/>
                </a:solidFill>
                <a:cs typeface="B Lotus" pitchFamily="2" charset="-78"/>
              </a:rPr>
              <a:t>Map</a:t>
            </a:r>
            <a:r>
              <a:rPr lang="fa-IR" sz="3600" dirty="0">
                <a:solidFill>
                  <a:schemeClr val="bg1"/>
                </a:solidFill>
                <a:cs typeface="B Lotus" pitchFamily="2" charset="-78"/>
              </a:rPr>
              <a:t> در جاوا</a:t>
            </a:r>
            <a:endParaRPr lang="en-US" sz="3600" dirty="0">
              <a:solidFill>
                <a:schemeClr val="bg1"/>
              </a:solidFill>
            </a:endParaRPr>
          </a:p>
        </p:txBody>
      </p:sp>
      <p:sp>
        <p:nvSpPr>
          <p:cNvPr id="3" name="Content Placeholder 2"/>
          <p:cNvSpPr>
            <a:spLocks noGrp="1"/>
          </p:cNvSpPr>
          <p:nvPr>
            <p:ph idx="1"/>
          </p:nvPr>
        </p:nvSpPr>
        <p:spPr>
          <a:xfrm>
            <a:off x="285720" y="1000108"/>
            <a:ext cx="8715436" cy="4525963"/>
          </a:xfrm>
        </p:spPr>
        <p:txBody>
          <a:bodyPr>
            <a:normAutofit/>
          </a:bodyPr>
          <a:lstStyle/>
          <a:p>
            <a:pPr algn="just" rtl="1"/>
            <a:r>
              <a:rPr lang="en-US" sz="2800" dirty="0">
                <a:latin typeface="Courier New" pitchFamily="49" charset="0"/>
                <a:cs typeface="B Lotus" pitchFamily="2" charset="-78"/>
              </a:rPr>
              <a:t>Map</a:t>
            </a:r>
            <a:r>
              <a:rPr lang="en-US" sz="2800" dirty="0">
                <a:latin typeface="Verdana" pitchFamily="34" charset="0"/>
                <a:cs typeface="B Lotus" pitchFamily="2" charset="-78"/>
              </a:rPr>
              <a:t> </a:t>
            </a:r>
            <a:r>
              <a:rPr lang="fa-IR" sz="2800" dirty="0">
                <a:latin typeface="Verdana" pitchFamily="34" charset="0"/>
                <a:cs typeface="B Lotus" pitchFamily="2" charset="-78"/>
              </a:rPr>
              <a:t> </a:t>
            </a:r>
            <a:r>
              <a:rPr lang="fa-IR" sz="2800" dirty="0">
                <a:latin typeface="Courier New" pitchFamily="49" charset="0"/>
                <a:cs typeface="B Lotus" pitchFamily="2" charset="-78"/>
              </a:rPr>
              <a:t>یک واسط </a:t>
            </a:r>
            <a:r>
              <a:rPr lang="en-US" sz="2800" dirty="0">
                <a:latin typeface="Courier New" pitchFamily="49" charset="0"/>
                <a:cs typeface="B Lotus" pitchFamily="2" charset="-78"/>
              </a:rPr>
              <a:t>(</a:t>
            </a:r>
            <a:r>
              <a:rPr lang="en-US" sz="2800" dirty="0">
                <a:cs typeface="B Lotus" pitchFamily="2" charset="-78"/>
              </a:rPr>
              <a:t>interface</a:t>
            </a:r>
            <a:r>
              <a:rPr lang="en-US" sz="2800" dirty="0">
                <a:latin typeface="Courier New" pitchFamily="49" charset="0"/>
                <a:cs typeface="B Lotus" pitchFamily="2" charset="-78"/>
              </a:rPr>
              <a:t>)</a:t>
            </a:r>
            <a:r>
              <a:rPr lang="fa-IR" sz="2800" dirty="0">
                <a:latin typeface="Courier New" pitchFamily="49" charset="0"/>
                <a:cs typeface="B Lotus" pitchFamily="2" charset="-78"/>
              </a:rPr>
              <a:t> است؛ در نتیجه نمی توانیم بگوییم:</a:t>
            </a:r>
          </a:p>
          <a:p>
            <a:pPr>
              <a:buNone/>
            </a:pPr>
            <a:r>
              <a:rPr lang="en-US" sz="2800" dirty="0">
                <a:latin typeface="Courier New" pitchFamily="49" charset="0"/>
                <a:cs typeface="B Lotus" pitchFamily="2" charset="-78"/>
              </a:rPr>
              <a:t>new Map()</a:t>
            </a:r>
          </a:p>
          <a:p>
            <a:pPr algn="r" rtl="1"/>
            <a:r>
              <a:rPr lang="fa-IR" sz="2800" dirty="0">
                <a:cs typeface="B Lotus" pitchFamily="2" charset="-78"/>
              </a:rPr>
              <a:t>دو پیاده سازی مهم از</a:t>
            </a:r>
            <a:r>
              <a:rPr lang="en-US" sz="2800" dirty="0">
                <a:latin typeface="Courier New" pitchFamily="49" charset="0"/>
                <a:cs typeface="B Lotus" pitchFamily="2" charset="-78"/>
              </a:rPr>
              <a:t>Map</a:t>
            </a:r>
            <a:r>
              <a:rPr lang="fa-IR" sz="2800" dirty="0">
                <a:cs typeface="B Lotus" pitchFamily="2" charset="-78"/>
              </a:rPr>
              <a:t> وجود دارد:</a:t>
            </a:r>
            <a:endParaRPr lang="en-US" sz="2800" dirty="0">
              <a:cs typeface="B Lotus" pitchFamily="2" charset="-78"/>
            </a:endParaRPr>
          </a:p>
          <a:p>
            <a:pPr lvl="1"/>
            <a:r>
              <a:rPr lang="en-US" sz="2400" dirty="0" err="1">
                <a:solidFill>
                  <a:srgbClr val="C00000"/>
                </a:solidFill>
                <a:latin typeface="Times New Roman" pitchFamily="18" charset="0"/>
                <a:cs typeface="Times New Roman" pitchFamily="18" charset="0"/>
              </a:rPr>
              <a:t>java.util.HashMap</a:t>
            </a:r>
            <a:r>
              <a:rPr lang="en-US" sz="2400" dirty="0">
                <a:latin typeface="Verdana" pitchFamily="34" charset="0"/>
                <a:cs typeface="B Lotus" pitchFamily="2" charset="-78"/>
              </a:rPr>
              <a:t> </a:t>
            </a:r>
            <a:r>
              <a:rPr lang="fa-IR" sz="2400" dirty="0">
                <a:cs typeface="B Lotus" pitchFamily="2" charset="-78"/>
              </a:rPr>
              <a:t>برای بسیاری از اهداف مناسب است و سریع عمل می کند</a:t>
            </a:r>
            <a:endParaRPr lang="en-US" sz="2400" dirty="0">
              <a:cs typeface="B Lotus" pitchFamily="2" charset="-78"/>
            </a:endParaRPr>
          </a:p>
          <a:p>
            <a:pPr lvl="1"/>
            <a:r>
              <a:rPr lang="en-US" sz="2400" dirty="0" err="1">
                <a:solidFill>
                  <a:srgbClr val="C00000"/>
                </a:solidFill>
                <a:latin typeface="Times New Roman" pitchFamily="18" charset="0"/>
                <a:cs typeface="Times New Roman" pitchFamily="18" charset="0"/>
              </a:rPr>
              <a:t>T</a:t>
            </a:r>
            <a:r>
              <a:rPr lang="en-US" sz="2400" dirty="0" err="1">
                <a:solidFill>
                  <a:srgbClr val="C00000"/>
                </a:solidFill>
                <a:latin typeface="Times New Roman" pitchFamily="18" charset="0"/>
                <a:cs typeface="B Lotus" pitchFamily="2" charset="-78"/>
              </a:rPr>
              <a:t>r</a:t>
            </a:r>
            <a:r>
              <a:rPr lang="en-US" sz="2400" dirty="0" err="1">
                <a:solidFill>
                  <a:srgbClr val="C00000"/>
                </a:solidFill>
                <a:latin typeface="Times New Roman" pitchFamily="18" charset="0"/>
                <a:cs typeface="Times New Roman" pitchFamily="18" charset="0"/>
              </a:rPr>
              <a:t>eeMap</a:t>
            </a:r>
            <a:r>
              <a:rPr lang="en-US" sz="2400" dirty="0">
                <a:latin typeface="Times New Roman" pitchFamily="18" charset="0"/>
                <a:cs typeface="Times New Roman" pitchFamily="18" charset="0"/>
              </a:rPr>
              <a:t>:</a:t>
            </a:r>
            <a:r>
              <a:rPr lang="fa-IR" sz="2400" dirty="0">
                <a:latin typeface="Times New Roman" pitchFamily="18" charset="0"/>
                <a:cs typeface="B Lotus" pitchFamily="2" charset="-78"/>
              </a:rPr>
              <a:t>تضمین می‏کند ترتیب عناصر در طول استفاده حفظ شود.                </a:t>
            </a:r>
            <a:endParaRPr lang="en-US" sz="2400" dirty="0">
              <a:latin typeface="Times New Roman" pitchFamily="18" charset="0"/>
              <a:cs typeface="B Lotus" pitchFamily="2" charset="-78"/>
            </a:endParaRPr>
          </a:p>
          <a:p>
            <a:pPr>
              <a:buNone/>
            </a:pPr>
            <a:endParaRPr lang="en-US" sz="2800" dirty="0">
              <a:cs typeface="B Lotus" pitchFamily="2" charset="-78"/>
            </a:endParaRPr>
          </a:p>
          <a:p>
            <a:pPr algn="just" rtl="1"/>
            <a:r>
              <a:rPr lang="fa-IR" sz="2800" dirty="0">
                <a:cs typeface="B Lotus" pitchFamily="2" charset="-78"/>
              </a:rPr>
              <a:t>روش مناسب ایجاد شیئ از </a:t>
            </a:r>
            <a:r>
              <a:rPr lang="en-US" sz="2800" dirty="0" err="1">
                <a:latin typeface="Courier New" pitchFamily="49" charset="0"/>
                <a:cs typeface="B Lotus" pitchFamily="2" charset="-78"/>
              </a:rPr>
              <a:t>HashMap</a:t>
            </a:r>
            <a:r>
              <a:rPr lang="en-US" sz="2800" dirty="0">
                <a:cs typeface="B Lotus" pitchFamily="2" charset="-78"/>
              </a:rPr>
              <a:t>	</a:t>
            </a:r>
            <a:r>
              <a:rPr lang="fa-IR" sz="2800" dirty="0">
                <a:cs typeface="B Lotus" pitchFamily="2" charset="-78"/>
              </a:rPr>
              <a:t> </a:t>
            </a:r>
          </a:p>
          <a:p>
            <a:pPr marL="0" indent="0" algn="ctr" rtl="1">
              <a:buNone/>
            </a:pPr>
            <a:r>
              <a:rPr lang="fa-IR" sz="2800" dirty="0">
                <a:cs typeface="B Lotus" pitchFamily="2" charset="-78"/>
              </a:rPr>
              <a:t>                                </a:t>
            </a:r>
            <a:r>
              <a:rPr lang="en-US" sz="2400" dirty="0">
                <a:latin typeface="Verdana" pitchFamily="34" charset="0"/>
                <a:cs typeface="B Lotus" pitchFamily="2" charset="-78"/>
              </a:rPr>
              <a:t>Map m = new </a:t>
            </a:r>
            <a:r>
              <a:rPr lang="en-US" sz="2400" dirty="0" err="1">
                <a:latin typeface="Verdana" pitchFamily="34" charset="0"/>
                <a:cs typeface="B Lotus" pitchFamily="2" charset="-78"/>
              </a:rPr>
              <a:t>HashMap</a:t>
            </a:r>
            <a:r>
              <a:rPr lang="en-US" sz="2400" dirty="0">
                <a:latin typeface="Verdana" pitchFamily="34" charset="0"/>
                <a:cs typeface="B Lotus" pitchFamily="2" charset="-78"/>
              </a:rPr>
              <a:t>();</a:t>
            </a:r>
            <a:br>
              <a:rPr lang="en-US" sz="2800" dirty="0">
                <a:cs typeface="B Lotus" pitchFamily="2" charset="-78"/>
              </a:rPr>
            </a:br>
            <a:endParaRPr lang="en-US" sz="2800" dirty="0">
              <a:latin typeface="Verdana" pitchFamily="34" charset="0"/>
              <a:cs typeface="B Lotus" pitchFamily="2" charset="-78"/>
            </a:endParaRPr>
          </a:p>
          <a:p>
            <a:endParaRPr lang="en-US" dirty="0"/>
          </a:p>
        </p:txBody>
      </p:sp>
      <p:sp>
        <p:nvSpPr>
          <p:cNvPr id="4" name="Slide Number Placeholder 3"/>
          <p:cNvSpPr>
            <a:spLocks noGrp="1"/>
          </p:cNvSpPr>
          <p:nvPr>
            <p:ph type="sldNum" sz="quarter" idx="12"/>
          </p:nvPr>
        </p:nvSpPr>
        <p:spPr/>
        <p:txBody>
          <a:bodyPr/>
          <a:lstStyle/>
          <a:p>
            <a:fld id="{79E6E8FA-B1EB-4DD1-845A-B9015C921A1C}" type="slidenum">
              <a:rPr lang="en-US" smtClean="0"/>
              <a:pPr/>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Slide Number Placeholder 5"/>
          <p:cNvSpPr>
            <a:spLocks noGrp="1"/>
          </p:cNvSpPr>
          <p:nvPr>
            <p:ph type="sldNum" sz="quarter" idx="12"/>
          </p:nvPr>
        </p:nvSpPr>
        <p:spPr>
          <a:noFill/>
        </p:spPr>
        <p:txBody>
          <a:bodyPr/>
          <a:lstStyle/>
          <a:p>
            <a:fld id="{AF552D2B-0DC2-4546-BD62-AA343D41E84D}" type="slidenum">
              <a:rPr lang="en-US"/>
              <a:pPr/>
              <a:t>47</a:t>
            </a:fld>
            <a:endParaRPr lang="en-US"/>
          </a:p>
        </p:txBody>
      </p:sp>
      <p:sp>
        <p:nvSpPr>
          <p:cNvPr id="33797" name="Rectangle 2"/>
          <p:cNvSpPr>
            <a:spLocks noGrp="1" noChangeArrowheads="1"/>
          </p:cNvSpPr>
          <p:nvPr>
            <p:ph type="title"/>
          </p:nvPr>
        </p:nvSpPr>
        <p:spPr>
          <a:xfrm>
            <a:off x="457200" y="203200"/>
            <a:ext cx="8229600" cy="439718"/>
          </a:xfrm>
        </p:spPr>
        <p:txBody>
          <a:bodyPr>
            <a:noAutofit/>
          </a:bodyPr>
          <a:lstStyle/>
          <a:p>
            <a:pPr rtl="1" eaLnBrk="1" hangingPunct="1"/>
            <a:r>
              <a:rPr lang="fa-IR" sz="2800" dirty="0">
                <a:solidFill>
                  <a:schemeClr val="bg1"/>
                </a:solidFill>
                <a:cs typeface="B Lotus" pitchFamily="2" charset="-78"/>
              </a:rPr>
              <a:t>پیاده سازی </a:t>
            </a:r>
            <a:r>
              <a:rPr lang="en-US" sz="2800" dirty="0">
                <a:solidFill>
                  <a:schemeClr val="bg1"/>
                </a:solidFill>
                <a:cs typeface="B Lotus" pitchFamily="2" charset="-78"/>
              </a:rPr>
              <a:t>HashMap</a:t>
            </a:r>
          </a:p>
        </p:txBody>
      </p:sp>
      <p:sp>
        <p:nvSpPr>
          <p:cNvPr id="33798" name="Rectangle 3"/>
          <p:cNvSpPr>
            <a:spLocks noGrp="1" noChangeArrowheads="1"/>
          </p:cNvSpPr>
          <p:nvPr>
            <p:ph type="body" idx="1"/>
          </p:nvPr>
        </p:nvSpPr>
        <p:spPr>
          <a:xfrm>
            <a:off x="607235" y="642918"/>
            <a:ext cx="8415366" cy="2309810"/>
          </a:xfrm>
        </p:spPr>
        <p:txBody>
          <a:bodyPr>
            <a:normAutofit fontScale="85000" lnSpcReduction="20000"/>
          </a:bodyPr>
          <a:lstStyle/>
          <a:p>
            <a:pPr algn="just" rtl="1" eaLnBrk="1" hangingPunct="1"/>
            <a:r>
              <a:rPr lang="en-US" sz="2400" dirty="0">
                <a:latin typeface="Times New Roman" pitchFamily="18" charset="0"/>
                <a:cs typeface="Times New Roman" pitchFamily="18" charset="0"/>
              </a:rPr>
              <a:t>HashMap</a:t>
            </a:r>
            <a:r>
              <a:rPr lang="fa-IR" sz="2400" dirty="0">
                <a:latin typeface="Courier New" pitchFamily="49" charset="0"/>
                <a:cs typeface="B Lotus" pitchFamily="2" charset="-78"/>
              </a:rPr>
              <a:t> </a:t>
            </a:r>
            <a:r>
              <a:rPr lang="fa-IR" sz="2800" dirty="0">
                <a:latin typeface="Courier New" pitchFamily="49" charset="0"/>
                <a:cs typeface="B Lotus" pitchFamily="2" charset="-78"/>
              </a:rPr>
              <a:t>از یک جدول هش به عنوان فضای ذخیره‏سازی داخلی خود استفاده می‏کند. </a:t>
            </a:r>
          </a:p>
          <a:p>
            <a:pPr lvl="2" algn="r" rtl="1"/>
            <a:r>
              <a:rPr lang="fa-IR" sz="2000" dirty="0">
                <a:latin typeface="Courier New" pitchFamily="49" charset="0"/>
                <a:cs typeface="B Lotus" pitchFamily="2" charset="-78"/>
              </a:rPr>
              <a:t>کلیدها بر مبنای کدهای هش شان و اندازه جدول هش، ذخیره سازی می‏شوند.</a:t>
            </a:r>
          </a:p>
          <a:p>
            <a:pPr algn="r" rtl="1"/>
            <a:r>
              <a:rPr lang="fa-IR" sz="2400" dirty="0">
                <a:latin typeface="Courier New" pitchFamily="49" charset="0"/>
                <a:cs typeface="B Lotus" pitchFamily="2" charset="-78"/>
              </a:rPr>
              <a:t>روشهای ایجاد یک </a:t>
            </a:r>
            <a:r>
              <a:rPr lang="en-US" sz="2400" dirty="0">
                <a:latin typeface="Courier New" pitchFamily="49" charset="0"/>
                <a:cs typeface="B Lotus" pitchFamily="2" charset="-78"/>
              </a:rPr>
              <a:t>:HashMap</a:t>
            </a:r>
          </a:p>
          <a:p>
            <a:pPr algn="r" rtl="1"/>
            <a:endParaRPr lang="fa-IR" sz="2400" dirty="0">
              <a:latin typeface="Courier New" pitchFamily="49" charset="0"/>
              <a:cs typeface="B Lotus" pitchFamily="2" charset="-78"/>
            </a:endParaRPr>
          </a:p>
          <a:p>
            <a:pPr algn="r" rtl="1"/>
            <a:r>
              <a:rPr lang="fa-IR" sz="2400" dirty="0">
                <a:latin typeface="Courier New" pitchFamily="49" charset="0"/>
                <a:cs typeface="B Lotus" pitchFamily="2" charset="-78"/>
              </a:rPr>
              <a:t>سازنده زیر یک سازنده کپی استاندارد است که </a:t>
            </a:r>
          </a:p>
          <a:p>
            <a:pPr algn="r" rtl="1">
              <a:buNone/>
            </a:pPr>
            <a:r>
              <a:rPr lang="fa-IR" sz="2400" dirty="0">
                <a:latin typeface="Courier New" pitchFamily="49" charset="0"/>
                <a:cs typeface="B Lotus" pitchFamily="2" charset="-78"/>
              </a:rPr>
              <a:t>یک</a:t>
            </a:r>
            <a:r>
              <a:rPr lang="en-US" sz="2400" dirty="0">
                <a:latin typeface="Courier New" pitchFamily="49" charset="0"/>
                <a:cs typeface="B Lotus" pitchFamily="2" charset="-78"/>
              </a:rPr>
              <a:t> </a:t>
            </a:r>
            <a:r>
              <a:rPr lang="en-US" sz="2400" dirty="0" err="1"/>
              <a:t>HashMap</a:t>
            </a:r>
            <a:r>
              <a:rPr lang="en-US" sz="2400" dirty="0"/>
              <a:t> </a:t>
            </a:r>
            <a:r>
              <a:rPr lang="fa-IR" sz="2400" dirty="0">
                <a:latin typeface="Courier New" pitchFamily="49" charset="0"/>
                <a:cs typeface="B Lotus" pitchFamily="2" charset="-78"/>
              </a:rPr>
              <a:t>جدید را از </a:t>
            </a:r>
            <a:r>
              <a:rPr lang="en-US" sz="2400" dirty="0">
                <a:latin typeface="Courier New" pitchFamily="49" charset="0"/>
                <a:cs typeface="B Lotus" pitchFamily="2" charset="-78"/>
              </a:rPr>
              <a:t>map</a:t>
            </a:r>
            <a:r>
              <a:rPr lang="fa-IR" sz="2400" dirty="0">
                <a:latin typeface="Courier New" pitchFamily="49" charset="0"/>
                <a:cs typeface="B Lotus" pitchFamily="2" charset="-78"/>
              </a:rPr>
              <a:t> موجود می‏سازد:</a:t>
            </a:r>
            <a:endParaRPr lang="en-US" sz="2400" dirty="0">
              <a:latin typeface="Courier New" pitchFamily="49" charset="0"/>
              <a:cs typeface="B Lotus" pitchFamily="2" charset="-78"/>
            </a:endParaRPr>
          </a:p>
        </p:txBody>
      </p:sp>
      <p:pic>
        <p:nvPicPr>
          <p:cNvPr id="2050" name="Picture 2"/>
          <p:cNvPicPr>
            <a:picLocks noChangeAspect="1" noChangeArrowheads="1"/>
          </p:cNvPicPr>
          <p:nvPr/>
        </p:nvPicPr>
        <p:blipFill>
          <a:blip r:embed="rId2"/>
          <a:srcRect r="33696"/>
          <a:stretch>
            <a:fillRect/>
          </a:stretch>
        </p:blipFill>
        <p:spPr bwMode="auto">
          <a:xfrm>
            <a:off x="457200" y="1523967"/>
            <a:ext cx="4357718" cy="912835"/>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r="59091" b="23986"/>
          <a:stretch>
            <a:fillRect/>
          </a:stretch>
        </p:blipFill>
        <p:spPr bwMode="auto">
          <a:xfrm>
            <a:off x="4868426" y="2857496"/>
            <a:ext cx="3851640" cy="534950"/>
          </a:xfrm>
          <a:prstGeom prst="rect">
            <a:avLst/>
          </a:prstGeom>
          <a:noFill/>
          <a:ln w="9525">
            <a:noFill/>
            <a:miter lim="800000"/>
            <a:headEnd/>
            <a:tailEnd/>
          </a:ln>
          <a:effectLst/>
        </p:spPr>
      </p:pic>
      <p:pic>
        <p:nvPicPr>
          <p:cNvPr id="2054" name="Picture 6" descr="http://www.cs.cmu.edu/~adamchik/15-121/lectures/Hashing/pix/HashMap1.bmp"/>
          <p:cNvPicPr>
            <a:picLocks noChangeAspect="1" noChangeArrowheads="1"/>
          </p:cNvPicPr>
          <p:nvPr/>
        </p:nvPicPr>
        <p:blipFill>
          <a:blip r:embed="rId4"/>
          <a:srcRect/>
          <a:stretch>
            <a:fillRect/>
          </a:stretch>
        </p:blipFill>
        <p:spPr bwMode="auto">
          <a:xfrm>
            <a:off x="285720" y="2500306"/>
            <a:ext cx="3474143" cy="3929090"/>
          </a:xfrm>
          <a:prstGeom prst="rect">
            <a:avLst/>
          </a:prstGeom>
          <a:noFill/>
        </p:spPr>
      </p:pic>
      <p:pic>
        <p:nvPicPr>
          <p:cNvPr id="2056" name="Picture 8" descr="http://incdn1.b0.upaiyun.com/2013/11/Hash_Map31.jpg"/>
          <p:cNvPicPr>
            <a:picLocks noChangeAspect="1" noChangeArrowheads="1"/>
          </p:cNvPicPr>
          <p:nvPr/>
        </p:nvPicPr>
        <p:blipFill>
          <a:blip r:embed="rId5"/>
          <a:srcRect/>
          <a:stretch>
            <a:fillRect/>
          </a:stretch>
        </p:blipFill>
        <p:spPr bwMode="auto">
          <a:xfrm>
            <a:off x="4357686" y="3429000"/>
            <a:ext cx="3648075" cy="321471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8">
                                            <p:txEl>
                                              <p:pRg st="0" end="0"/>
                                            </p:txEl>
                                          </p:spTgt>
                                        </p:tgtEl>
                                        <p:attrNameLst>
                                          <p:attrName>style.visibility</p:attrName>
                                        </p:attrNameLst>
                                      </p:cBhvr>
                                      <p:to>
                                        <p:strVal val="visible"/>
                                      </p:to>
                                    </p:set>
                                    <p:animEffect transition="in" filter="blinds(horizontal)">
                                      <p:cBhvr>
                                        <p:cTn id="7" dur="500"/>
                                        <p:tgtEl>
                                          <p:spTgt spid="337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8">
                                            <p:txEl>
                                              <p:pRg st="1" end="1"/>
                                            </p:txEl>
                                          </p:spTgt>
                                        </p:tgtEl>
                                        <p:attrNameLst>
                                          <p:attrName>style.visibility</p:attrName>
                                        </p:attrNameLst>
                                      </p:cBhvr>
                                      <p:to>
                                        <p:strVal val="visible"/>
                                      </p:to>
                                    </p:set>
                                    <p:animEffect transition="in" filter="blinds(horizontal)">
                                      <p:cBhvr>
                                        <p:cTn id="12" dur="500"/>
                                        <p:tgtEl>
                                          <p:spTgt spid="337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8">
                                            <p:txEl>
                                              <p:pRg st="2" end="2"/>
                                            </p:txEl>
                                          </p:spTgt>
                                        </p:tgtEl>
                                        <p:attrNameLst>
                                          <p:attrName>style.visibility</p:attrName>
                                        </p:attrNameLst>
                                      </p:cBhvr>
                                      <p:to>
                                        <p:strVal val="visible"/>
                                      </p:to>
                                    </p:set>
                                    <p:animEffect transition="in" filter="blinds(horizontal)">
                                      <p:cBhvr>
                                        <p:cTn id="17" dur="500"/>
                                        <p:tgtEl>
                                          <p:spTgt spid="337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blinds(horizontal)">
                                      <p:cBhvr>
                                        <p:cTn id="22" dur="500"/>
                                        <p:tgtEl>
                                          <p:spTgt spid="20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798">
                                            <p:txEl>
                                              <p:pRg st="4" end="4"/>
                                            </p:txEl>
                                          </p:spTgt>
                                        </p:tgtEl>
                                        <p:attrNameLst>
                                          <p:attrName>style.visibility</p:attrName>
                                        </p:attrNameLst>
                                      </p:cBhvr>
                                      <p:to>
                                        <p:strVal val="visible"/>
                                      </p:to>
                                    </p:set>
                                    <p:animEffect transition="in" filter="blinds(horizontal)">
                                      <p:cBhvr>
                                        <p:cTn id="27" dur="500"/>
                                        <p:tgtEl>
                                          <p:spTgt spid="337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798">
                                            <p:txEl>
                                              <p:pRg st="5" end="5"/>
                                            </p:txEl>
                                          </p:spTgt>
                                        </p:tgtEl>
                                        <p:attrNameLst>
                                          <p:attrName>style.visibility</p:attrName>
                                        </p:attrNameLst>
                                      </p:cBhvr>
                                      <p:to>
                                        <p:strVal val="visible"/>
                                      </p:to>
                                    </p:set>
                                    <p:animEffect transition="in" filter="blinds(horizontal)">
                                      <p:cBhvr>
                                        <p:cTn id="32" dur="500"/>
                                        <p:tgtEl>
                                          <p:spTgt spid="337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52"/>
                                        </p:tgtEl>
                                        <p:attrNameLst>
                                          <p:attrName>style.visibility</p:attrName>
                                        </p:attrNameLst>
                                      </p:cBhvr>
                                      <p:to>
                                        <p:strVal val="visible"/>
                                      </p:to>
                                    </p:set>
                                    <p:animEffect transition="in" filter="blinds(horizontal)">
                                      <p:cBhvr>
                                        <p:cTn id="37" dur="500"/>
                                        <p:tgtEl>
                                          <p:spTgt spid="205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56"/>
                                        </p:tgtEl>
                                        <p:attrNameLst>
                                          <p:attrName>style.visibility</p:attrName>
                                        </p:attrNameLst>
                                      </p:cBhvr>
                                      <p:to>
                                        <p:strVal val="visible"/>
                                      </p:to>
                                    </p:set>
                                    <p:animEffect transition="in" filter="blinds(horizontal)">
                                      <p:cBhvr>
                                        <p:cTn id="42" dur="500"/>
                                        <p:tgtEl>
                                          <p:spTgt spid="205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054"/>
                                        </p:tgtEl>
                                        <p:attrNameLst>
                                          <p:attrName>style.visibility</p:attrName>
                                        </p:attrNameLst>
                                      </p:cBhvr>
                                      <p:to>
                                        <p:strVal val="visible"/>
                                      </p:to>
                                    </p:set>
                                    <p:animEffect transition="in" filter="blinds(horizontal)">
                                      <p:cBhvr>
                                        <p:cTn id="4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a:xfrm>
            <a:off x="457200" y="203200"/>
            <a:ext cx="8229600" cy="439718"/>
          </a:xfrm>
        </p:spPr>
        <p:txBody>
          <a:bodyPr>
            <a:noAutofit/>
          </a:bodyPr>
          <a:lstStyle/>
          <a:p>
            <a:pPr rtl="1" eaLnBrk="1" hangingPunct="1"/>
            <a:r>
              <a:rPr lang="fa-IR" sz="2800" dirty="0">
                <a:solidFill>
                  <a:schemeClr val="bg1"/>
                </a:solidFill>
                <a:cs typeface="B Lotus" pitchFamily="2" charset="-78"/>
              </a:rPr>
              <a:t>تصویری از نحوه پیاده سازی </a:t>
            </a:r>
            <a:r>
              <a:rPr lang="en-US" sz="2800" dirty="0">
                <a:solidFill>
                  <a:schemeClr val="bg1"/>
                </a:solidFill>
                <a:cs typeface="B Lotus" pitchFamily="2" charset="-78"/>
              </a:rPr>
              <a:t>HashMap</a:t>
            </a:r>
            <a:r>
              <a:rPr lang="fa-IR" sz="2800" dirty="0">
                <a:solidFill>
                  <a:schemeClr val="bg1"/>
                </a:solidFill>
                <a:cs typeface="B Lotus" pitchFamily="2" charset="-78"/>
              </a:rPr>
              <a:t>-1</a:t>
            </a:r>
            <a:endParaRPr lang="en-US" sz="2800" dirty="0">
              <a:solidFill>
                <a:schemeClr val="bg1"/>
              </a:solidFill>
              <a:cs typeface="B Lotus" pitchFamily="2" charset="-78"/>
            </a:endParaRPr>
          </a:p>
        </p:txBody>
      </p:sp>
      <p:sp>
        <p:nvSpPr>
          <p:cNvPr id="98306" name="AutoShape 2" descr="data:image/jpeg;base64,/9j/4AAQSkZJRgABAQAAAQABAAD/2wCEAAkGBxQSERUUERQVFRUWFxcUFhYUFRgYFRUaGBsaFhwUGBkbICggGRwlHBcWITEkJikrLi4uGR8zODMsNyktLisBCgoKDgwOFxAPFywcHBwsLCwsLCw3LDcsLCwsLCwsLCwsLCwrNzcrLCwsLCwsLCw3LCwsLCwsNywyNywsLCwsLP/AABEIAOYA3AMBIgACEQEDEQH/xAAbAAADAQEBAQEAAAAAAAAAAAAABAUDAgYBB//EAEcQAAIBAgMDBAwLCAIDAQAAAAECAwARBBIhBRMxIkFRUgYUFSMyM1NhcZGT0TRCcnOBkpShsbLSQ1RiY4Kjs9MWJESDwaL/xAAVAQEBAAAAAAAAAAAAAAAAAAAAAf/EABcRAQEBAQAAAAAAAAAAAAAAAAARQQH/2gAMAwEAAhEDEQA/AP3CiiigKKKKAooooPMYjCJnxUzxxyCN3Zg0as7BYIyFDEG2tYbQw0cMdzHhWeRVWIDDgkSOwXNlFy8S5wx4EBTrrpXid45JrwyOHkzqV3diN3GvxnB4qeasFWOLvgwcgKC4NoiUADCy985IszCw01NBNwsEcq4Zliw6mR2ilXtdTleNJC+W9iOVHbXmqhgsAIpobpCrlZgxhQKCORYcATRszacU6LPh4HkR23quhhILFd2W8Zo2XknnpxXeSeNjFIiosly+S12y2AysTzGgqUUUUEbBbMhkaZpIo3YyvymRWOlgNSKlbXkw0WKghEOFCs7CYtGmYDcyyKEFuN4xc8wsPjaWcPM8bSDcSteRmDLu8pBt0uD91KbX29FDumxEMineqsOYw5jI4MYCDeXLEOw05ieagV7Ghh8T2wTBhbJMFQJGhIjMUUil/wCIl29HDmJNKPBRxYuPdRol4Zr5FC3s8Nr2GvE+utYsSVLFcLMC7ZmPeeUbBbnvnVVR9Ar5EzviEcxOirFIpLlNSzREAZWPMjUFSiiigKKKKAooooCiiigKKKKAooooCud4OkeukJccsiShSdEY3ysFI5QurEWbUc3m6a5wmx8Pu07xD4K/sk6B5qCjvB0j10BweBvSfcfD+Qh9knurHDYOOPE97REvFrkULez6XtxoKlFFFAVxLGGUqeBBB9B0rukcdPIHjSPIC+a5cEgBRfgCOmgS2Bs2LBk4aGNY4/GxhRa4Ng4J4sVbKbnmdRzVbqNtDDYkgMrQl4znUCNxewIKeHblKSPpB5q2w7zuquskBVgGB3b6gi4Ph0FOio21cTiYYZJc0LbtGfLu3F8ova+fSm8mJ68Ps3/XQPVC2nsmHGTrvo1dcMwZGOjCbRhlYagKMpI4EsOrW+OmxEaFs0BOgVd24zMxsq+HpckUYLB4iNAu8hJ1LExPdmY5mY985ySaCqK+1HwGIxMoY5oRlkePxbm+Rit/D57U1kxPXh9m/wCugeopHJievD7N/wBdcQYiUTCOUxkMjuCistsjItjdjfw/uoKNFFFAUUUUBRRRQFFFFAUUUUEDCbH3CPbKFWFo+SLGTiQ8n8QGnPxbpsLOF8WnyV/AV8x/in+Q34GkMJLid2neoPBX9u/QP5VAnsfselhMxbHYiTeSvKoOS0YbhGudW0HmsPMK27Qftn4RN4o62h6w08Xam97ivJQe3f8A1VjhXlOK76qL3k2yOz35Yve6LbiKBjue/wC8z+qH/XR3Pf8AeZ/VD/rp+ignnZ7/ALzP6of9dQ9hbBlwuIBlxc2IEkmIkVZMuSIMcwVdL8CAdcvQBXrKXxeCjltvFDWNxfm5tPooGKidjWwnwpxBbESTCad5lWThCGN92mp0ueaw8w51sUuGjxCwNELsgdbE5jqwY2voqgXJ89uJF8IMfgGFwmmXOOclSrSKQAx8JUewNjySCBQV+yr4FifmZPymqlTH2Hh2UholIIsQbkG/MRekJThFZlMRLKXzAA3GQKxbjwIkSx/i5taDfH7CeTHQYkYiRUhV1OHA73IzAgOddCATzHgNRre3Xl8JNhZGGWIZWsoN7nPvGiK6EiwKHUEivqYnBFkXIAXycTbKZCQgIzXuSLaA20va9BV2D4Mvz8/+Q1SqNjNnYWCJ5GiGVQ0jZQSTbUkAHU/jU+fF4JLbyPIeXmViAUEZCszcqxALL4JJN9AbGg9TU+X4XH8zN+eGpBkwxdFTDlrzbhze27bK7m921sEB05nUi9XMJs6KNsyIFYi1+exsba+geqgbooooCiiigKKKKAooooCiiiggwYmQiVZWuWSWRACjIEDFQLqoINivEtf1irGD8WnyV/AVhicMiRylEVSysWKqAWNibkjjxPHpNb4TxafJX8BQbUgfhQ+Zb860/SB+FD5lvzrQP0VhjZ93G72vkVntwvlBNvuqTPtiRDZxADZWtvJSeWwRQLR6kswAA11FBdoqF3ZktwhvcrlzTbwEAMQU3WYWBU8OBB4Gvsu15FUMe1yrLnBWWRhk47zkxmycOVwF+NA/itmRyOHYHMMtjci2Ulh+ZgekEjgaWbYSZY0BORHjcBizW3WqKmvJ1AvxuLg9Ixl2tKEkYLA26UuwEr3sAW0O7sbgVcoCp2I2PE7u5BzOqIxzHgjZlIHAG9tefKt72FMbSxO6hkktfIjPa9r5Re1+asDJiepB7V/9dBlHsCIDTPe+a+diwbOZbgk9ck9GtuGlaYTY8ceTJmGVVXw25QW4XNc3Yi51PHnvSLbdYXF8PcZdBJKWObNlKqI7uDkksRcchuqbOQYmd1V0XDsrAMrLM5VgRcEEJqCKBzGYYSIyNqrAqdbaHjSzbJQtmGZWuxJV2BOcgsNOYlR6LaVrs3EtIpLqFZXZCFJI5JtcEgH7qboJqbFjDBgCDnEvhHV+UC56SQ5B6QAOYVRArDaGIMcTuACVUkAmwJ5gTY2pCbHTIyqywBmvlG8k1y6n9n56CvRUHD7cdyiruLuLoC8q5xYtmTNEMwsL3GnDpFfe7T3I/wCvoCfGSWYAgEqd3ZwCQDlva4vQXaKkS46dUDlIShKeDI97MwW4unnvVegKKW2hiCiZlAJzIoBNhd2VBc2OnKvS0mIxCqWZcOqqCWJlcAAakk5NBQUqK8/3fbLmvhwLkG8koK2AclgY7qoVlYk2ADA8CKoCTE9SD2r/AOugoUUvgJy6XYAG7KQDcXVihsbDS69FMUCGJxiMJo1YF447uo4rnVst/TlNK4Tsewm7T/rQeCv7JegeasINkNC2JkLl1kiA1AzFlMrFmsB1wB5hbQAVawfi0+Sv4CgS/wCO4T92g9knurLCbOihxXeY0jvCb5FC3s68bcasUgfhQ+Zb860HW2vg03zUn5TS+1sE0sCCPLmD4eTlEgERSpKRcA20U2041SmiDqVYXDAqR0g6EUiNix9af7ViP10CKbOmGJOJshYoYt3nYALyCHz5fCupuMvAjXk2PMGypYgSmVmePK3LKZWzyS8g5G5N5Suo0CimNobHAifdNOZMjZB21Pq1jl4yW4246VO7EtnyyYVDjTIJwWSTd4vElSyErmtmFibXsNOcaGgp4/D5MFKGsXEDBmAC5iEILWHnv66r1Mk2FEwIYzkEEEHEzkEHQgjPqKp0E7si+CT/ADUn5TT7i4tXOJgWRGRxdWBVhci4IsRcaiku40fWn+1Yj9dBIwuysTDGEiKDkRREmRibIHzTLmUgSNdBY3A1JvYA+g2fhxHEkarlCKqhQS2UAWtc6n0njXltmbOxD46feM/aarkhKYrEFmkBGYvd734rpoMp569B3Fj60/2rEfroOtj8JfnpfzU/WGDwixLlS9rluUzMSSbklmJJ9db0CW2vESfJpmZLg9Njb6a+YmBZEZH1VgQbEg2PQRqPSKT7jR9af7ViP10E7B7AZBhCxzPAArEsSAN00bCPQcWyceYVrs/Z0q7hGy7uJN2dc28CrlU5CnJJ0J5XNbW9wh2ZYCWLBTPgt806rdM2LmstiCzG8mtlubc9VcHskNGpl3yOVBdVxeIYK1tQDn1F+eg320LQG3Wj/wAi1Qqb3Ei0uZjYg2bETstwbi4L2OoHGqVAltfxa/Owf5o6YxJbI2QKWynKGJCk20DEAkC/PY0YrDrIpVr2NjoSpBBDAggggggG4pCXZMSqSzzgAXJOKxFgBz+MoJWJ2FK6MTYTSCRZJBLYESKqEBd2eSMigAWICjlXJJ9LAmVQOgAeoWryfYxsfElp2xskmVnHa6xz4hcsduLAyFg5vqCTa1X+40fWn+1Yj9dBrsrxZ+cm/wAr05WWGw6xqFW9hfiSx1JJJJJJJJJua1oMMf4qT5DfgamYTEYvdp/14PBX/wAp+gfyKzXEvmmRnzoYWkQgLbiwYLl4KLoOVckg9FWMJ4tPkr+FAh2xi/3eD7U/+is8HJKcV36ONO8m2SUyX5a3vdFt99YbJ7MMNiTMIt8TDK0L94lIzLxsVUj/AO12drR9tA2l8S3/AI83XXmyXoLtFTu7UfVn+y4j/XSO2+yyHDQPM6YgqgBIGHmUnUDQuoXn5yKCxJjY1NmdFPQWUH1E1Oix8SYhxvI8so3g5a+GlkYcedd36mrLsdmjxAmlVDZ5QRvYij23UXFXAYVx2XSxYXDNinjBGHKykJHmYi+RgAOlGYXOgvc2AvQV+6MXlY/rr76+d0YvKx/XX31ngN1NEkqxgLIquA0YVgGFxmUi4OvClcXhU7bg5C+Ln+KP5VA/3Ri8rH9dffSu0drxqnIkjLsQictSMx+MdeCi7HzKad7Uj6ifVFee7HtoQY2ado4iq4Z2w/fIgt3HhuOkaADnHKvbNQV8LiYI0VRLHZRa5kW56WJvxJuSfPWndaDy0XtE99J9kmFQYSfkL4p/ijoNVt0vQPUKBXurB5aL2ie+jurB5aL2ie+pm0uySCDGRYR45TJLG0qtHAzoApIsSoJvoeANtL2uLu904upN9kn/ANdA/DMrjMhDKeBUgg83EVzNiUS2dlW/DMwF/XUbZG1owjjLN42Y6YafnkY8yVP7HeyKHaMySRxyALFOpE0RUX3kQurEZXGh4G40uBeg9FNjIXVlMsdmBU8teBFumltkbVjbDxM0iZjGhN3W9yovz9NP9qR9RPqivP8AYTtGDF4ctHEwEcskPfYcjHIxsQCOqV9BuDa1Bc7oxeVj+uvvr73Ri8rH9dffSPZBhU3B5C+HF8UeVSqPakfUT6ooM+6MXlY/rr76QfHxTPrJHuoz11744+nwVPrb5OqWO2nEcaMAkTLK0W+aURjdqlyCA3XNrDSwve9xY3osDEoAWNAALABRYAc1Bn3Vg55ovaJ76O6sHlovaJ76X2DEu6PJHjsRzDy8lUd0vQPUKBburB5aL2ie+jutB5aL2ie+md0vQPUK8L2dxr2wmg8UOYdZ6D2OKw6LHKVVVLKxYqoBY2OptxNbYTxafJX8BSkuPjkjlEbqxVGuB/Utx0i4IuNLg0YTZUG7TvMXgr+zXoHmoKAW3AUi3wofMt+da77kweRi9mvupaDCJHihu0VLwm+VQL8teigq18ZQeIv6a+0UEuJZY5JiIs6vJnBDgaZEWxB57qa7XGyEaQgjUaSoRpoR67iqDCvHYfZmLQOOVZp5ZBlcC0bTTPkAWReUc0b5swJBZTa2Uh6PtqbyH9xKUxG/M8Um5FkWRSN6tznyWt9U1hsaOYTZZHdlWJHbM3K3jjJkIDMBZY81sxF5L68at4uHOjJmZcylcykhluLZlI4EcaBbtubyH9xa5TGSHUQ31I0lTiDYj03Fqg4vDY4xK1pN6xd2VJRZCN2qILyKCpVGb4wuzXGt62iwmJRiFV8rTB7rIoVV7ckmYsMwPKhZeF7jQ2oH9rb+WCWNYQC6MoJkWwJFtabOLm8h/cWkexvDYhM3bDOSVQHMbqXGbM6HeOQDcaZUGg04gd9kOFmfWEuCsUxXJJkvJZd3fUX1zcdON6Bs4qXyH9xKO3JfI/3UqLJhMXnkIaS5L5CCN2Lsu7Ygy8FHECMZgrjW4zPbEwciSO0iuC0UIJaTPdlDBh4R14G9he/pFA9smFlQ5wAWeR7A3sGdmAv6CKyxULrNHJGgZVjkQjMFILNGwtfS3INUqKCf27Le251ABI3qXsb2NujQ+o197al8h/cSpO1MBiTjGlhvkMMUYswXlg4g5zrcqhkjJUixDHwiLUtDhsSpjBeQF3EbK78EKhpJFtLISboADcWLNa19Qq7T38sZUQ2OZDrIvxXVj9wNNdtzeQ/uLT9eaxWExOeXKXKC26tJq4lkR5LjMp72FYLqujkAigqDGSXtuRewNt6l7G9j9xrrtqbyH91ag4DCYtGSR0kYjIrDeR53RZMUACS9jZZIW1b1sLVr2P4PFq8ZnaTRVzXYMpG6UZG774We5zBLkg8qxoH9nGeNCrQ8XlfSVbWeR3A9TCmu25vIf3Fr7tiJ3iKx5gxKaq2VgM65rNcW5Oaoj4HFhls0mRWcLZ8zAb4kM95Vzgx5PCzmwbQE6hZOMl8j/dT0157si2TicRKrpEgAQLypRfQsb6A9NNYPAT7yJpVkOWZmF5QckbRMqhhm5RUkK3hXJvcgm3pxQQ4sNJaaScAMY3VcrXREFyEUWBudCSeJ6AAKrYPxafJX8BXzH+Kk+Q34Gp+Exk+7T/rfFX9snQKCvSB+FD5lvzrXHbs/7t/eSscLNI2K75Hu+8m3LDX5a9HCgsUUUUBWeIlCIzsbKoLMegAXJ9VaVP7IvgmI+Zl/I1B13TTqzfZ5/wBFfe6idWb7PP8AoqTtxN3JCd4VWSRs+eZok0jcgZlsbXtpfmFTBj8RljkAlK4ZV3pD8mTMe+MbkM4WG0iGxJLC+t6D1HdNOrN9nn/RW+FxSyC6XsCVN1ZSCOIIYAj1VJwOAz74byYWmIB30jckKpsMzGwuTwp7ZP7X55//AJQP1niJgiM7GyqCxOpsBrwGtaUht74NN8234UH3uonVl+zz/or73UTqzfZ5/wBFOGvIRyOcOyiR5HIgVZkeZbSTMYyGUvdSl85XTQi6iwoPR91E6s32ef8ARW+FxKyLmS9rkagqbqSCCGAIIII4V1h4cihQWIUBbsxZjbS5Y6k+c0nsXwH+en/yvQUK+Wr7RQFFFFAUUUUBRRRQFFFFBIE8h7bSTLZByAoNwpS/KJ4te50AGoGtrmjhPFp8lfwFZ42MCOUgAEo1zbU2U2v01phPFp8lfwFBL2H2U4bFvKkEmZ4ZGidSCrZl4kA6sPOKbPwofMt+daYmwcbqVeNGUnMQyggnrEHn89STs8rihupHTvLGxOdPDXTK97DzKRQXaKn72dPCjWUdMTZWP9DmwH9ZruPasROUtkY6BZAUJPQM1s30XoHaX2jht7DJHfLvEdL2vbMpW9ufjW96+0CYSfrRfUf9dQuyrsjfACBpQHWaZYO9xOzqWV2DBAxL6paw1157WPqayxEKurKwuGBU+gix/GgXUTn40X1H/XXWz8M0YbMwYs7OcoIAvzWJPRXzZcxKlXN3jORz0kC4f+pSrfSRzU5QFL7Rw29ikjByl1ZQSLgEi17XF/XTFFAnkn60X1H/AF1D2b2RvPjZ8IgAbDqjOzxOoJckAIC12Gl83A81+NehxmJEaFiL24AcWJ0CjzkkD6a42fhsiANYubs7dLMbsR5r8BzAAc1Bzkn60X1H/XX3ZuFMakMwYl5HJAsOWxewBJ4XtTdFAUUUUBRRRQFFFFAUUUUBRRRQJYjFI8coR1YorBgrAlTYixtw1B9RpXCbDw+7TvY8Feduj00phcBIitnFhHA8QNx3y5LZ7DgLW463ZvSbmE8WnyV/AUCfcPD+THrb31lhcDHFiu9qFvCb6nWzjppTZGHxmHaY4iXtpHlZ4wihHhQ8Ey6BwB576aZr6O4bFLJiQUN7QsCNQVOddGU6qfMRQVa5kjDAhgCDxBFwforqignnZSjxTPF823I9m10H0Levt8QnNHKPNeN/Ubqx+lRT9FBH2j2Rw4eJ5cTnhVBmbOht6Ay3Vj5gSa42aFxO8kWV2Qv3sxzMEKZEIK5TYg3vfz1Sx+BjnQxzRpIhsSkihlNjcXB0NiAambMnhw5lj5MQEpKoFyqAVTUAC1uNBltPBRwMJ3lkSOwSZmncBRfkSFi2gVmIPmck8Kops1CARJMQRcETyWI6RrSm2GweKhaDEFZI3tmU5tbG4NxqCCAb+amMLj8NEixxsqoiqiKAbKqiwUacAABQJz4S2KhjEk2Rop3Yb59SjQBTe99A7euqHctevN7eT31NxG04jjIWD8kQ4hSbGwLNhyATbicreo1T7sQ+UH3+6glwYaLETERzSOkByuVxDsN91CQ2jIupHS69FbbawW7gd0kmDACx3znnA5zWexosDhA4w2SMSOZXy5uUzcTr+HCutv7TibDyKrgkgWABJOo81BQ7lr15vbye+juWvXm9vJ76O7EPlB9/uo7sQ+UH3+6g+dy1683t5PfRsRiYzclsssyAsbmyyOoBJ1NgAK+92IfKD7/dXGwTeJjzGWdhpa4MrkH0EGgo0UUUBRRRQFFFFAUUUUGOLQsjKOJVgPpBFJwYmVVUdrvoAPDj5h8qqVFAh25L+7v9eP8AVShwTSz7x0aIrGUDB1z3LAjwSQQLcGuPMatUUE8TyR+MXeL1415Q+VGNT6Uv8kU3h51cZkYMvSpuK1pObZ6li6ko54umha3XHBx6R6LUDlFTxjHj8eunlY7lPSy6sn/6HSRT0cgYAqQQdQQbgjpBFB1RRRQeUwHZJIRlZbuZjELjlEXmYSZUHgERFRzkq17WqjsvbTSybsx5G3aysM18quqFeHG7GVf/AFGqb4OMghkQgixBUEEXzWt6dfTX2HDKrMw4sFHoC3so6BqTbzmg+Y2Rljdo1zuFJVb2zEC4W/NfhUCXsq5KyRqGjduSbnlJvEhEl7ZQCzMRc62Fgb6emNLvgozluiHLcLdQct9CB0aUETCbfa+RrMwaMXuASJZp4gMoHMIdOnXopzYG12xChimUNHHKpudRICcuvG1hyhob6cKodqJcHIt18E5Rdb66Hm11rqDDql8iquY5mygDMek24nz0Ezbe1ngYBUVhuppmuxBtEYxlUAcSHOvNYdNJzdkrASMIrqhlGhOZjFKsRVbizM1yVA57A8a9BJCG4gHQjUX0PEeg2HqrjtVMxbIuY2u2UZjbhc8TbS1AhsfGPI8mcoVG6K5NQM0audfjC50NVqyjw6qbqqg2AuAAbC9h6Bc+s1regKKKKAooooCiiigKKKKAooooCiiigKKKKApGTZ1iWhbdMTcgC8bH+JOH0izeenqKCf3QyaTjJ/GDeI+lvic2jW42BNPg0EUgcAU1gbJ/LIvEfQvFP6dNbkGgoUUlFtDULKu6Y6C5ujH+B+B9Bs3mp2gKR278Gm+bb8KepPbMZbDyqoJYowAHEm3AUHndtomGjF4cMZGZiqkWUogztxtyj4I87rxrCHFQs5AggytNGkLBbh42Ed2P8QMgPQQy+e3ojilz59zNmClQd2dASCQNecgeoVLZsHCYYmgZCZTJArKb70KblLnjlJ0HNfSoPmH2YW3oEeFLRyZB3llB5Kvc8s9a1V9goBGwGgEswA6AJXAA81fIsWqlisMwLHM3ezqbBb8egD1V3sVWEbZlK3lmYBtDZpGYEjmuCDVD9JbXW8TA8CVB84LAEeo07Sm1FJiOUEm6mw4mzAm30CgzOxsP5GP6orzG0MXHDhnd8Ph1mDyqiE3W0ZN2LWBNltew8IhecGvUd0v5U3szU7uhh5DLh927NbPLGEJIEt9W10zZW9VA+NjYcjxMZ/pFfdhraKw4CSZQOgCVwAPMAAK+naX8qb2Zr7sdSIuUpUl5Ws3EBpHYX+gigdooooCiiigKKKKAooooCiiigKKKKAooooOJIgwIYAg6EEXBHQQaSGEePxLXXyUhJX+l9WT0coC1gBVCigTw+0FZsjAxv1H0J+SfBcfJJtz2pysp8Orgq4DA8xFx6fTSe5liPezvE6kh5Y+TJz+h73v4QoKNReybsdixixmVA7wtvYQxOQSDhmA4jS2vTT0O0Ua9zkKi7K/JZR0kHm84uPPWMeKncsUSLKHZBmdrnKStyAhtqDz0DeDxAkQONARwPFTwKnoIIIPnBreoUT4iOYrkhyykuO+PYOBylHI+MBmt0q556ez4nqQ+0f8ARQP0VIbG4gTCLdw3KNJfeP8AFZVtbJ/F91MZ8T1IfaP+igbnmVFLMbKoLE9AGpNRux3sehw7zYhI93NiSHmAJte7FRa9gQGIJHE3NGKfESSLHkhsuWV++PbQ8hfA52Ut/R5612jjsREmcxwnlRpbeOPGOsd/A5s1/ooLFFIZ8T1IfaP+ijPiepD7R/0UD9FIZ8T1IfaP+itdm4kyRhmAU3dSAbi6sU0JA05N+FA1RRRQFFFFAUUUUBRRRQFFFFAUUUUBRRRQFFFFBK7JNgRY6AwT5sjWvkOVtNbBrXAPPbiNOFHYzhd1Bu87vkklUNIczsA7AFmtyjbn4nnqrSD7JjJJ74CxJOWaVRc8TZWAHqoFuyvZMuKwzRQTnDS5kZJlXMUKsCdLjiLjjz/RVaJSFAJzEAAm1rnpsOF68vgMZhpIkk7/AHYeCk+IflZc7KCG5WUDW3A6cdKewceGlIEbytcM2k89rKVF75+BzKR0g3FA1J8NT5iT88dUiKj4zZcEatM++72jEsJpywUcpgAHufBvYdFLTvhUvmaewcIWE2IygkoPCz24yIPX0Gwb9iux5cLHIuIxDYl5JXl3jKFIBAATTmAX77CwAFbdkviB89hv88dT8JNh2RGczIWy3HbE5ClozLa+bqgm9b4fBYfEAgb45SjFXmxAPM6NYv0gEecdIoLtFQsfHh4SBIZ9VZ9JsQwCplzMSH0AzCsXxGEFyXmAFzmM2IykBshYHPqA1lv0svSKD0dIbD8T/wCyb/K9I7PgilaVQMQu7cJyp5xmzIkl7Z9NHt9FV8Lh1jUIgsova5JOpuSSbkm5J1oNqKKKAooooCiiigKKKKAooooCiiigKKKKAooooCiiighDsZhChVzALbL4LWIXdlrMpBJXKDcfFU6HWndn7OEckjjjJkHE6Ki5Rx5+N7eaiih0+4uDUL/jEOSNAXAjDBTmBY5mDkliCb5lBuOPA3BIooold9wIuSOWVUAZCwytZGiu2lzyHI4gcNKe2Xs9YAVS5vbiFHAWA5IF/SdfPRRTFc7Q2ck1899Y5ItDbky5Q308ka0p/wAfhsy2ORjcpyQLXLZbgZiM1jqTwFtNKKKhT2BwQjLkMzGQqzZiOKosd9Bzqi38/RTlFFAUUUVR/9k="/>
          <p:cNvSpPr>
            <a:spLocks noChangeAspect="1" noChangeArrowheads="1"/>
          </p:cNvSpPr>
          <p:nvPr/>
        </p:nvSpPr>
        <p:spPr bwMode="auto">
          <a:xfrm>
            <a:off x="155575" y="-1858963"/>
            <a:ext cx="3705225" cy="38766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8308" name="AutoShape 4" descr="data:image/jpeg;base64,/9j/4AAQSkZJRgABAQAAAQABAAD/2wCEAAkGBxQSERUUERQVFRUWFxcUFhYUFRgYFRUaGBsaFhwUGBkbICggGRwlHBcWITEkJikrLi4uGR8zODMsNyktLisBCgoKDgwOFxAPFywcHBwsLCwsLCw3LDcsLCwsLCwsLCwsLCwrNzcrLCwsLCwsLCw3LCwsLCwsNywyNywsLCwsLP/AABEIAOYA3AMBIgACEQEDEQH/xAAbAAADAQEBAQEAAAAAAAAAAAAABAUDAgYBB//EAEcQAAIBAgMDBAwLCAIDAQAAAAECAwARBBIhBRMxIkFRUgYUFSMyM1NhcZGT0TRCcnOBkpShsbLSQ1RiY4Kjs9MWJESDwaL/xAAVAQEBAAAAAAAAAAAAAAAAAAAAAf/EABcRAQEBAQAAAAAAAAAAAAAAAAARQQH/2gAMAwEAAhEDEQA/AP3CiiigKKKKAooooPMYjCJnxUzxxyCN3Zg0as7BYIyFDEG2tYbQw0cMdzHhWeRVWIDDgkSOwXNlFy8S5wx4EBTrrpXid45JrwyOHkzqV3diN3GvxnB4qeasFWOLvgwcgKC4NoiUADCy985IszCw01NBNwsEcq4Zliw6mR2ilXtdTleNJC+W9iOVHbXmqhgsAIpobpCrlZgxhQKCORYcATRszacU6LPh4HkR23quhhILFd2W8Zo2XknnpxXeSeNjFIiosly+S12y2AysTzGgqUUUUEbBbMhkaZpIo3YyvymRWOlgNSKlbXkw0WKghEOFCs7CYtGmYDcyyKEFuN4xc8wsPjaWcPM8bSDcSteRmDLu8pBt0uD91KbX29FDumxEMineqsOYw5jI4MYCDeXLEOw05ieagV7Ghh8T2wTBhbJMFQJGhIjMUUil/wCIl29HDmJNKPBRxYuPdRol4Zr5FC3s8Nr2GvE+utYsSVLFcLMC7ZmPeeUbBbnvnVVR9Ar5EzviEcxOirFIpLlNSzREAZWPMjUFSiiigKKKKAooooCiiigKKKKAooooCud4OkeukJccsiShSdEY3ysFI5QurEWbUc3m6a5wmx8Pu07xD4K/sk6B5qCjvB0j10BweBvSfcfD+Qh9knurHDYOOPE97REvFrkULez6XtxoKlFFFAVxLGGUqeBBB9B0rukcdPIHjSPIC+a5cEgBRfgCOmgS2Bs2LBk4aGNY4/GxhRa4Ng4J4sVbKbnmdRzVbqNtDDYkgMrQl4znUCNxewIKeHblKSPpB5q2w7zuquskBVgGB3b6gi4Ph0FOio21cTiYYZJc0LbtGfLu3F8ova+fSm8mJ68Ps3/XQPVC2nsmHGTrvo1dcMwZGOjCbRhlYagKMpI4EsOrW+OmxEaFs0BOgVd24zMxsq+HpckUYLB4iNAu8hJ1LExPdmY5mY985ySaCqK+1HwGIxMoY5oRlkePxbm+Rit/D57U1kxPXh9m/wCugeopHJievD7N/wBdcQYiUTCOUxkMjuCistsjItjdjfw/uoKNFFFAUUUUBRRRQFFFFAUUUUEDCbH3CPbKFWFo+SLGTiQ8n8QGnPxbpsLOF8WnyV/AV8x/in+Q34GkMJLid2neoPBX9u/QP5VAnsfselhMxbHYiTeSvKoOS0YbhGudW0HmsPMK27Qftn4RN4o62h6w08Xam97ivJQe3f8A1VjhXlOK76qL3k2yOz35Yve6LbiKBjue/wC8z+qH/XR3Pf8AeZ/VD/rp+ignnZ7/ALzP6of9dQ9hbBlwuIBlxc2IEkmIkVZMuSIMcwVdL8CAdcvQBXrKXxeCjltvFDWNxfm5tPooGKidjWwnwpxBbESTCad5lWThCGN92mp0ueaw8w51sUuGjxCwNELsgdbE5jqwY2voqgXJ89uJF8IMfgGFwmmXOOclSrSKQAx8JUewNjySCBQV+yr4FifmZPymqlTH2Hh2UholIIsQbkG/MRekJThFZlMRLKXzAA3GQKxbjwIkSx/i5taDfH7CeTHQYkYiRUhV1OHA73IzAgOddCATzHgNRre3Xl8JNhZGGWIZWsoN7nPvGiK6EiwKHUEivqYnBFkXIAXycTbKZCQgIzXuSLaA20va9BV2D4Mvz8/+Q1SqNjNnYWCJ5GiGVQ0jZQSTbUkAHU/jU+fF4JLbyPIeXmViAUEZCszcqxALL4JJN9AbGg9TU+X4XH8zN+eGpBkwxdFTDlrzbhze27bK7m921sEB05nUi9XMJs6KNsyIFYi1+exsba+geqgbooooCiiigKKKKAooooCiiiggwYmQiVZWuWSWRACjIEDFQLqoINivEtf1irGD8WnyV/AVhicMiRylEVSysWKqAWNibkjjxPHpNb4TxafJX8BQbUgfhQ+Zb860/SB+FD5lvzrQP0VhjZ93G72vkVntwvlBNvuqTPtiRDZxADZWtvJSeWwRQLR6kswAA11FBdoqF3ZktwhvcrlzTbwEAMQU3WYWBU8OBB4Gvsu15FUMe1yrLnBWWRhk47zkxmycOVwF+NA/itmRyOHYHMMtjci2Ulh+ZgekEjgaWbYSZY0BORHjcBizW3WqKmvJ1AvxuLg9Ixl2tKEkYLA26UuwEr3sAW0O7sbgVcoCp2I2PE7u5BzOqIxzHgjZlIHAG9tefKt72FMbSxO6hkktfIjPa9r5Re1+asDJiepB7V/9dBlHsCIDTPe+a+diwbOZbgk9ck9GtuGlaYTY8ceTJmGVVXw25QW4XNc3Yi51PHnvSLbdYXF8PcZdBJKWObNlKqI7uDkksRcchuqbOQYmd1V0XDsrAMrLM5VgRcEEJqCKBzGYYSIyNqrAqdbaHjSzbJQtmGZWuxJV2BOcgsNOYlR6LaVrs3EtIpLqFZXZCFJI5JtcEgH7qboJqbFjDBgCDnEvhHV+UC56SQ5B6QAOYVRArDaGIMcTuACVUkAmwJ5gTY2pCbHTIyqywBmvlG8k1y6n9n56CvRUHD7cdyiruLuLoC8q5xYtmTNEMwsL3GnDpFfe7T3I/wCvoCfGSWYAgEqd3ZwCQDlva4vQXaKkS46dUDlIShKeDI97MwW4unnvVegKKW2hiCiZlAJzIoBNhd2VBc2OnKvS0mIxCqWZcOqqCWJlcAAakk5NBQUqK8/3fbLmvhwLkG8koK2AclgY7qoVlYk2ADA8CKoCTE9SD2r/AOugoUUvgJy6XYAG7KQDcXVihsbDS69FMUCGJxiMJo1YF447uo4rnVst/TlNK4Tsewm7T/rQeCv7JegeasINkNC2JkLl1kiA1AzFlMrFmsB1wB5hbQAVawfi0+Sv4CgS/wCO4T92g9knurLCbOihxXeY0jvCb5FC3s68bcasUgfhQ+Zb860HW2vg03zUn5TS+1sE0sCCPLmD4eTlEgERSpKRcA20U2041SmiDqVYXDAqR0g6EUiNix9af7ViP10CKbOmGJOJshYoYt3nYALyCHz5fCupuMvAjXk2PMGypYgSmVmePK3LKZWzyS8g5G5N5Suo0CimNobHAifdNOZMjZB21Pq1jl4yW4246VO7EtnyyYVDjTIJwWSTd4vElSyErmtmFibXsNOcaGgp4/D5MFKGsXEDBmAC5iEILWHnv66r1Mk2FEwIYzkEEEHEzkEHQgjPqKp0E7si+CT/ADUn5TT7i4tXOJgWRGRxdWBVhci4IsRcaiku40fWn+1Yj9dBIwuysTDGEiKDkRREmRibIHzTLmUgSNdBY3A1JvYA+g2fhxHEkarlCKqhQS2UAWtc6n0njXltmbOxD46feM/aarkhKYrEFmkBGYvd734rpoMp569B3Fj60/2rEfroOtj8JfnpfzU/WGDwixLlS9rluUzMSSbklmJJ9db0CW2vESfJpmZLg9Njb6a+YmBZEZH1VgQbEg2PQRqPSKT7jR9af7ViP10E7B7AZBhCxzPAArEsSAN00bCPQcWyceYVrs/Z0q7hGy7uJN2dc28CrlU5CnJJ0J5XNbW9wh2ZYCWLBTPgt806rdM2LmstiCzG8mtlubc9VcHskNGpl3yOVBdVxeIYK1tQDn1F+eg320LQG3Wj/wAi1Qqb3Ei0uZjYg2bETstwbi4L2OoHGqVAltfxa/Owf5o6YxJbI2QKWynKGJCk20DEAkC/PY0YrDrIpVr2NjoSpBBDAggggggG4pCXZMSqSzzgAXJOKxFgBz+MoJWJ2FK6MTYTSCRZJBLYESKqEBd2eSMigAWICjlXJJ9LAmVQOgAeoWryfYxsfElp2xskmVnHa6xz4hcsduLAyFg5vqCTa1X+40fWn+1Yj9dBrsrxZ+cm/wAr05WWGw6xqFW9hfiSx1JJJJJJJJJua1oMMf4qT5DfgamYTEYvdp/14PBX/wAp+gfyKzXEvmmRnzoYWkQgLbiwYLl4KLoOVckg9FWMJ4tPkr+FAh2xi/3eD7U/+is8HJKcV36ONO8m2SUyX5a3vdFt99YbJ7MMNiTMIt8TDK0L94lIzLxsVUj/AO12drR9tA2l8S3/AI83XXmyXoLtFTu7UfVn+y4j/XSO2+yyHDQPM6YgqgBIGHmUnUDQuoXn5yKCxJjY1NmdFPQWUH1E1Oix8SYhxvI8so3g5a+GlkYcedd36mrLsdmjxAmlVDZ5QRvYij23UXFXAYVx2XSxYXDNinjBGHKykJHmYi+RgAOlGYXOgvc2AvQV+6MXlY/rr76+d0YvKx/XX31ngN1NEkqxgLIquA0YVgGFxmUi4OvClcXhU7bg5C+Ln+KP5VA/3Ri8rH9dffSu0drxqnIkjLsQictSMx+MdeCi7HzKad7Uj6ifVFee7HtoQY2ado4iq4Z2w/fIgt3HhuOkaADnHKvbNQV8LiYI0VRLHZRa5kW56WJvxJuSfPWndaDy0XtE99J9kmFQYSfkL4p/ijoNVt0vQPUKBXurB5aL2ie+jurB5aL2ie+pm0uySCDGRYR45TJLG0qtHAzoApIsSoJvoeANtL2uLu904upN9kn/ANdA/DMrjMhDKeBUgg83EVzNiUS2dlW/DMwF/XUbZG1owjjLN42Y6YafnkY8yVP7HeyKHaMySRxyALFOpE0RUX3kQurEZXGh4G40uBeg9FNjIXVlMsdmBU8teBFumltkbVjbDxM0iZjGhN3W9yovz9NP9qR9RPqivP8AYTtGDF4ctHEwEcskPfYcjHIxsQCOqV9BuDa1Bc7oxeVj+uvvr73Ri8rH9dffSPZBhU3B5C+HF8UeVSqPakfUT6ooM+6MXlY/rr76QfHxTPrJHuoz11744+nwVPrb5OqWO2nEcaMAkTLK0W+aURjdqlyCA3XNrDSwve9xY3osDEoAWNAALABRYAc1Bn3Vg55ovaJ76O6sHlovaJ76X2DEu6PJHjsRzDy8lUd0vQPUKBburB5aL2ie+jutB5aL2ie+md0vQPUK8L2dxr2wmg8UOYdZ6D2OKw6LHKVVVLKxYqoBY2OptxNbYTxafJX8BSkuPjkjlEbqxVGuB/Utx0i4IuNLg0YTZUG7TvMXgr+zXoHmoKAW3AUi3wofMt+da77kweRi9mvupaDCJHihu0VLwm+VQL8teigq18ZQeIv6a+0UEuJZY5JiIs6vJnBDgaZEWxB57qa7XGyEaQgjUaSoRpoR67iqDCvHYfZmLQOOVZp5ZBlcC0bTTPkAWReUc0b5swJBZTa2Uh6PtqbyH9xKUxG/M8Um5FkWRSN6tznyWt9U1hsaOYTZZHdlWJHbM3K3jjJkIDMBZY81sxF5L68at4uHOjJmZcylcykhluLZlI4EcaBbtubyH9xa5TGSHUQ31I0lTiDYj03Fqg4vDY4xK1pN6xd2VJRZCN2qILyKCpVGb4wuzXGt62iwmJRiFV8rTB7rIoVV7ckmYsMwPKhZeF7jQ2oH9rb+WCWNYQC6MoJkWwJFtabOLm8h/cWkexvDYhM3bDOSVQHMbqXGbM6HeOQDcaZUGg04gd9kOFmfWEuCsUxXJJkvJZd3fUX1zcdON6Bs4qXyH9xKO3JfI/3UqLJhMXnkIaS5L5CCN2Lsu7Ygy8FHECMZgrjW4zPbEwciSO0iuC0UIJaTPdlDBh4R14G9he/pFA9smFlQ5wAWeR7A3sGdmAv6CKyxULrNHJGgZVjkQjMFILNGwtfS3INUqKCf27Le251ABI3qXsb2NujQ+o197al8h/cSpO1MBiTjGlhvkMMUYswXlg4g5zrcqhkjJUixDHwiLUtDhsSpjBeQF3EbK78EKhpJFtLISboADcWLNa19Qq7T38sZUQ2OZDrIvxXVj9wNNdtzeQ/uLT9eaxWExOeXKXKC26tJq4lkR5LjMp72FYLqujkAigqDGSXtuRewNt6l7G9j9xrrtqbyH91ag4DCYtGSR0kYjIrDeR53RZMUACS9jZZIW1b1sLVr2P4PFq8ZnaTRVzXYMpG6UZG774We5zBLkg8qxoH9nGeNCrQ8XlfSVbWeR3A9TCmu25vIf3Fr7tiJ3iKx5gxKaq2VgM65rNcW5Oaoj4HFhls0mRWcLZ8zAb4kM95Vzgx5PCzmwbQE6hZOMl8j/dT0157si2TicRKrpEgAQLypRfQsb6A9NNYPAT7yJpVkOWZmF5QckbRMqhhm5RUkK3hXJvcgm3pxQQ4sNJaaScAMY3VcrXREFyEUWBudCSeJ6AAKrYPxafJX8BXzH+Kk+Q34Gp+Exk+7T/rfFX9snQKCvSB+FD5lvzrXHbs/7t/eSscLNI2K75Hu+8m3LDX5a9HCgsUUUUBWeIlCIzsbKoLMegAXJ9VaVP7IvgmI+Zl/I1B13TTqzfZ5/wBFfe6idWb7PP8AoqTtxN3JCd4VWSRs+eZok0jcgZlsbXtpfmFTBj8RljkAlK4ZV3pD8mTMe+MbkM4WG0iGxJLC+t6D1HdNOrN9nn/RW+FxSyC6XsCVN1ZSCOIIYAj1VJwOAz74byYWmIB30jckKpsMzGwuTwp7ZP7X55//AJQP1niJgiM7GyqCxOpsBrwGtaUht74NN8234UH3uonVl+zz/or73UTqzfZ5/wBFOGvIRyOcOyiR5HIgVZkeZbSTMYyGUvdSl85XTQi6iwoPR91E6s32ef8ARW+FxKyLmS9rkagqbqSCCGAIIII4V1h4cihQWIUBbsxZjbS5Y6k+c0nsXwH+en/yvQUK+Wr7RQFFFFAUUUUBRRRQFFFFBIE8h7bSTLZByAoNwpS/KJ4te50AGoGtrmjhPFp8lfwFZ42MCOUgAEo1zbU2U2v01phPFp8lfwFBL2H2U4bFvKkEmZ4ZGidSCrZl4kA6sPOKbPwofMt+daYmwcbqVeNGUnMQyggnrEHn89STs8rihupHTvLGxOdPDXTK97DzKRQXaKn72dPCjWUdMTZWP9DmwH9ZruPasROUtkY6BZAUJPQM1s30XoHaX2jht7DJHfLvEdL2vbMpW9ufjW96+0CYSfrRfUf9dQuyrsjfACBpQHWaZYO9xOzqWV2DBAxL6paw1157WPqayxEKurKwuGBU+gix/GgXUTn40X1H/XXWz8M0YbMwYs7OcoIAvzWJPRXzZcxKlXN3jORz0kC4f+pSrfSRzU5QFL7Rw29ikjByl1ZQSLgEi17XF/XTFFAnkn60X1H/AF1D2b2RvPjZ8IgAbDqjOzxOoJckAIC12Gl83A81+NehxmJEaFiL24AcWJ0CjzkkD6a42fhsiANYubs7dLMbsR5r8BzAAc1Bzkn60X1H/XX3ZuFMakMwYl5HJAsOWxewBJ4XtTdFAUUUUBRRRQFFFFAUUUUBRRRQJYjFI8coR1YorBgrAlTYixtw1B9RpXCbDw+7TvY8Feduj00phcBIitnFhHA8QNx3y5LZ7DgLW463ZvSbmE8WnyV/AUCfcPD+THrb31lhcDHFiu9qFvCb6nWzjppTZGHxmHaY4iXtpHlZ4wihHhQ8Ey6BwB576aZr6O4bFLJiQUN7QsCNQVOddGU6qfMRQVa5kjDAhgCDxBFwforqignnZSjxTPF823I9m10H0Levt8QnNHKPNeN/Ubqx+lRT9FBH2j2Rw4eJ5cTnhVBmbOht6Ay3Vj5gSa42aFxO8kWV2Qv3sxzMEKZEIK5TYg3vfz1Sx+BjnQxzRpIhsSkihlNjcXB0NiAambMnhw5lj5MQEpKoFyqAVTUAC1uNBltPBRwMJ3lkSOwSZmncBRfkSFi2gVmIPmck8Kops1CARJMQRcETyWI6RrSm2GweKhaDEFZI3tmU5tbG4NxqCCAb+amMLj8NEixxsqoiqiKAbKqiwUacAABQJz4S2KhjEk2Rop3Yb59SjQBTe99A7euqHctevN7eT31NxG04jjIWD8kQ4hSbGwLNhyATbicreo1T7sQ+UH3+6glwYaLETERzSOkByuVxDsN91CQ2jIupHS69FbbawW7gd0kmDACx3znnA5zWexosDhA4w2SMSOZXy5uUzcTr+HCutv7TibDyKrgkgWABJOo81BQ7lr15vbye+juWvXm9vJ76O7EPlB9/uo7sQ+UH3+6g+dy1683t5PfRsRiYzclsssyAsbmyyOoBJ1NgAK+92IfKD7/dXGwTeJjzGWdhpa4MrkH0EGgo0UUUBRRRQFFFFAUUUUGOLQsjKOJVgPpBFJwYmVVUdrvoAPDj5h8qqVFAh25L+7v9eP8AVShwTSz7x0aIrGUDB1z3LAjwSQQLcGuPMatUUE8TyR+MXeL1415Q+VGNT6Uv8kU3h51cZkYMvSpuK1pObZ6li6ko54umha3XHBx6R6LUDlFTxjHj8eunlY7lPSy6sn/6HSRT0cgYAqQQdQQbgjpBFB1RRRQeUwHZJIRlZbuZjELjlEXmYSZUHgERFRzkq17WqjsvbTSybsx5G3aysM18quqFeHG7GVf/AFGqb4OMghkQgixBUEEXzWt6dfTX2HDKrMw4sFHoC3so6BqTbzmg+Y2Rljdo1zuFJVb2zEC4W/NfhUCXsq5KyRqGjduSbnlJvEhEl7ZQCzMRc62Fgb6emNLvgozluiHLcLdQct9CB0aUETCbfa+RrMwaMXuASJZp4gMoHMIdOnXopzYG12xChimUNHHKpudRICcuvG1hyhob6cKodqJcHIt18E5Rdb66Hm11rqDDql8iquY5mygDMek24nz0Ezbe1ngYBUVhuppmuxBtEYxlUAcSHOvNYdNJzdkrASMIrqhlGhOZjFKsRVbizM1yVA57A8a9BJCG4gHQjUX0PEeg2HqrjtVMxbIuY2u2UZjbhc8TbS1AhsfGPI8mcoVG6K5NQM0audfjC50NVqyjw6qbqqg2AuAAbC9h6Bc+s1regKKKKAooooCiiigKKKKAooooCiiigKKKKApGTZ1iWhbdMTcgC8bH+JOH0izeenqKCf3QyaTjJ/GDeI+lvic2jW42BNPg0EUgcAU1gbJ/LIvEfQvFP6dNbkGgoUUlFtDULKu6Y6C5ujH+B+B9Bs3mp2gKR278Gm+bb8KepPbMZbDyqoJYowAHEm3AUHndtomGjF4cMZGZiqkWUogztxtyj4I87rxrCHFQs5AggytNGkLBbh42Ed2P8QMgPQQy+e3ojilz59zNmClQd2dASCQNecgeoVLZsHCYYmgZCZTJArKb70KblLnjlJ0HNfSoPmH2YW3oEeFLRyZB3llB5Kvc8s9a1V9goBGwGgEswA6AJXAA81fIsWqlisMwLHM3ezqbBb8egD1V3sVWEbZlK3lmYBtDZpGYEjmuCDVD9JbXW8TA8CVB84LAEeo07Sm1FJiOUEm6mw4mzAm30CgzOxsP5GP6orzG0MXHDhnd8Ph1mDyqiE3W0ZN2LWBNltew8IhecGvUd0v5U3szU7uhh5DLh927NbPLGEJIEt9W10zZW9VA+NjYcjxMZ/pFfdhraKw4CSZQOgCVwAPMAAK+naX8qb2Zr7sdSIuUpUl5Ws3EBpHYX+gigdooooCiiigKKKKAooooCiiigKKKKAooooOJIgwIYAg6EEXBHQQaSGEePxLXXyUhJX+l9WT0coC1gBVCigTw+0FZsjAxv1H0J+SfBcfJJtz2pysp8Orgq4DA8xFx6fTSe5liPezvE6kh5Y+TJz+h73v4QoKNReybsdixixmVA7wtvYQxOQSDhmA4jS2vTT0O0Ua9zkKi7K/JZR0kHm84uPPWMeKncsUSLKHZBmdrnKStyAhtqDz0DeDxAkQONARwPFTwKnoIIIPnBreoUT4iOYrkhyykuO+PYOBylHI+MBmt0q556ez4nqQ+0f8ARQP0VIbG4gTCLdw3KNJfeP8AFZVtbJ/F91MZ8T1IfaP+igbnmVFLMbKoLE9AGpNRux3sehw7zYhI93NiSHmAJte7FRa9gQGIJHE3NGKfESSLHkhsuWV++PbQ8hfA52Ut/R5612jjsREmcxwnlRpbeOPGOsd/A5s1/ooLFFIZ8T1IfaP+ijPiepD7R/0UD9FIZ8T1IfaP+itdm4kyRhmAU3dSAbi6sU0JA05N+FA1RRRQFFFFAUUUUBRRRQFFFFAUUUUBRRRQFFFFBK7JNgRY6AwT5sjWvkOVtNbBrXAPPbiNOFHYzhd1Bu87vkklUNIczsA7AFmtyjbn4nnqrSD7JjJJ74CxJOWaVRc8TZWAHqoFuyvZMuKwzRQTnDS5kZJlXMUKsCdLjiLjjz/RVaJSFAJzEAAm1rnpsOF68vgMZhpIkk7/AHYeCk+IflZc7KCG5WUDW3A6cdKewceGlIEbytcM2k89rKVF75+BzKR0g3FA1J8NT5iT88dUiKj4zZcEatM++72jEsJpywUcpgAHufBvYdFLTvhUvmaewcIWE2IygkoPCz24yIPX0Gwb9iux5cLHIuIxDYl5JXl3jKFIBAATTmAX77CwAFbdkviB89hv88dT8JNh2RGczIWy3HbE5ClozLa+bqgm9b4fBYfEAgb45SjFXmxAPM6NYv0gEecdIoLtFQsfHh4SBIZ9VZ9JsQwCplzMSH0AzCsXxGEFyXmAFzmM2IykBshYHPqA1lv0svSKD0dIbD8T/wCyb/K9I7PgilaVQMQu7cJyp5xmzIkl7Z9NHt9FV8Lh1jUIgsova5JOpuSSbkm5J1oNqKKKAooooCiiigKKKKAooooCiiigKKKKAooooCiiighDsZhChVzALbL4LWIXdlrMpBJXKDcfFU6HWndn7OEckjjjJkHE6Ki5Rx5+N7eaiih0+4uDUL/jEOSNAXAjDBTmBY5mDkliCb5lBuOPA3BIooold9wIuSOWVUAZCwytZGiu2lzyHI4gcNKe2Xs9YAVS5vbiFHAWA5IF/SdfPRRTFc7Q2ck1899Y5ItDbky5Q308ka0p/wAfhsy2ORjcpyQLXLZbgZiM1jqTwFtNKKKhT2BwQjLkMzGQqzZiOKosd9Bzqi38/RTlFFAUUUVR/9k="/>
          <p:cNvSpPr>
            <a:spLocks noChangeAspect="1" noChangeArrowheads="1"/>
          </p:cNvSpPr>
          <p:nvPr/>
        </p:nvSpPr>
        <p:spPr bwMode="auto">
          <a:xfrm>
            <a:off x="155575" y="-1858963"/>
            <a:ext cx="3705225" cy="38766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8309" name="Picture 5"/>
          <p:cNvPicPr>
            <a:picLocks noChangeAspect="1" noChangeArrowheads="1"/>
          </p:cNvPicPr>
          <p:nvPr/>
        </p:nvPicPr>
        <p:blipFill>
          <a:blip r:embed="rId2"/>
          <a:srcRect/>
          <a:stretch>
            <a:fillRect/>
          </a:stretch>
        </p:blipFill>
        <p:spPr bwMode="auto">
          <a:xfrm>
            <a:off x="2000232" y="1357298"/>
            <a:ext cx="4357718" cy="4555796"/>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a:xfrm>
            <a:off x="457200" y="203200"/>
            <a:ext cx="8229600" cy="439718"/>
          </a:xfrm>
        </p:spPr>
        <p:txBody>
          <a:bodyPr>
            <a:noAutofit/>
          </a:bodyPr>
          <a:lstStyle/>
          <a:p>
            <a:pPr rtl="1" eaLnBrk="1" hangingPunct="1"/>
            <a:r>
              <a:rPr lang="fa-IR" sz="2800" dirty="0">
                <a:solidFill>
                  <a:schemeClr val="bg1"/>
                </a:solidFill>
                <a:cs typeface="B Lotus" pitchFamily="2" charset="-78"/>
              </a:rPr>
              <a:t>تصویری از نحوه پیاده سازی </a:t>
            </a:r>
            <a:r>
              <a:rPr lang="en-US" sz="2800" dirty="0">
                <a:solidFill>
                  <a:schemeClr val="bg1"/>
                </a:solidFill>
                <a:cs typeface="B Lotus" pitchFamily="2" charset="-78"/>
              </a:rPr>
              <a:t>HashMap</a:t>
            </a:r>
            <a:r>
              <a:rPr lang="fa-IR" sz="2800" dirty="0">
                <a:solidFill>
                  <a:schemeClr val="bg1"/>
                </a:solidFill>
                <a:cs typeface="B Lotus" pitchFamily="2" charset="-78"/>
              </a:rPr>
              <a:t>-2</a:t>
            </a:r>
            <a:endParaRPr lang="en-US" sz="2800" dirty="0">
              <a:solidFill>
                <a:schemeClr val="bg1"/>
              </a:solidFill>
              <a:cs typeface="B Lotus" pitchFamily="2" charset="-78"/>
            </a:endParaRPr>
          </a:p>
        </p:txBody>
      </p:sp>
      <p:sp>
        <p:nvSpPr>
          <p:cNvPr id="98306" name="AutoShape 2" descr="data:image/jpeg;base64,/9j/4AAQSkZJRgABAQAAAQABAAD/2wCEAAkGBxQSERUUERQVFRUWFxcUFhYUFRgYFRUaGBsaFhwUGBkbICggGRwlHBcWITEkJikrLi4uGR8zODMsNyktLisBCgoKDgwOFxAPFywcHBwsLCwsLCw3LDcsLCwsLCwsLCwsLCwrNzcrLCwsLCwsLCw3LCwsLCwsNywyNywsLCwsLP/AABEIAOYA3AMBIgACEQEDEQH/xAAbAAADAQEBAQEAAAAAAAAAAAAABAUDAgYBB//EAEcQAAIBAgMDBAwLCAIDAQAAAAECAwARBBIhBRMxIkFRUgYUFSMyM1NhcZGT0TRCcnOBkpShsbLSQ1RiY4Kjs9MWJESDwaL/xAAVAQEBAAAAAAAAAAAAAAAAAAAAAf/EABcRAQEBAQAAAAAAAAAAAAAAAAARQQH/2gAMAwEAAhEDEQA/AP3CiiigKKKKAooooPMYjCJnxUzxxyCN3Zg0as7BYIyFDEG2tYbQw0cMdzHhWeRVWIDDgkSOwXNlFy8S5wx4EBTrrpXid45JrwyOHkzqV3diN3GvxnB4qeasFWOLvgwcgKC4NoiUADCy985IszCw01NBNwsEcq4Zliw6mR2ilXtdTleNJC+W9iOVHbXmqhgsAIpobpCrlZgxhQKCORYcATRszacU6LPh4HkR23quhhILFd2W8Zo2XknnpxXeSeNjFIiosly+S12y2AysTzGgqUUUUEbBbMhkaZpIo3YyvymRWOlgNSKlbXkw0WKghEOFCs7CYtGmYDcyyKEFuN4xc8wsPjaWcPM8bSDcSteRmDLu8pBt0uD91KbX29FDumxEMineqsOYw5jI4MYCDeXLEOw05ieagV7Ghh8T2wTBhbJMFQJGhIjMUUil/wCIl29HDmJNKPBRxYuPdRol4Zr5FC3s8Nr2GvE+utYsSVLFcLMC7ZmPeeUbBbnvnVVR9Ar5EzviEcxOirFIpLlNSzREAZWPMjUFSiiigKKKKAooooCiiigKKKKAooooCud4OkeukJccsiShSdEY3ysFI5QurEWbUc3m6a5wmx8Pu07xD4K/sk6B5qCjvB0j10BweBvSfcfD+Qh9knurHDYOOPE97REvFrkULez6XtxoKlFFFAVxLGGUqeBBB9B0rukcdPIHjSPIC+a5cEgBRfgCOmgS2Bs2LBk4aGNY4/GxhRa4Ng4J4sVbKbnmdRzVbqNtDDYkgMrQl4znUCNxewIKeHblKSPpB5q2w7zuquskBVgGB3b6gi4Ph0FOio21cTiYYZJc0LbtGfLu3F8ova+fSm8mJ68Ps3/XQPVC2nsmHGTrvo1dcMwZGOjCbRhlYagKMpI4EsOrW+OmxEaFs0BOgVd24zMxsq+HpckUYLB4iNAu8hJ1LExPdmY5mY985ySaCqK+1HwGIxMoY5oRlkePxbm+Rit/D57U1kxPXh9m/wCugeopHJievD7N/wBdcQYiUTCOUxkMjuCistsjItjdjfw/uoKNFFFAUUUUBRRRQFFFFAUUUUEDCbH3CPbKFWFo+SLGTiQ8n8QGnPxbpsLOF8WnyV/AV8x/in+Q34GkMJLid2neoPBX9u/QP5VAnsfselhMxbHYiTeSvKoOS0YbhGudW0HmsPMK27Qftn4RN4o62h6w08Xam97ivJQe3f8A1VjhXlOK76qL3k2yOz35Yve6LbiKBjue/wC8z+qH/XR3Pf8AeZ/VD/rp+ignnZ7/ALzP6of9dQ9hbBlwuIBlxc2IEkmIkVZMuSIMcwVdL8CAdcvQBXrKXxeCjltvFDWNxfm5tPooGKidjWwnwpxBbESTCad5lWThCGN92mp0ueaw8w51sUuGjxCwNELsgdbE5jqwY2voqgXJ89uJF8IMfgGFwmmXOOclSrSKQAx8JUewNjySCBQV+yr4FifmZPymqlTH2Hh2UholIIsQbkG/MRekJThFZlMRLKXzAA3GQKxbjwIkSx/i5taDfH7CeTHQYkYiRUhV1OHA73IzAgOddCATzHgNRre3Xl8JNhZGGWIZWsoN7nPvGiK6EiwKHUEivqYnBFkXIAXycTbKZCQgIzXuSLaA20va9BV2D4Mvz8/+Q1SqNjNnYWCJ5GiGVQ0jZQSTbUkAHU/jU+fF4JLbyPIeXmViAUEZCszcqxALL4JJN9AbGg9TU+X4XH8zN+eGpBkwxdFTDlrzbhze27bK7m921sEB05nUi9XMJs6KNsyIFYi1+exsba+geqgbooooCiiigKKKKAooooCiiiggwYmQiVZWuWSWRACjIEDFQLqoINivEtf1irGD8WnyV/AVhicMiRylEVSysWKqAWNibkjjxPHpNb4TxafJX8BQbUgfhQ+Zb860/SB+FD5lvzrQP0VhjZ93G72vkVntwvlBNvuqTPtiRDZxADZWtvJSeWwRQLR6kswAA11FBdoqF3ZktwhvcrlzTbwEAMQU3WYWBU8OBB4Gvsu15FUMe1yrLnBWWRhk47zkxmycOVwF+NA/itmRyOHYHMMtjci2Ulh+ZgekEjgaWbYSZY0BORHjcBizW3WqKmvJ1AvxuLg9Ixl2tKEkYLA26UuwEr3sAW0O7sbgVcoCp2I2PE7u5BzOqIxzHgjZlIHAG9tefKt72FMbSxO6hkktfIjPa9r5Re1+asDJiepB7V/9dBlHsCIDTPe+a+diwbOZbgk9ck9GtuGlaYTY8ceTJmGVVXw25QW4XNc3Yi51PHnvSLbdYXF8PcZdBJKWObNlKqI7uDkksRcchuqbOQYmd1V0XDsrAMrLM5VgRcEEJqCKBzGYYSIyNqrAqdbaHjSzbJQtmGZWuxJV2BOcgsNOYlR6LaVrs3EtIpLqFZXZCFJI5JtcEgH7qboJqbFjDBgCDnEvhHV+UC56SQ5B6QAOYVRArDaGIMcTuACVUkAmwJ5gTY2pCbHTIyqywBmvlG8k1y6n9n56CvRUHD7cdyiruLuLoC8q5xYtmTNEMwsL3GnDpFfe7T3I/wCvoCfGSWYAgEqd3ZwCQDlva4vQXaKkS46dUDlIShKeDI97MwW4unnvVegKKW2hiCiZlAJzIoBNhd2VBc2OnKvS0mIxCqWZcOqqCWJlcAAakk5NBQUqK8/3fbLmvhwLkG8koK2AclgY7qoVlYk2ADA8CKoCTE9SD2r/AOugoUUvgJy6XYAG7KQDcXVihsbDS69FMUCGJxiMJo1YF447uo4rnVst/TlNK4Tsewm7T/rQeCv7JegeasINkNC2JkLl1kiA1AzFlMrFmsB1wB5hbQAVawfi0+Sv4CgS/wCO4T92g9knurLCbOihxXeY0jvCb5FC3s68bcasUgfhQ+Zb860HW2vg03zUn5TS+1sE0sCCPLmD4eTlEgERSpKRcA20U2041SmiDqVYXDAqR0g6EUiNix9af7ViP10CKbOmGJOJshYoYt3nYALyCHz5fCupuMvAjXk2PMGypYgSmVmePK3LKZWzyS8g5G5N5Suo0CimNobHAifdNOZMjZB21Pq1jl4yW4246VO7EtnyyYVDjTIJwWSTd4vElSyErmtmFibXsNOcaGgp4/D5MFKGsXEDBmAC5iEILWHnv66r1Mk2FEwIYzkEEEHEzkEHQgjPqKp0E7si+CT/ADUn5TT7i4tXOJgWRGRxdWBVhci4IsRcaiku40fWn+1Yj9dBIwuysTDGEiKDkRREmRibIHzTLmUgSNdBY3A1JvYA+g2fhxHEkarlCKqhQS2UAWtc6n0njXltmbOxD46feM/aarkhKYrEFmkBGYvd734rpoMp569B3Fj60/2rEfroOtj8JfnpfzU/WGDwixLlS9rluUzMSSbklmJJ9db0CW2vESfJpmZLg9Njb6a+YmBZEZH1VgQbEg2PQRqPSKT7jR9af7ViP10E7B7AZBhCxzPAArEsSAN00bCPQcWyceYVrs/Z0q7hGy7uJN2dc28CrlU5CnJJ0J5XNbW9wh2ZYCWLBTPgt806rdM2LmstiCzG8mtlubc9VcHskNGpl3yOVBdVxeIYK1tQDn1F+eg320LQG3Wj/wAi1Qqb3Ei0uZjYg2bETstwbi4L2OoHGqVAltfxa/Owf5o6YxJbI2QKWynKGJCk20DEAkC/PY0YrDrIpVr2NjoSpBBDAggggggG4pCXZMSqSzzgAXJOKxFgBz+MoJWJ2FK6MTYTSCRZJBLYESKqEBd2eSMigAWICjlXJJ9LAmVQOgAeoWryfYxsfElp2xskmVnHa6xz4hcsduLAyFg5vqCTa1X+40fWn+1Yj9dBrsrxZ+cm/wAr05WWGw6xqFW9hfiSx1JJJJJJJJJua1oMMf4qT5DfgamYTEYvdp/14PBX/wAp+gfyKzXEvmmRnzoYWkQgLbiwYLl4KLoOVckg9FWMJ4tPkr+FAh2xi/3eD7U/+is8HJKcV36ONO8m2SUyX5a3vdFt99YbJ7MMNiTMIt8TDK0L94lIzLxsVUj/AO12drR9tA2l8S3/AI83XXmyXoLtFTu7UfVn+y4j/XSO2+yyHDQPM6YgqgBIGHmUnUDQuoXn5yKCxJjY1NmdFPQWUH1E1Oix8SYhxvI8so3g5a+GlkYcedd36mrLsdmjxAmlVDZ5QRvYij23UXFXAYVx2XSxYXDNinjBGHKykJHmYi+RgAOlGYXOgvc2AvQV+6MXlY/rr76+d0YvKx/XX31ngN1NEkqxgLIquA0YVgGFxmUi4OvClcXhU7bg5C+Ln+KP5VA/3Ri8rH9dffSu0drxqnIkjLsQictSMx+MdeCi7HzKad7Uj6ifVFee7HtoQY2ado4iq4Z2w/fIgt3HhuOkaADnHKvbNQV8LiYI0VRLHZRa5kW56WJvxJuSfPWndaDy0XtE99J9kmFQYSfkL4p/ijoNVt0vQPUKBXurB5aL2ie+jurB5aL2ie+pm0uySCDGRYR45TJLG0qtHAzoApIsSoJvoeANtL2uLu904upN9kn/ANdA/DMrjMhDKeBUgg83EVzNiUS2dlW/DMwF/XUbZG1owjjLN42Y6YafnkY8yVP7HeyKHaMySRxyALFOpE0RUX3kQurEZXGh4G40uBeg9FNjIXVlMsdmBU8teBFumltkbVjbDxM0iZjGhN3W9yovz9NP9qR9RPqivP8AYTtGDF4ctHEwEcskPfYcjHIxsQCOqV9BuDa1Bc7oxeVj+uvvr73Ri8rH9dffSPZBhU3B5C+HF8UeVSqPakfUT6ooM+6MXlY/rr76QfHxTPrJHuoz11744+nwVPrb5OqWO2nEcaMAkTLK0W+aURjdqlyCA3XNrDSwve9xY3osDEoAWNAALABRYAc1Bn3Vg55ovaJ76O6sHlovaJ76X2DEu6PJHjsRzDy8lUd0vQPUKBburB5aL2ie+jutB5aL2ie+md0vQPUK8L2dxr2wmg8UOYdZ6D2OKw6LHKVVVLKxYqoBY2OptxNbYTxafJX8BSkuPjkjlEbqxVGuB/Utx0i4IuNLg0YTZUG7TvMXgr+zXoHmoKAW3AUi3wofMt+da77kweRi9mvupaDCJHihu0VLwm+VQL8teigq18ZQeIv6a+0UEuJZY5JiIs6vJnBDgaZEWxB57qa7XGyEaQgjUaSoRpoR67iqDCvHYfZmLQOOVZp5ZBlcC0bTTPkAWReUc0b5swJBZTa2Uh6PtqbyH9xKUxG/M8Um5FkWRSN6tznyWt9U1hsaOYTZZHdlWJHbM3K3jjJkIDMBZY81sxF5L68at4uHOjJmZcylcykhluLZlI4EcaBbtubyH9xa5TGSHUQ31I0lTiDYj03Fqg4vDY4xK1pN6xd2VJRZCN2qILyKCpVGb4wuzXGt62iwmJRiFV8rTB7rIoVV7ckmYsMwPKhZeF7jQ2oH9rb+WCWNYQC6MoJkWwJFtabOLm8h/cWkexvDYhM3bDOSVQHMbqXGbM6HeOQDcaZUGg04gd9kOFmfWEuCsUxXJJkvJZd3fUX1zcdON6Bs4qXyH9xKO3JfI/3UqLJhMXnkIaS5L5CCN2Lsu7Ygy8FHECMZgrjW4zPbEwciSO0iuC0UIJaTPdlDBh4R14G9he/pFA9smFlQ5wAWeR7A3sGdmAv6CKyxULrNHJGgZVjkQjMFILNGwtfS3INUqKCf27Le251ABI3qXsb2NujQ+o197al8h/cSpO1MBiTjGlhvkMMUYswXlg4g5zrcqhkjJUixDHwiLUtDhsSpjBeQF3EbK78EKhpJFtLISboADcWLNa19Qq7T38sZUQ2OZDrIvxXVj9wNNdtzeQ/uLT9eaxWExOeXKXKC26tJq4lkR5LjMp72FYLqujkAigqDGSXtuRewNt6l7G9j9xrrtqbyH91ag4DCYtGSR0kYjIrDeR53RZMUACS9jZZIW1b1sLVr2P4PFq8ZnaTRVzXYMpG6UZG774We5zBLkg8qxoH9nGeNCrQ8XlfSVbWeR3A9TCmu25vIf3Fr7tiJ3iKx5gxKaq2VgM65rNcW5Oaoj4HFhls0mRWcLZ8zAb4kM95Vzgx5PCzmwbQE6hZOMl8j/dT0157si2TicRKrpEgAQLypRfQsb6A9NNYPAT7yJpVkOWZmF5QckbRMqhhm5RUkK3hXJvcgm3pxQQ4sNJaaScAMY3VcrXREFyEUWBudCSeJ6AAKrYPxafJX8BXzH+Kk+Q34Gp+Exk+7T/rfFX9snQKCvSB+FD5lvzrXHbs/7t/eSscLNI2K75Hu+8m3LDX5a9HCgsUUUUBWeIlCIzsbKoLMegAXJ9VaVP7IvgmI+Zl/I1B13TTqzfZ5/wBFfe6idWb7PP8AoqTtxN3JCd4VWSRs+eZok0jcgZlsbXtpfmFTBj8RljkAlK4ZV3pD8mTMe+MbkM4WG0iGxJLC+t6D1HdNOrN9nn/RW+FxSyC6XsCVN1ZSCOIIYAj1VJwOAz74byYWmIB30jckKpsMzGwuTwp7ZP7X55//AJQP1niJgiM7GyqCxOpsBrwGtaUht74NN8234UH3uonVl+zz/or73UTqzfZ5/wBFOGvIRyOcOyiR5HIgVZkeZbSTMYyGUvdSl85XTQi6iwoPR91E6s32ef8ARW+FxKyLmS9rkagqbqSCCGAIIII4V1h4cihQWIUBbsxZjbS5Y6k+c0nsXwH+en/yvQUK+Wr7RQFFFFAUUUUBRRRQFFFFBIE8h7bSTLZByAoNwpS/KJ4te50AGoGtrmjhPFp8lfwFZ42MCOUgAEo1zbU2U2v01phPFp8lfwFBL2H2U4bFvKkEmZ4ZGidSCrZl4kA6sPOKbPwofMt+daYmwcbqVeNGUnMQyggnrEHn89STs8rihupHTvLGxOdPDXTK97DzKRQXaKn72dPCjWUdMTZWP9DmwH9ZruPasROUtkY6BZAUJPQM1s30XoHaX2jht7DJHfLvEdL2vbMpW9ufjW96+0CYSfrRfUf9dQuyrsjfACBpQHWaZYO9xOzqWV2DBAxL6paw1157WPqayxEKurKwuGBU+gix/GgXUTn40X1H/XXWz8M0YbMwYs7OcoIAvzWJPRXzZcxKlXN3jORz0kC4f+pSrfSRzU5QFL7Rw29ikjByl1ZQSLgEi17XF/XTFFAnkn60X1H/AF1D2b2RvPjZ8IgAbDqjOzxOoJckAIC12Gl83A81+NehxmJEaFiL24AcWJ0CjzkkD6a42fhsiANYubs7dLMbsR5r8BzAAc1Bzkn60X1H/XX3ZuFMakMwYl5HJAsOWxewBJ4XtTdFAUUUUBRRRQFFFFAUUUUBRRRQJYjFI8coR1YorBgrAlTYixtw1B9RpXCbDw+7TvY8Feduj00phcBIitnFhHA8QNx3y5LZ7DgLW463ZvSbmE8WnyV/AUCfcPD+THrb31lhcDHFiu9qFvCb6nWzjppTZGHxmHaY4iXtpHlZ4wihHhQ8Ey6BwB576aZr6O4bFLJiQUN7QsCNQVOddGU6qfMRQVa5kjDAhgCDxBFwforqignnZSjxTPF823I9m10H0Levt8QnNHKPNeN/Ubqx+lRT9FBH2j2Rw4eJ5cTnhVBmbOht6Ay3Vj5gSa42aFxO8kWV2Qv3sxzMEKZEIK5TYg3vfz1Sx+BjnQxzRpIhsSkihlNjcXB0NiAambMnhw5lj5MQEpKoFyqAVTUAC1uNBltPBRwMJ3lkSOwSZmncBRfkSFi2gVmIPmck8Kops1CARJMQRcETyWI6RrSm2GweKhaDEFZI3tmU5tbG4NxqCCAb+amMLj8NEixxsqoiqiKAbKqiwUacAABQJz4S2KhjEk2Rop3Yb59SjQBTe99A7euqHctevN7eT31NxG04jjIWD8kQ4hSbGwLNhyATbicreo1T7sQ+UH3+6glwYaLETERzSOkByuVxDsN91CQ2jIupHS69FbbawW7gd0kmDACx3znnA5zWexosDhA4w2SMSOZXy5uUzcTr+HCutv7TibDyKrgkgWABJOo81BQ7lr15vbye+juWvXm9vJ76O7EPlB9/uo7sQ+UH3+6g+dy1683t5PfRsRiYzclsssyAsbmyyOoBJ1NgAK+92IfKD7/dXGwTeJjzGWdhpa4MrkH0EGgo0UUUBRRRQFFFFAUUUUGOLQsjKOJVgPpBFJwYmVVUdrvoAPDj5h8qqVFAh25L+7v9eP8AVShwTSz7x0aIrGUDB1z3LAjwSQQLcGuPMatUUE8TyR+MXeL1415Q+VGNT6Uv8kU3h51cZkYMvSpuK1pObZ6li6ko54umha3XHBx6R6LUDlFTxjHj8eunlY7lPSy6sn/6HSRT0cgYAqQQdQQbgjpBFB1RRRQeUwHZJIRlZbuZjELjlEXmYSZUHgERFRzkq17WqjsvbTSybsx5G3aysM18quqFeHG7GVf/AFGqb4OMghkQgixBUEEXzWt6dfTX2HDKrMw4sFHoC3so6BqTbzmg+Y2Rljdo1zuFJVb2zEC4W/NfhUCXsq5KyRqGjduSbnlJvEhEl7ZQCzMRc62Fgb6emNLvgozluiHLcLdQct9CB0aUETCbfa+RrMwaMXuASJZp4gMoHMIdOnXopzYG12xChimUNHHKpudRICcuvG1hyhob6cKodqJcHIt18E5Rdb66Hm11rqDDql8iquY5mygDMek24nz0Ezbe1ngYBUVhuppmuxBtEYxlUAcSHOvNYdNJzdkrASMIrqhlGhOZjFKsRVbizM1yVA57A8a9BJCG4gHQjUX0PEeg2HqrjtVMxbIuY2u2UZjbhc8TbS1AhsfGPI8mcoVG6K5NQM0audfjC50NVqyjw6qbqqg2AuAAbC9h6Bc+s1regKKKKAooooCiiigKKKKAooooCiiigKKKKApGTZ1iWhbdMTcgC8bH+JOH0izeenqKCf3QyaTjJ/GDeI+lvic2jW42BNPg0EUgcAU1gbJ/LIvEfQvFP6dNbkGgoUUlFtDULKu6Y6C5ujH+B+B9Bs3mp2gKR278Gm+bb8KepPbMZbDyqoJYowAHEm3AUHndtomGjF4cMZGZiqkWUogztxtyj4I87rxrCHFQs5AggytNGkLBbh42Ed2P8QMgPQQy+e3ojilz59zNmClQd2dASCQNecgeoVLZsHCYYmgZCZTJArKb70KblLnjlJ0HNfSoPmH2YW3oEeFLRyZB3llB5Kvc8s9a1V9goBGwGgEswA6AJXAA81fIsWqlisMwLHM3ezqbBb8egD1V3sVWEbZlK3lmYBtDZpGYEjmuCDVD9JbXW8TA8CVB84LAEeo07Sm1FJiOUEm6mw4mzAm30CgzOxsP5GP6orzG0MXHDhnd8Ph1mDyqiE3W0ZN2LWBNltew8IhecGvUd0v5U3szU7uhh5DLh927NbPLGEJIEt9W10zZW9VA+NjYcjxMZ/pFfdhraKw4CSZQOgCVwAPMAAK+naX8qb2Zr7sdSIuUpUl5Ws3EBpHYX+gigdooooCiiigKKKKAooooCiiigKKKKAooooOJIgwIYAg6EEXBHQQaSGEePxLXXyUhJX+l9WT0coC1gBVCigTw+0FZsjAxv1H0J+SfBcfJJtz2pysp8Orgq4DA8xFx6fTSe5liPezvE6kh5Y+TJz+h73v4QoKNReybsdixixmVA7wtvYQxOQSDhmA4jS2vTT0O0Ua9zkKi7K/JZR0kHm84uPPWMeKncsUSLKHZBmdrnKStyAhtqDz0DeDxAkQONARwPFTwKnoIIIPnBreoUT4iOYrkhyykuO+PYOBylHI+MBmt0q556ez4nqQ+0f8ARQP0VIbG4gTCLdw3KNJfeP8AFZVtbJ/F91MZ8T1IfaP+igbnmVFLMbKoLE9AGpNRux3sehw7zYhI93NiSHmAJte7FRa9gQGIJHE3NGKfESSLHkhsuWV++PbQ8hfA52Ut/R5612jjsREmcxwnlRpbeOPGOsd/A5s1/ooLFFIZ8T1IfaP+ijPiepD7R/0UD9FIZ8T1IfaP+itdm4kyRhmAU3dSAbi6sU0JA05N+FA1RRRQFFFFAUUUUBRRRQFFFFAUUUUBRRRQFFFFBK7JNgRY6AwT5sjWvkOVtNbBrXAPPbiNOFHYzhd1Bu87vkklUNIczsA7AFmtyjbn4nnqrSD7JjJJ74CxJOWaVRc8TZWAHqoFuyvZMuKwzRQTnDS5kZJlXMUKsCdLjiLjjz/RVaJSFAJzEAAm1rnpsOF68vgMZhpIkk7/AHYeCk+IflZc7KCG5WUDW3A6cdKewceGlIEbytcM2k89rKVF75+BzKR0g3FA1J8NT5iT88dUiKj4zZcEatM++72jEsJpywUcpgAHufBvYdFLTvhUvmaewcIWE2IygkoPCz24yIPX0Gwb9iux5cLHIuIxDYl5JXl3jKFIBAATTmAX77CwAFbdkviB89hv88dT8JNh2RGczIWy3HbE5ClozLa+bqgm9b4fBYfEAgb45SjFXmxAPM6NYv0gEecdIoLtFQsfHh4SBIZ9VZ9JsQwCplzMSH0AzCsXxGEFyXmAFzmM2IykBshYHPqA1lv0svSKD0dIbD8T/wCyb/K9I7PgilaVQMQu7cJyp5xmzIkl7Z9NHt9FV8Lh1jUIgsova5JOpuSSbkm5J1oNqKKKAooooCiiigKKKKAooooCiiigKKKKAooooCiiighDsZhChVzALbL4LWIXdlrMpBJXKDcfFU6HWndn7OEckjjjJkHE6Ki5Rx5+N7eaiih0+4uDUL/jEOSNAXAjDBTmBY5mDkliCb5lBuOPA3BIooold9wIuSOWVUAZCwytZGiu2lzyHI4gcNKe2Xs9YAVS5vbiFHAWA5IF/SdfPRRTFc7Q2ck1899Y5ItDbky5Q308ka0p/wAfhsy2ORjcpyQLXLZbgZiM1jqTwFtNKKKhT2BwQjLkMzGQqzZiOKosd9Bzqi38/RTlFFAUUUVR/9k="/>
          <p:cNvSpPr>
            <a:spLocks noChangeAspect="1" noChangeArrowheads="1"/>
          </p:cNvSpPr>
          <p:nvPr/>
        </p:nvSpPr>
        <p:spPr bwMode="auto">
          <a:xfrm>
            <a:off x="155575" y="-1858963"/>
            <a:ext cx="3705225" cy="38766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8308" name="AutoShape 4" descr="data:image/jpeg;base64,/9j/4AAQSkZJRgABAQAAAQABAAD/2wCEAAkGBxQSERUUERQVFRUWFxcUFhYUFRgYFRUaGBsaFhwUGBkbICggGRwlHBcWITEkJikrLi4uGR8zODMsNyktLisBCgoKDgwOFxAPFywcHBwsLCwsLCw3LDcsLCwsLCwsLCwsLCwrNzcrLCwsLCwsLCw3LCwsLCwsNywyNywsLCwsLP/AABEIAOYA3AMBIgACEQEDEQH/xAAbAAADAQEBAQEAAAAAAAAAAAAABAUDAgYBB//EAEcQAAIBAgMDBAwLCAIDAQAAAAECAwARBBIhBRMxIkFRUgYUFSMyM1NhcZGT0TRCcnOBkpShsbLSQ1RiY4Kjs9MWJESDwaL/xAAVAQEBAAAAAAAAAAAAAAAAAAAAAf/EABcRAQEBAQAAAAAAAAAAAAAAAAARQQH/2gAMAwEAAhEDEQA/AP3CiiigKKKKAooooPMYjCJnxUzxxyCN3Zg0as7BYIyFDEG2tYbQw0cMdzHhWeRVWIDDgkSOwXNlFy8S5wx4EBTrrpXid45JrwyOHkzqV3diN3GvxnB4qeasFWOLvgwcgKC4NoiUADCy985IszCw01NBNwsEcq4Zliw6mR2ilXtdTleNJC+W9iOVHbXmqhgsAIpobpCrlZgxhQKCORYcATRszacU6LPh4HkR23quhhILFd2W8Zo2XknnpxXeSeNjFIiosly+S12y2AysTzGgqUUUUEbBbMhkaZpIo3YyvymRWOlgNSKlbXkw0WKghEOFCs7CYtGmYDcyyKEFuN4xc8wsPjaWcPM8bSDcSteRmDLu8pBt0uD91KbX29FDumxEMineqsOYw5jI4MYCDeXLEOw05ieagV7Ghh8T2wTBhbJMFQJGhIjMUUil/wCIl29HDmJNKPBRxYuPdRol4Zr5FC3s8Nr2GvE+utYsSVLFcLMC7ZmPeeUbBbnvnVVR9Ar5EzviEcxOirFIpLlNSzREAZWPMjUFSiiigKKKKAooooCiiigKKKKAooooCud4OkeukJccsiShSdEY3ysFI5QurEWbUc3m6a5wmx8Pu07xD4K/sk6B5qCjvB0j10BweBvSfcfD+Qh9knurHDYOOPE97REvFrkULez6XtxoKlFFFAVxLGGUqeBBB9B0rukcdPIHjSPIC+a5cEgBRfgCOmgS2Bs2LBk4aGNY4/GxhRa4Ng4J4sVbKbnmdRzVbqNtDDYkgMrQl4znUCNxewIKeHblKSPpB5q2w7zuquskBVgGB3b6gi4Ph0FOio21cTiYYZJc0LbtGfLu3F8ova+fSm8mJ68Ps3/XQPVC2nsmHGTrvo1dcMwZGOjCbRhlYagKMpI4EsOrW+OmxEaFs0BOgVd24zMxsq+HpckUYLB4iNAu8hJ1LExPdmY5mY985ySaCqK+1HwGIxMoY5oRlkePxbm+Rit/D57U1kxPXh9m/wCugeopHJievD7N/wBdcQYiUTCOUxkMjuCistsjItjdjfw/uoKNFFFAUUUUBRRRQFFFFAUUUUEDCbH3CPbKFWFo+SLGTiQ8n8QGnPxbpsLOF8WnyV/AV8x/in+Q34GkMJLid2neoPBX9u/QP5VAnsfselhMxbHYiTeSvKoOS0YbhGudW0HmsPMK27Qftn4RN4o62h6w08Xam97ivJQe3f8A1VjhXlOK76qL3k2yOz35Yve6LbiKBjue/wC8z+qH/XR3Pf8AeZ/VD/rp+ignnZ7/ALzP6of9dQ9hbBlwuIBlxc2IEkmIkVZMuSIMcwVdL8CAdcvQBXrKXxeCjltvFDWNxfm5tPooGKidjWwnwpxBbESTCad5lWThCGN92mp0ueaw8w51sUuGjxCwNELsgdbE5jqwY2voqgXJ89uJF8IMfgGFwmmXOOclSrSKQAx8JUewNjySCBQV+yr4FifmZPymqlTH2Hh2UholIIsQbkG/MRekJThFZlMRLKXzAA3GQKxbjwIkSx/i5taDfH7CeTHQYkYiRUhV1OHA73IzAgOddCATzHgNRre3Xl8JNhZGGWIZWsoN7nPvGiK6EiwKHUEivqYnBFkXIAXycTbKZCQgIzXuSLaA20va9BV2D4Mvz8/+Q1SqNjNnYWCJ5GiGVQ0jZQSTbUkAHU/jU+fF4JLbyPIeXmViAUEZCszcqxALL4JJN9AbGg9TU+X4XH8zN+eGpBkwxdFTDlrzbhze27bK7m921sEB05nUi9XMJs6KNsyIFYi1+exsba+geqgbooooCiiigKKKKAooooCiiiggwYmQiVZWuWSWRACjIEDFQLqoINivEtf1irGD8WnyV/AVhicMiRylEVSysWKqAWNibkjjxPHpNb4TxafJX8BQbUgfhQ+Zb860/SB+FD5lvzrQP0VhjZ93G72vkVntwvlBNvuqTPtiRDZxADZWtvJSeWwRQLR6kswAA11FBdoqF3ZktwhvcrlzTbwEAMQU3WYWBU8OBB4Gvsu15FUMe1yrLnBWWRhk47zkxmycOVwF+NA/itmRyOHYHMMtjci2Ulh+ZgekEjgaWbYSZY0BORHjcBizW3WqKmvJ1AvxuLg9Ixl2tKEkYLA26UuwEr3sAW0O7sbgVcoCp2I2PE7u5BzOqIxzHgjZlIHAG9tefKt72FMbSxO6hkktfIjPa9r5Re1+asDJiepB7V/9dBlHsCIDTPe+a+diwbOZbgk9ck9GtuGlaYTY8ceTJmGVVXw25QW4XNc3Yi51PHnvSLbdYXF8PcZdBJKWObNlKqI7uDkksRcchuqbOQYmd1V0XDsrAMrLM5VgRcEEJqCKBzGYYSIyNqrAqdbaHjSzbJQtmGZWuxJV2BOcgsNOYlR6LaVrs3EtIpLqFZXZCFJI5JtcEgH7qboJqbFjDBgCDnEvhHV+UC56SQ5B6QAOYVRArDaGIMcTuACVUkAmwJ5gTY2pCbHTIyqywBmvlG8k1y6n9n56CvRUHD7cdyiruLuLoC8q5xYtmTNEMwsL3GnDpFfe7T3I/wCvoCfGSWYAgEqd3ZwCQDlva4vQXaKkS46dUDlIShKeDI97MwW4unnvVegKKW2hiCiZlAJzIoBNhd2VBc2OnKvS0mIxCqWZcOqqCWJlcAAakk5NBQUqK8/3fbLmvhwLkG8koK2AclgY7qoVlYk2ADA8CKoCTE9SD2r/AOugoUUvgJy6XYAG7KQDcXVihsbDS69FMUCGJxiMJo1YF447uo4rnVst/TlNK4Tsewm7T/rQeCv7JegeasINkNC2JkLl1kiA1AzFlMrFmsB1wB5hbQAVawfi0+Sv4CgS/wCO4T92g9knurLCbOihxXeY0jvCb5FC3s68bcasUgfhQ+Zb860HW2vg03zUn5TS+1sE0sCCPLmD4eTlEgERSpKRcA20U2041SmiDqVYXDAqR0g6EUiNix9af7ViP10CKbOmGJOJshYoYt3nYALyCHz5fCupuMvAjXk2PMGypYgSmVmePK3LKZWzyS8g5G5N5Suo0CimNobHAifdNOZMjZB21Pq1jl4yW4246VO7EtnyyYVDjTIJwWSTd4vElSyErmtmFibXsNOcaGgp4/D5MFKGsXEDBmAC5iEILWHnv66r1Mk2FEwIYzkEEEHEzkEHQgjPqKp0E7si+CT/ADUn5TT7i4tXOJgWRGRxdWBVhci4IsRcaiku40fWn+1Yj9dBIwuysTDGEiKDkRREmRibIHzTLmUgSNdBY3A1JvYA+g2fhxHEkarlCKqhQS2UAWtc6n0njXltmbOxD46feM/aarkhKYrEFmkBGYvd734rpoMp569B3Fj60/2rEfroOtj8JfnpfzU/WGDwixLlS9rluUzMSSbklmJJ9db0CW2vESfJpmZLg9Njb6a+YmBZEZH1VgQbEg2PQRqPSKT7jR9af7ViP10E7B7AZBhCxzPAArEsSAN00bCPQcWyceYVrs/Z0q7hGy7uJN2dc28CrlU5CnJJ0J5XNbW9wh2ZYCWLBTPgt806rdM2LmstiCzG8mtlubc9VcHskNGpl3yOVBdVxeIYK1tQDn1F+eg320LQG3Wj/wAi1Qqb3Ei0uZjYg2bETstwbi4L2OoHGqVAltfxa/Owf5o6YxJbI2QKWynKGJCk20DEAkC/PY0YrDrIpVr2NjoSpBBDAggggggG4pCXZMSqSzzgAXJOKxFgBz+MoJWJ2FK6MTYTSCRZJBLYESKqEBd2eSMigAWICjlXJJ9LAmVQOgAeoWryfYxsfElp2xskmVnHa6xz4hcsduLAyFg5vqCTa1X+40fWn+1Yj9dBrsrxZ+cm/wAr05WWGw6xqFW9hfiSx1JJJJJJJJJua1oMMf4qT5DfgamYTEYvdp/14PBX/wAp+gfyKzXEvmmRnzoYWkQgLbiwYLl4KLoOVckg9FWMJ4tPkr+FAh2xi/3eD7U/+is8HJKcV36ONO8m2SUyX5a3vdFt99YbJ7MMNiTMIt8TDK0L94lIzLxsVUj/AO12drR9tA2l8S3/AI83XXmyXoLtFTu7UfVn+y4j/XSO2+yyHDQPM6YgqgBIGHmUnUDQuoXn5yKCxJjY1NmdFPQWUH1E1Oix8SYhxvI8so3g5a+GlkYcedd36mrLsdmjxAmlVDZ5QRvYij23UXFXAYVx2XSxYXDNinjBGHKykJHmYi+RgAOlGYXOgvc2AvQV+6MXlY/rr76+d0YvKx/XX31ngN1NEkqxgLIquA0YVgGFxmUi4OvClcXhU7bg5C+Ln+KP5VA/3Ri8rH9dffSu0drxqnIkjLsQictSMx+MdeCi7HzKad7Uj6ifVFee7HtoQY2ado4iq4Z2w/fIgt3HhuOkaADnHKvbNQV8LiYI0VRLHZRa5kW56WJvxJuSfPWndaDy0XtE99J9kmFQYSfkL4p/ijoNVt0vQPUKBXurB5aL2ie+jurB5aL2ie+pm0uySCDGRYR45TJLG0qtHAzoApIsSoJvoeANtL2uLu904upN9kn/ANdA/DMrjMhDKeBUgg83EVzNiUS2dlW/DMwF/XUbZG1owjjLN42Y6YafnkY8yVP7HeyKHaMySRxyALFOpE0RUX3kQurEZXGh4G40uBeg9FNjIXVlMsdmBU8teBFumltkbVjbDxM0iZjGhN3W9yovz9NP9qR9RPqivP8AYTtGDF4ctHEwEcskPfYcjHIxsQCOqV9BuDa1Bc7oxeVj+uvvr73Ri8rH9dffSPZBhU3B5C+HF8UeVSqPakfUT6ooM+6MXlY/rr76QfHxTPrJHuoz11744+nwVPrb5OqWO2nEcaMAkTLK0W+aURjdqlyCA3XNrDSwve9xY3osDEoAWNAALABRYAc1Bn3Vg55ovaJ76O6sHlovaJ76X2DEu6PJHjsRzDy8lUd0vQPUKBburB5aL2ie+jutB5aL2ie+md0vQPUK8L2dxr2wmg8UOYdZ6D2OKw6LHKVVVLKxYqoBY2OptxNbYTxafJX8BSkuPjkjlEbqxVGuB/Utx0i4IuNLg0YTZUG7TvMXgr+zXoHmoKAW3AUi3wofMt+da77kweRi9mvupaDCJHihu0VLwm+VQL8teigq18ZQeIv6a+0UEuJZY5JiIs6vJnBDgaZEWxB57qa7XGyEaQgjUaSoRpoR67iqDCvHYfZmLQOOVZp5ZBlcC0bTTPkAWReUc0b5swJBZTa2Uh6PtqbyH9xKUxG/M8Um5FkWRSN6tznyWt9U1hsaOYTZZHdlWJHbM3K3jjJkIDMBZY81sxF5L68at4uHOjJmZcylcykhluLZlI4EcaBbtubyH9xa5TGSHUQ31I0lTiDYj03Fqg4vDY4xK1pN6xd2VJRZCN2qILyKCpVGb4wuzXGt62iwmJRiFV8rTB7rIoVV7ckmYsMwPKhZeF7jQ2oH9rb+WCWNYQC6MoJkWwJFtabOLm8h/cWkexvDYhM3bDOSVQHMbqXGbM6HeOQDcaZUGg04gd9kOFmfWEuCsUxXJJkvJZd3fUX1zcdON6Bs4qXyH9xKO3JfI/3UqLJhMXnkIaS5L5CCN2Lsu7Ygy8FHECMZgrjW4zPbEwciSO0iuC0UIJaTPdlDBh4R14G9he/pFA9smFlQ5wAWeR7A3sGdmAv6CKyxULrNHJGgZVjkQjMFILNGwtfS3INUqKCf27Le251ABI3qXsb2NujQ+o197al8h/cSpO1MBiTjGlhvkMMUYswXlg4g5zrcqhkjJUixDHwiLUtDhsSpjBeQF3EbK78EKhpJFtLISboADcWLNa19Qq7T38sZUQ2OZDrIvxXVj9wNNdtzeQ/uLT9eaxWExOeXKXKC26tJq4lkR5LjMp72FYLqujkAigqDGSXtuRewNt6l7G9j9xrrtqbyH91ag4DCYtGSR0kYjIrDeR53RZMUACS9jZZIW1b1sLVr2P4PFq8ZnaTRVzXYMpG6UZG774We5zBLkg8qxoH9nGeNCrQ8XlfSVbWeR3A9TCmu25vIf3Fr7tiJ3iKx5gxKaq2VgM65rNcW5Oaoj4HFhls0mRWcLZ8zAb4kM95Vzgx5PCzmwbQE6hZOMl8j/dT0157si2TicRKrpEgAQLypRfQsb6A9NNYPAT7yJpVkOWZmF5QckbRMqhhm5RUkK3hXJvcgm3pxQQ4sNJaaScAMY3VcrXREFyEUWBudCSeJ6AAKrYPxafJX8BXzH+Kk+Q34Gp+Exk+7T/rfFX9snQKCvSB+FD5lvzrXHbs/7t/eSscLNI2K75Hu+8m3LDX5a9HCgsUUUUBWeIlCIzsbKoLMegAXJ9VaVP7IvgmI+Zl/I1B13TTqzfZ5/wBFfe6idWb7PP8AoqTtxN3JCd4VWSRs+eZok0jcgZlsbXtpfmFTBj8RljkAlK4ZV3pD8mTMe+MbkM4WG0iGxJLC+t6D1HdNOrN9nn/RW+FxSyC6XsCVN1ZSCOIIYAj1VJwOAz74byYWmIB30jckKpsMzGwuTwp7ZP7X55//AJQP1niJgiM7GyqCxOpsBrwGtaUht74NN8234UH3uonVl+zz/or73UTqzfZ5/wBFOGvIRyOcOyiR5HIgVZkeZbSTMYyGUvdSl85XTQi6iwoPR91E6s32ef8ARW+FxKyLmS9rkagqbqSCCGAIIII4V1h4cihQWIUBbsxZjbS5Y6k+c0nsXwH+en/yvQUK+Wr7RQFFFFAUUUUBRRRQFFFFBIE8h7bSTLZByAoNwpS/KJ4te50AGoGtrmjhPFp8lfwFZ42MCOUgAEo1zbU2U2v01phPFp8lfwFBL2H2U4bFvKkEmZ4ZGidSCrZl4kA6sPOKbPwofMt+daYmwcbqVeNGUnMQyggnrEHn89STs8rihupHTvLGxOdPDXTK97DzKRQXaKn72dPCjWUdMTZWP9DmwH9ZruPasROUtkY6BZAUJPQM1s30XoHaX2jht7DJHfLvEdL2vbMpW9ufjW96+0CYSfrRfUf9dQuyrsjfACBpQHWaZYO9xOzqWV2DBAxL6paw1157WPqayxEKurKwuGBU+gix/GgXUTn40X1H/XXWz8M0YbMwYs7OcoIAvzWJPRXzZcxKlXN3jORz0kC4f+pSrfSRzU5QFL7Rw29ikjByl1ZQSLgEi17XF/XTFFAnkn60X1H/AF1D2b2RvPjZ8IgAbDqjOzxOoJckAIC12Gl83A81+NehxmJEaFiL24AcWJ0CjzkkD6a42fhsiANYubs7dLMbsR5r8BzAAc1Bzkn60X1H/XX3ZuFMakMwYl5HJAsOWxewBJ4XtTdFAUUUUBRRRQFFFFAUUUUBRRRQJYjFI8coR1YorBgrAlTYixtw1B9RpXCbDw+7TvY8Feduj00phcBIitnFhHA8QNx3y5LZ7DgLW463ZvSbmE8WnyV/AUCfcPD+THrb31lhcDHFiu9qFvCb6nWzjppTZGHxmHaY4iXtpHlZ4wihHhQ8Ey6BwB576aZr6O4bFLJiQUN7QsCNQVOddGU6qfMRQVa5kjDAhgCDxBFwforqignnZSjxTPF823I9m10H0Levt8QnNHKPNeN/Ubqx+lRT9FBH2j2Rw4eJ5cTnhVBmbOht6Ay3Vj5gSa42aFxO8kWV2Qv3sxzMEKZEIK5TYg3vfz1Sx+BjnQxzRpIhsSkihlNjcXB0NiAambMnhw5lj5MQEpKoFyqAVTUAC1uNBltPBRwMJ3lkSOwSZmncBRfkSFi2gVmIPmck8Kops1CARJMQRcETyWI6RrSm2GweKhaDEFZI3tmU5tbG4NxqCCAb+amMLj8NEixxsqoiqiKAbKqiwUacAABQJz4S2KhjEk2Rop3Yb59SjQBTe99A7euqHctevN7eT31NxG04jjIWD8kQ4hSbGwLNhyATbicreo1T7sQ+UH3+6glwYaLETERzSOkByuVxDsN91CQ2jIupHS69FbbawW7gd0kmDACx3znnA5zWexosDhA4w2SMSOZXy5uUzcTr+HCutv7TibDyKrgkgWABJOo81BQ7lr15vbye+juWvXm9vJ76O7EPlB9/uo7sQ+UH3+6g+dy1683t5PfRsRiYzclsssyAsbmyyOoBJ1NgAK+92IfKD7/dXGwTeJjzGWdhpa4MrkH0EGgo0UUUBRRRQFFFFAUUUUGOLQsjKOJVgPpBFJwYmVVUdrvoAPDj5h8qqVFAh25L+7v9eP8AVShwTSz7x0aIrGUDB1z3LAjwSQQLcGuPMatUUE8TyR+MXeL1415Q+VGNT6Uv8kU3h51cZkYMvSpuK1pObZ6li6ko54umha3XHBx6R6LUDlFTxjHj8eunlY7lPSy6sn/6HSRT0cgYAqQQdQQbgjpBFB1RRRQeUwHZJIRlZbuZjELjlEXmYSZUHgERFRzkq17WqjsvbTSybsx5G3aysM18quqFeHG7GVf/AFGqb4OMghkQgixBUEEXzWt6dfTX2HDKrMw4sFHoC3so6BqTbzmg+Y2Rljdo1zuFJVb2zEC4W/NfhUCXsq5KyRqGjduSbnlJvEhEl7ZQCzMRc62Fgb6emNLvgozluiHLcLdQct9CB0aUETCbfa+RrMwaMXuASJZp4gMoHMIdOnXopzYG12xChimUNHHKpudRICcuvG1hyhob6cKodqJcHIt18E5Rdb66Hm11rqDDql8iquY5mygDMek24nz0Ezbe1ngYBUVhuppmuxBtEYxlUAcSHOvNYdNJzdkrASMIrqhlGhOZjFKsRVbizM1yVA57A8a9BJCG4gHQjUX0PEeg2HqrjtVMxbIuY2u2UZjbhc8TbS1AhsfGPI8mcoVG6K5NQM0audfjC50NVqyjw6qbqqg2AuAAbC9h6Bc+s1regKKKKAooooCiiigKKKKAooooCiiigKKKKApGTZ1iWhbdMTcgC8bH+JOH0izeenqKCf3QyaTjJ/GDeI+lvic2jW42BNPg0EUgcAU1gbJ/LIvEfQvFP6dNbkGgoUUlFtDULKu6Y6C5ujH+B+B9Bs3mp2gKR278Gm+bb8KepPbMZbDyqoJYowAHEm3AUHndtomGjF4cMZGZiqkWUogztxtyj4I87rxrCHFQs5AggytNGkLBbh42Ed2P8QMgPQQy+e3ojilz59zNmClQd2dASCQNecgeoVLZsHCYYmgZCZTJArKb70KblLnjlJ0HNfSoPmH2YW3oEeFLRyZB3llB5Kvc8s9a1V9goBGwGgEswA6AJXAA81fIsWqlisMwLHM3ezqbBb8egD1V3sVWEbZlK3lmYBtDZpGYEjmuCDVD9JbXW8TA8CVB84LAEeo07Sm1FJiOUEm6mw4mzAm30CgzOxsP5GP6orzG0MXHDhnd8Ph1mDyqiE3W0ZN2LWBNltew8IhecGvUd0v5U3szU7uhh5DLh927NbPLGEJIEt9W10zZW9VA+NjYcjxMZ/pFfdhraKw4CSZQOgCVwAPMAAK+naX8qb2Zr7sdSIuUpUl5Ws3EBpHYX+gigdooooCiiigKKKKAooooCiiigKKKKAooooOJIgwIYAg6EEXBHQQaSGEePxLXXyUhJX+l9WT0coC1gBVCigTw+0FZsjAxv1H0J+SfBcfJJtz2pysp8Orgq4DA8xFx6fTSe5liPezvE6kh5Y+TJz+h73v4QoKNReybsdixixmVA7wtvYQxOQSDhmA4jS2vTT0O0Ua9zkKi7K/JZR0kHm84uPPWMeKncsUSLKHZBmdrnKStyAhtqDz0DeDxAkQONARwPFTwKnoIIIPnBreoUT4iOYrkhyykuO+PYOBylHI+MBmt0q556ez4nqQ+0f8ARQP0VIbG4gTCLdw3KNJfeP8AFZVtbJ/F91MZ8T1IfaP+igbnmVFLMbKoLE9AGpNRux3sehw7zYhI93NiSHmAJte7FRa9gQGIJHE3NGKfESSLHkhsuWV++PbQ8hfA52Ut/R5612jjsREmcxwnlRpbeOPGOsd/A5s1/ooLFFIZ8T1IfaP+ijPiepD7R/0UD9FIZ8T1IfaP+itdm4kyRhmAU3dSAbi6sU0JA05N+FA1RRRQFFFFAUUUUBRRRQFFFFAUUUUBRRRQFFFFBK7JNgRY6AwT5sjWvkOVtNbBrXAPPbiNOFHYzhd1Bu87vkklUNIczsA7AFmtyjbn4nnqrSD7JjJJ74CxJOWaVRc8TZWAHqoFuyvZMuKwzRQTnDS5kZJlXMUKsCdLjiLjjz/RVaJSFAJzEAAm1rnpsOF68vgMZhpIkk7/AHYeCk+IflZc7KCG5WUDW3A6cdKewceGlIEbytcM2k89rKVF75+BzKR0g3FA1J8NT5iT88dUiKj4zZcEatM++72jEsJpywUcpgAHufBvYdFLTvhUvmaewcIWE2IygkoPCz24yIPX0Gwb9iux5cLHIuIxDYl5JXl3jKFIBAATTmAX77CwAFbdkviB89hv88dT8JNh2RGczIWy3HbE5ClozLa+bqgm9b4fBYfEAgb45SjFXmxAPM6NYv0gEecdIoLtFQsfHh4SBIZ9VZ9JsQwCplzMSH0AzCsXxGEFyXmAFzmM2IykBshYHPqA1lv0svSKD0dIbD8T/wCyb/K9I7PgilaVQMQu7cJyp5xmzIkl7Z9NHt9FV8Lh1jUIgsova5JOpuSSbkm5J1oNqKKKAooooCiiigKKKKAooooCiiigKKKKAooooCiiighDsZhChVzALbL4LWIXdlrMpBJXKDcfFU6HWndn7OEckjjjJkHE6Ki5Rx5+N7eaiih0+4uDUL/jEOSNAXAjDBTmBY5mDkliCb5lBuOPA3BIooold9wIuSOWVUAZCwytZGiu2lzyHI4gcNKe2Xs9YAVS5vbiFHAWA5IF/SdfPRRTFc7Q2ck1899Y5ItDbky5Q308ka0p/wAfhsy2ORjcpyQLXLZbgZiM1jqTwFtNKKKhT2BwQjLkMzGQqzZiOKosd9Bzqi38/RTlFFAUUUVR/9k="/>
          <p:cNvSpPr>
            <a:spLocks noChangeAspect="1" noChangeArrowheads="1"/>
          </p:cNvSpPr>
          <p:nvPr/>
        </p:nvSpPr>
        <p:spPr bwMode="auto">
          <a:xfrm>
            <a:off x="155575" y="-1858963"/>
            <a:ext cx="3705225" cy="38766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2" name="Picture 2" descr="http://www.decontextualize.com/wp-content/uploads/2009/02/hashtb082.png"/>
          <p:cNvPicPr>
            <a:picLocks noChangeAspect="1" noChangeArrowheads="1"/>
          </p:cNvPicPr>
          <p:nvPr/>
        </p:nvPicPr>
        <p:blipFill>
          <a:blip r:embed="rId2"/>
          <a:srcRect/>
          <a:stretch>
            <a:fillRect/>
          </a:stretch>
        </p:blipFill>
        <p:spPr bwMode="auto">
          <a:xfrm>
            <a:off x="1500166" y="1285860"/>
            <a:ext cx="6246669" cy="3357586"/>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Slide Number Placeholder 5"/>
          <p:cNvSpPr>
            <a:spLocks noGrp="1"/>
          </p:cNvSpPr>
          <p:nvPr>
            <p:ph type="sldNum" sz="quarter" idx="12"/>
          </p:nvPr>
        </p:nvSpPr>
        <p:spPr>
          <a:noFill/>
        </p:spPr>
        <p:txBody>
          <a:bodyPr/>
          <a:lstStyle/>
          <a:p>
            <a:fld id="{B1F087E6-2ACF-41E0-B99F-08FBE9AF7DCC}" type="slidenum">
              <a:rPr lang="en-US"/>
              <a:pPr/>
              <a:t>50</a:t>
            </a:fld>
            <a:endParaRPr lang="en-US"/>
          </a:p>
        </p:txBody>
      </p:sp>
      <p:sp>
        <p:nvSpPr>
          <p:cNvPr id="34821" name="Rectangle 2"/>
          <p:cNvSpPr>
            <a:spLocks noGrp="1" noChangeArrowheads="1"/>
          </p:cNvSpPr>
          <p:nvPr>
            <p:ph type="title"/>
          </p:nvPr>
        </p:nvSpPr>
        <p:spPr>
          <a:xfrm>
            <a:off x="457200" y="142852"/>
            <a:ext cx="8229600" cy="439718"/>
          </a:xfrm>
        </p:spPr>
        <p:txBody>
          <a:bodyPr>
            <a:normAutofit fontScale="90000"/>
          </a:bodyPr>
          <a:lstStyle/>
          <a:p>
            <a:pPr rtl="1"/>
            <a:r>
              <a:rPr lang="fa-IR" sz="3200" dirty="0">
                <a:solidFill>
                  <a:schemeClr val="bg1"/>
                </a:solidFill>
                <a:cs typeface="B Lotus" pitchFamily="2" charset="-78"/>
              </a:rPr>
              <a:t>پیاده سازی </a:t>
            </a:r>
            <a:r>
              <a:rPr lang="en-US" sz="3200" dirty="0">
                <a:solidFill>
                  <a:schemeClr val="bg1"/>
                </a:solidFill>
                <a:cs typeface="B Lotus" pitchFamily="2" charset="-78"/>
              </a:rPr>
              <a:t>LinkedHashMap</a:t>
            </a:r>
            <a:r>
              <a:rPr lang="fa-IR" sz="3200" dirty="0">
                <a:solidFill>
                  <a:schemeClr val="bg1"/>
                </a:solidFill>
                <a:cs typeface="B Lotus" pitchFamily="2" charset="-78"/>
              </a:rPr>
              <a:t> و </a:t>
            </a:r>
            <a:r>
              <a:rPr lang="en-US" sz="3200" dirty="0">
                <a:solidFill>
                  <a:schemeClr val="bg1"/>
                </a:solidFill>
                <a:cs typeface="B Lotus" pitchFamily="2" charset="-78"/>
              </a:rPr>
              <a:t>TreeMap</a:t>
            </a:r>
            <a:endParaRPr lang="en-US" sz="3200" dirty="0"/>
          </a:p>
        </p:txBody>
      </p:sp>
      <p:sp>
        <p:nvSpPr>
          <p:cNvPr id="34822" name="Rectangle 3"/>
          <p:cNvSpPr>
            <a:spLocks noGrp="1" noChangeArrowheads="1"/>
          </p:cNvSpPr>
          <p:nvPr>
            <p:ph type="body" idx="1"/>
          </p:nvPr>
        </p:nvSpPr>
        <p:spPr>
          <a:xfrm>
            <a:off x="457200" y="857232"/>
            <a:ext cx="8229600" cy="5786478"/>
          </a:xfrm>
        </p:spPr>
        <p:txBody>
          <a:bodyPr>
            <a:normAutofit/>
          </a:bodyPr>
          <a:lstStyle/>
          <a:p>
            <a:pPr algn="just" rtl="1"/>
            <a:r>
              <a:rPr lang="en-US" sz="2600" dirty="0">
                <a:cs typeface="B Lotus" pitchFamily="2" charset="-78"/>
              </a:rPr>
              <a:t>HashMap </a:t>
            </a:r>
            <a:r>
              <a:rPr lang="fa-IR" sz="2600" dirty="0">
                <a:cs typeface="B Lotus" pitchFamily="2" charset="-78"/>
              </a:rPr>
              <a:t> مانند</a:t>
            </a:r>
            <a:r>
              <a:rPr lang="en-US" sz="2600" dirty="0">
                <a:cs typeface="B Lotus" pitchFamily="2" charset="-78"/>
              </a:rPr>
              <a:t>HashSet </a:t>
            </a:r>
            <a:r>
              <a:rPr lang="fa-IR" sz="2600" dirty="0">
                <a:cs typeface="B Lotus" pitchFamily="2" charset="-78"/>
              </a:rPr>
              <a:t> ترتیب ورود عناصر را حفظ نمی‏کند.</a:t>
            </a:r>
          </a:p>
          <a:p>
            <a:pPr algn="just" rtl="1"/>
            <a:r>
              <a:rPr lang="fa-IR" sz="2600" dirty="0">
                <a:cs typeface="B Lotus" pitchFamily="2" charset="-78"/>
              </a:rPr>
              <a:t>اگر ترتیب ورود عناصر برایتان مهم است، از</a:t>
            </a:r>
            <a:r>
              <a:rPr lang="en-US" sz="2600" i="1" dirty="0">
                <a:cs typeface="B Lotus" pitchFamily="2" charset="-78"/>
              </a:rPr>
              <a:t>LinkedHashMap</a:t>
            </a:r>
            <a:r>
              <a:rPr lang="en-US" sz="2600" dirty="0">
                <a:cs typeface="B Lotus" pitchFamily="2" charset="-78"/>
              </a:rPr>
              <a:t> </a:t>
            </a:r>
            <a:r>
              <a:rPr lang="fa-IR" sz="2600" dirty="0">
                <a:cs typeface="B Lotus" pitchFamily="2" charset="-78"/>
              </a:rPr>
              <a:t> استفاده کنید که مانند </a:t>
            </a:r>
            <a:r>
              <a:rPr lang="en-US" sz="2600" i="1" dirty="0" err="1">
                <a:cs typeface="B Lotus" pitchFamily="2" charset="-78"/>
              </a:rPr>
              <a:t>LinkeHashSet</a:t>
            </a:r>
            <a:r>
              <a:rPr lang="en-US" sz="2600" dirty="0">
                <a:cs typeface="B Lotus" pitchFamily="2" charset="-78"/>
              </a:rPr>
              <a:t> </a:t>
            </a:r>
            <a:r>
              <a:rPr lang="fa-IR" sz="2600" dirty="0">
                <a:cs typeface="B Lotus" pitchFamily="2" charset="-78"/>
              </a:rPr>
              <a:t> پیاده‏سازی شده است.</a:t>
            </a:r>
          </a:p>
          <a:p>
            <a:pPr algn="just" rtl="1"/>
            <a:endParaRPr lang="fa-IR" sz="2600" dirty="0">
              <a:cs typeface="B Lotus" pitchFamily="2" charset="-78"/>
            </a:endParaRPr>
          </a:p>
          <a:p>
            <a:pPr algn="just" rtl="1"/>
            <a:endParaRPr lang="fa-IR" sz="2600" dirty="0">
              <a:cs typeface="B Lotus" pitchFamily="2" charset="-78"/>
            </a:endParaRPr>
          </a:p>
          <a:p>
            <a:pPr algn="just" rtl="1"/>
            <a:endParaRPr lang="fa-IR" sz="2600" dirty="0">
              <a:cs typeface="B Lotus" pitchFamily="2" charset="-78"/>
            </a:endParaRPr>
          </a:p>
          <a:p>
            <a:pPr algn="just" rtl="1"/>
            <a:endParaRPr lang="fa-IR" sz="2600" dirty="0">
              <a:cs typeface="B Lotus" pitchFamily="2" charset="-78"/>
            </a:endParaRPr>
          </a:p>
          <a:p>
            <a:pPr algn="just" rtl="1"/>
            <a:r>
              <a:rPr lang="fa-IR" sz="2200" dirty="0">
                <a:cs typeface="B Lotus" pitchFamily="2" charset="-78"/>
              </a:rPr>
              <a:t>اگر می‏خواهید عناصر به صورت مرتب‏شده ذخیره و بازیابی شوند از</a:t>
            </a:r>
            <a:r>
              <a:rPr lang="en-US" sz="2200" dirty="0">
                <a:cs typeface="B Lotus" pitchFamily="2" charset="-78"/>
              </a:rPr>
              <a:t> </a:t>
            </a:r>
            <a:r>
              <a:rPr lang="en-US" sz="2200" dirty="0" err="1">
                <a:cs typeface="B Lotus" pitchFamily="2" charset="-78"/>
              </a:rPr>
              <a:t>TreeMap</a:t>
            </a:r>
            <a:r>
              <a:rPr lang="en-US" sz="2600" dirty="0"/>
              <a:t> </a:t>
            </a:r>
            <a:r>
              <a:rPr lang="fa-IR" sz="2200" dirty="0">
                <a:cs typeface="B Lotus" pitchFamily="2" charset="-78"/>
              </a:rPr>
              <a:t>استفاده کنید که مانند</a:t>
            </a:r>
            <a:r>
              <a:rPr lang="en-US" sz="2200" dirty="0">
                <a:cs typeface="B Lotus" pitchFamily="2" charset="-78"/>
              </a:rPr>
              <a:t> TreeSet</a:t>
            </a:r>
            <a:r>
              <a:rPr lang="en-US" sz="2600" dirty="0"/>
              <a:t> </a:t>
            </a:r>
            <a:r>
              <a:rPr lang="fa-IR" sz="2200" dirty="0">
                <a:cs typeface="B Lotus" pitchFamily="2" charset="-78"/>
              </a:rPr>
              <a:t>با استفاده از درخت سرخ-سیاه پیاده‏سازی شده است.</a:t>
            </a:r>
            <a:endParaRPr lang="en-US" sz="2200" dirty="0">
              <a:cs typeface="B Lotus" pitchFamily="2" charset="-78"/>
            </a:endParaRPr>
          </a:p>
          <a:p>
            <a:pPr algn="just" rtl="1"/>
            <a:r>
              <a:rPr lang="fa-IR" sz="2200" dirty="0">
                <a:cs typeface="B Lotus" pitchFamily="2" charset="-78"/>
              </a:rPr>
              <a:t>این کلاس نیز مانند </a:t>
            </a:r>
            <a:r>
              <a:rPr lang="en-US" sz="2200" dirty="0">
                <a:cs typeface="B Lotus" pitchFamily="2" charset="-78"/>
              </a:rPr>
              <a:t>TreeSet</a:t>
            </a:r>
            <a:r>
              <a:rPr lang="fa-IR" sz="2200" dirty="0">
                <a:cs typeface="B Lotus" pitchFamily="2" charset="-78"/>
              </a:rPr>
              <a:t> متکی بر متد</a:t>
            </a:r>
            <a:r>
              <a:rPr lang="en-US" sz="2000" dirty="0">
                <a:latin typeface="Courier New" pitchFamily="49" charset="0"/>
              </a:rPr>
              <a:t>compareTo</a:t>
            </a:r>
            <a:r>
              <a:rPr lang="en-US" sz="2000" dirty="0"/>
              <a:t> </a:t>
            </a:r>
            <a:r>
              <a:rPr lang="fa-IR" sz="2200" dirty="0">
                <a:cs typeface="B Lotus" pitchFamily="2" charset="-78"/>
              </a:rPr>
              <a:t> برروی کلیدها است.</a:t>
            </a:r>
          </a:p>
          <a:p>
            <a:pPr algn="just" rtl="1">
              <a:buNone/>
            </a:pPr>
            <a:endParaRPr lang="en-US" sz="2200" dirty="0">
              <a:cs typeface="B Lotus" pitchFamily="2" charset="-78"/>
            </a:endParaRPr>
          </a:p>
        </p:txBody>
      </p:sp>
      <p:pic>
        <p:nvPicPr>
          <p:cNvPr id="3073" name="Picture 1"/>
          <p:cNvPicPr>
            <a:picLocks noChangeAspect="1" noChangeArrowheads="1"/>
          </p:cNvPicPr>
          <p:nvPr/>
        </p:nvPicPr>
        <p:blipFill>
          <a:blip r:embed="rId2"/>
          <a:srcRect/>
          <a:stretch>
            <a:fillRect/>
          </a:stretch>
        </p:blipFill>
        <p:spPr bwMode="auto">
          <a:xfrm>
            <a:off x="642910" y="2285992"/>
            <a:ext cx="3114675" cy="14668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p:spPr>
        <p:txBody>
          <a:bodyPr/>
          <a:lstStyle/>
          <a:p>
            <a:fld id="{DBC669F5-B099-4A45-A4B9-7CDAB786AC8C}" type="slidenum">
              <a:rPr lang="en-US">
                <a:latin typeface="Arial" pitchFamily="34" charset="0"/>
              </a:rPr>
              <a:pPr/>
              <a:t>51</a:t>
            </a:fld>
            <a:endParaRPr lang="en-US">
              <a:latin typeface="Arial" pitchFamily="34" charset="0"/>
            </a:endParaRPr>
          </a:p>
        </p:txBody>
      </p:sp>
      <p:sp>
        <p:nvSpPr>
          <p:cNvPr id="13315" name="Rectangle 2"/>
          <p:cNvSpPr>
            <a:spLocks noGrp="1" noChangeArrowheads="1"/>
          </p:cNvSpPr>
          <p:nvPr>
            <p:ph type="title"/>
          </p:nvPr>
        </p:nvSpPr>
        <p:spPr>
          <a:xfrm>
            <a:off x="457200" y="71414"/>
            <a:ext cx="8229600" cy="511156"/>
          </a:xfrm>
        </p:spPr>
        <p:txBody>
          <a:bodyPr>
            <a:normAutofit fontScale="90000"/>
          </a:bodyPr>
          <a:lstStyle/>
          <a:p>
            <a:pPr eaLnBrk="1" hangingPunct="1"/>
            <a:r>
              <a:rPr lang="en-US" sz="2800" dirty="0">
                <a:solidFill>
                  <a:schemeClr val="bg1"/>
                </a:solidFill>
                <a:latin typeface="Consolas" pitchFamily="49" charset="0"/>
              </a:rPr>
              <a:t>Map</a:t>
            </a:r>
            <a:r>
              <a:rPr lang="en-US" sz="3600" dirty="0">
                <a:solidFill>
                  <a:schemeClr val="bg1"/>
                </a:solidFill>
              </a:rPr>
              <a:t> views</a:t>
            </a:r>
          </a:p>
        </p:txBody>
      </p:sp>
      <p:sp>
        <p:nvSpPr>
          <p:cNvPr id="13316" name="Rectangle 3"/>
          <p:cNvSpPr>
            <a:spLocks noGrp="1" noChangeArrowheads="1"/>
          </p:cNvSpPr>
          <p:nvPr>
            <p:ph type="body" idx="1"/>
          </p:nvPr>
        </p:nvSpPr>
        <p:spPr>
          <a:xfrm>
            <a:off x="357158" y="1000108"/>
            <a:ext cx="8574088" cy="5181600"/>
          </a:xfrm>
        </p:spPr>
        <p:txBody>
          <a:bodyPr/>
          <a:lstStyle/>
          <a:p>
            <a:r>
              <a:rPr lang="en-US" sz="2400" dirty="0">
                <a:solidFill>
                  <a:schemeClr val="accent2"/>
                </a:solidFill>
                <a:latin typeface="Consolas" pitchFamily="49" charset="0"/>
              </a:rPr>
              <a:t> Set&lt;K&gt; keySet()</a:t>
            </a:r>
            <a:r>
              <a:rPr lang="en-US" sz="2400" dirty="0">
                <a:solidFill>
                  <a:schemeClr val="accent2"/>
                </a:solidFill>
              </a:rPr>
              <a:t> </a:t>
            </a:r>
          </a:p>
          <a:p>
            <a:pPr lvl="1" eaLnBrk="1" hangingPunct="1"/>
            <a:r>
              <a:rPr lang="en-US" sz="2000" dirty="0"/>
              <a:t>Returns a set view of the keys contained in this map.</a:t>
            </a:r>
          </a:p>
          <a:p>
            <a:pPr eaLnBrk="1" hangingPunct="1"/>
            <a:r>
              <a:rPr lang="en-US" sz="2400" dirty="0">
                <a:solidFill>
                  <a:schemeClr val="accent2"/>
                </a:solidFill>
                <a:latin typeface="Consolas" pitchFamily="49" charset="0"/>
              </a:rPr>
              <a:t> Collection&lt;V&gt; values()</a:t>
            </a:r>
            <a:r>
              <a:rPr lang="en-US" sz="2400" dirty="0">
                <a:solidFill>
                  <a:schemeClr val="accent2"/>
                </a:solidFill>
              </a:rPr>
              <a:t> </a:t>
            </a:r>
          </a:p>
          <a:p>
            <a:pPr lvl="1" eaLnBrk="1" hangingPunct="1"/>
            <a:r>
              <a:rPr lang="en-US" sz="2000" dirty="0"/>
              <a:t>Returns a collection view of the values contained in this map</a:t>
            </a:r>
          </a:p>
          <a:p>
            <a:pPr lvl="1" eaLnBrk="1" hangingPunct="1"/>
            <a:r>
              <a:rPr lang="en-US" sz="2000" dirty="0"/>
              <a:t>Can’t be a set—keys must be unique, but values may be repeated</a:t>
            </a:r>
          </a:p>
          <a:p>
            <a:pPr eaLnBrk="1" hangingPunct="1"/>
            <a:r>
              <a:rPr lang="en-US" sz="2400" dirty="0">
                <a:solidFill>
                  <a:schemeClr val="accent2"/>
                </a:solidFill>
                <a:latin typeface="Consolas" pitchFamily="49" charset="0"/>
              </a:rPr>
              <a:t>Set&lt;Map.Entry&lt;K, V&gt;&gt; entrySet() </a:t>
            </a:r>
          </a:p>
          <a:p>
            <a:pPr lvl="1" eaLnBrk="1" hangingPunct="1"/>
            <a:r>
              <a:rPr lang="en-US" sz="2000" dirty="0"/>
              <a:t>Returns a set view of the mappings contained in this map.</a:t>
            </a:r>
          </a:p>
          <a:p>
            <a:pPr eaLnBrk="1" hangingPunct="1"/>
            <a:r>
              <a:rPr lang="en-US" sz="2400" dirty="0"/>
              <a:t>A view is </a:t>
            </a:r>
            <a:r>
              <a:rPr lang="en-US" sz="2400" i="1" dirty="0"/>
              <a:t>dynamic access</a:t>
            </a:r>
            <a:r>
              <a:rPr lang="en-US" sz="2400" dirty="0"/>
              <a:t> into the Map</a:t>
            </a:r>
          </a:p>
          <a:p>
            <a:pPr lvl="1" eaLnBrk="1" hangingPunct="1"/>
            <a:r>
              <a:rPr lang="en-US" sz="2000" dirty="0"/>
              <a:t>If you change the Map, the view changes</a:t>
            </a:r>
          </a:p>
          <a:p>
            <a:pPr lvl="1" eaLnBrk="1" hangingPunct="1"/>
            <a:r>
              <a:rPr lang="en-US" sz="2000" dirty="0"/>
              <a:t>If you change the view, the Map changes</a:t>
            </a:r>
          </a:p>
          <a:p>
            <a:pPr eaLnBrk="1" hangingPunct="1"/>
            <a:r>
              <a:rPr lang="en-US" sz="2400" dirty="0"/>
              <a:t>The Map interface does not provide any Iterators</a:t>
            </a:r>
          </a:p>
          <a:p>
            <a:pPr lvl="1" eaLnBrk="1" hangingPunct="1"/>
            <a:r>
              <a:rPr lang="en-US" sz="2000" dirty="0"/>
              <a:t>However, there are iterators for the above Sets and Collections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368280"/>
          </a:xfrm>
        </p:spPr>
        <p:txBody>
          <a:bodyPr>
            <a:noAutofit/>
          </a:bodyPr>
          <a:lstStyle/>
          <a:p>
            <a:pPr rtl="1"/>
            <a:r>
              <a:rPr lang="fa-IR" sz="2800" dirty="0">
                <a:solidFill>
                  <a:schemeClr val="bg1"/>
                </a:solidFill>
                <a:cs typeface="B Lotus" pitchFamily="2" charset="-78"/>
              </a:rPr>
              <a:t>مثال از پیمایش </a:t>
            </a:r>
            <a:r>
              <a:rPr lang="en-US" sz="2800" dirty="0">
                <a:solidFill>
                  <a:schemeClr val="bg1"/>
                </a:solidFill>
                <a:cs typeface="B Lotus" pitchFamily="2" charset="-78"/>
              </a:rPr>
              <a:t>Map</a:t>
            </a:r>
          </a:p>
        </p:txBody>
      </p:sp>
      <p:sp>
        <p:nvSpPr>
          <p:cNvPr id="4" name="Slide Number Placeholder 3"/>
          <p:cNvSpPr>
            <a:spLocks noGrp="1"/>
          </p:cNvSpPr>
          <p:nvPr>
            <p:ph type="sldNum" sz="quarter" idx="12"/>
          </p:nvPr>
        </p:nvSpPr>
        <p:spPr/>
        <p:txBody>
          <a:bodyPr/>
          <a:lstStyle/>
          <a:p>
            <a:fld id="{79E6E8FA-B1EB-4DD1-845A-B9015C921A1C}" type="slidenum">
              <a:rPr lang="en-US" smtClean="0"/>
              <a:pPr/>
              <a:t>52</a:t>
            </a:fld>
            <a:endParaRPr lang="en-US"/>
          </a:p>
        </p:txBody>
      </p:sp>
      <p:sp>
        <p:nvSpPr>
          <p:cNvPr id="6" name="Rectangle 3"/>
          <p:cNvSpPr txBox="1">
            <a:spLocks noChangeArrowheads="1"/>
          </p:cNvSpPr>
          <p:nvPr/>
        </p:nvSpPr>
        <p:spPr bwMode="auto">
          <a:xfrm>
            <a:off x="428596" y="571480"/>
            <a:ext cx="8262966" cy="40719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ct val="20000"/>
              </a:spcBef>
              <a:spcAft>
                <a:spcPct val="0"/>
              </a:spcAft>
              <a:buClr>
                <a:srgbClr val="9900FF"/>
              </a:buClr>
              <a:buSzPct val="60000"/>
              <a:buFont typeface="Wingdings" pitchFamily="2" charset="2"/>
              <a:buChar char="n"/>
              <a:tabLst/>
              <a:defRPr/>
            </a:pP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import java.util.*;</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public class MapExample {</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public static void main(String[] args) {</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Map&lt;String, String&gt; fruit = new HashMap&lt;String, String&gt;();</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fruit.put("Apple", "red");</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fruit.put("Pear", "yellow");</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fruit.put("Plum", "purple");</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fruit.put("Cherry", "red");</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for (String key : fruit.keySet()) {</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System.out.println(key + ": " + fruit.get(key));</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    }</a:t>
            </a:r>
            <a:b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3300FF"/>
                </a:solidFill>
                <a:effectLst/>
                <a:uLnTx/>
                <a:uFillTx/>
                <a:latin typeface="Trebuchet MS" pitchFamily="34"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9900FF"/>
              </a:buClr>
              <a:buSzPct val="60000"/>
              <a:buFont typeface="Wingdings" pitchFamily="2" charset="2"/>
              <a:buChar char="n"/>
              <a:tabLst/>
              <a:defRPr/>
            </a:pPr>
            <a: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t>Plum: purple</a:t>
            </a:r>
            <a:b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t>Apple: red</a:t>
            </a:r>
            <a:b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t>Pear: yellow</a:t>
            </a:r>
            <a:b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br>
            <a:r>
              <a:rPr kumimoji="0" lang="en-US" sz="1800" b="0" i="0" u="none" strike="noStrike" kern="0" cap="none" spc="0" normalizeH="0" baseline="0" noProof="0" dirty="0">
                <a:ln>
                  <a:noFill/>
                </a:ln>
                <a:solidFill>
                  <a:srgbClr val="990000"/>
                </a:solidFill>
                <a:effectLst/>
                <a:uLnTx/>
                <a:uFillTx/>
                <a:latin typeface="Trebuchet MS" pitchFamily="34" charset="0"/>
                <a:ea typeface="+mn-ea"/>
                <a:cs typeface="+mn-cs"/>
              </a:rPr>
              <a:t>Cherry: red</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511156"/>
          </a:xfrm>
        </p:spPr>
        <p:txBody>
          <a:bodyPr>
            <a:normAutofit fontScale="90000"/>
          </a:bodyPr>
          <a:lstStyle/>
          <a:p>
            <a:pPr rtl="1"/>
            <a:r>
              <a:rPr lang="fa-IR" sz="3600" dirty="0">
                <a:solidFill>
                  <a:schemeClr val="bg1"/>
                </a:solidFill>
                <a:cs typeface="B Lotus" pitchFamily="2" charset="-78"/>
              </a:rPr>
              <a:t>مثالی از </a:t>
            </a:r>
            <a:r>
              <a:rPr lang="en-US" sz="3600" dirty="0" err="1">
                <a:solidFill>
                  <a:schemeClr val="bg1"/>
                </a:solidFill>
                <a:cs typeface="B Lotus" pitchFamily="2" charset="-78"/>
              </a:rPr>
              <a:t>HashMap</a:t>
            </a:r>
            <a:endParaRPr lang="en-US" sz="3600" dirty="0">
              <a:solidFill>
                <a:schemeClr val="bg1"/>
              </a:solidFill>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53</a:t>
            </a:fld>
            <a:endParaRPr lang="en-US"/>
          </a:p>
        </p:txBody>
      </p:sp>
      <p:sp>
        <p:nvSpPr>
          <p:cNvPr id="5" name="Rectangle 3"/>
          <p:cNvSpPr txBox="1">
            <a:spLocks noChangeArrowheads="1"/>
          </p:cNvSpPr>
          <p:nvPr/>
        </p:nvSpPr>
        <p:spPr>
          <a:xfrm>
            <a:off x="571500" y="1295400"/>
            <a:ext cx="4840288" cy="5562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HashMap grades = new HashMap();</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grades.put("Martin", "A");</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grades.put("Nelson", "F");</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grades.put("Milhouse", "B");</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en-US" sz="1800" b="1" i="0" u="none" strike="noStrike" kern="1200" cap="none" spc="0" normalizeH="0" baseline="0" noProof="0">
              <a:ln>
                <a:noFill/>
              </a:ln>
              <a:solidFill>
                <a:schemeClr val="tx1"/>
              </a:solidFill>
              <a:effectLst/>
              <a:uLnTx/>
              <a:uFillTx/>
              <a:latin typeface="Courier New" pitchFamily="49" charset="0"/>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 What grade did they get?</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System.out.println(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  grades.get("Nelson"));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System.out.println(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  grades.get("Martin"));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en-US" sz="1800" b="1" i="0" u="none" strike="noStrike" kern="1200" cap="none" spc="0" normalizeH="0" baseline="0" noProof="0">
              <a:ln>
                <a:noFill/>
              </a:ln>
              <a:solidFill>
                <a:schemeClr val="tx1"/>
              </a:solidFill>
              <a:effectLst/>
              <a:uLnTx/>
              <a:uFillTx/>
              <a:latin typeface="Courier New" pitchFamily="49" charset="0"/>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grades.put("Nelson", "W");</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grades.remove("Martin");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en-US" sz="1800" b="1" i="0" u="none" strike="noStrike" kern="1200" cap="none" spc="0" normalizeH="0" baseline="0" noProof="0">
              <a:ln>
                <a:noFill/>
              </a:ln>
              <a:solidFill>
                <a:schemeClr val="tx1"/>
              </a:solidFill>
              <a:effectLst/>
              <a:uLnTx/>
              <a:uFillTx/>
              <a:latin typeface="Courier New" pitchFamily="49" charset="0"/>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System.out.println(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  grades.get("Nelson"));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System.out.println(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en-US" sz="1800" b="1" i="0" u="none" strike="noStrike" kern="1200" cap="none" spc="0" normalizeH="0" baseline="0" noProof="0">
                <a:ln>
                  <a:noFill/>
                </a:ln>
                <a:solidFill>
                  <a:schemeClr val="tx1"/>
                </a:solidFill>
                <a:effectLst/>
                <a:uLnTx/>
                <a:uFillTx/>
                <a:latin typeface="Courier New" pitchFamily="49" charset="0"/>
                <a:ea typeface="+mn-ea"/>
                <a:cs typeface="+mn-cs"/>
              </a:rPr>
              <a:t>  grades.get("Martin"));</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en-US" sz="1800" b="1" i="0" u="none" strike="noStrike" kern="1200" cap="none" spc="0" normalizeH="0" baseline="0" noProof="0" dirty="0">
              <a:ln>
                <a:noFill/>
              </a:ln>
              <a:solidFill>
                <a:schemeClr val="tx1"/>
              </a:solidFill>
              <a:effectLst/>
              <a:uLnTx/>
              <a:uFillTx/>
              <a:latin typeface="Courier New" pitchFamily="49" charset="0"/>
              <a:ea typeface="+mn-ea"/>
              <a:cs typeface="+mn-cs"/>
            </a:endParaRPr>
          </a:p>
        </p:txBody>
      </p:sp>
      <p:sp>
        <p:nvSpPr>
          <p:cNvPr id="6" name="AutoShape 4"/>
          <p:cNvSpPr>
            <a:spLocks noChangeArrowheads="1"/>
          </p:cNvSpPr>
          <p:nvPr/>
        </p:nvSpPr>
        <p:spPr bwMode="auto">
          <a:xfrm>
            <a:off x="5562600" y="2819400"/>
            <a:ext cx="1524000" cy="3581400"/>
          </a:xfrm>
          <a:prstGeom prst="roundRect">
            <a:avLst>
              <a:gd name="adj" fmla="val 16667"/>
            </a:avLst>
          </a:prstGeom>
          <a:solidFill>
            <a:srgbClr val="FFFF99"/>
          </a:solidFill>
          <a:ln w="9525">
            <a:solidFill>
              <a:schemeClr val="tx1"/>
            </a:solidFill>
            <a:round/>
            <a:headEnd/>
            <a:tailEnd/>
          </a:ln>
        </p:spPr>
        <p:txBody>
          <a:bodyPr wrap="none"/>
          <a:lstStyle/>
          <a:p>
            <a:pPr algn="ctr" eaLnBrk="0" hangingPunct="0"/>
            <a:r>
              <a:rPr lang="en-US" sz="2000" b="1">
                <a:latin typeface="Trebuchet MS" pitchFamily="34" charset="0"/>
              </a:rPr>
              <a:t>HashMap</a:t>
            </a:r>
          </a:p>
        </p:txBody>
      </p:sp>
      <p:sp>
        <p:nvSpPr>
          <p:cNvPr id="7" name="Rectangle 5"/>
          <p:cNvSpPr>
            <a:spLocks noChangeArrowheads="1"/>
          </p:cNvSpPr>
          <p:nvPr/>
        </p:nvSpPr>
        <p:spPr bwMode="auto">
          <a:xfrm>
            <a:off x="6327775" y="33528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sp>
        <p:nvSpPr>
          <p:cNvPr id="8" name="Rectangle 6"/>
          <p:cNvSpPr>
            <a:spLocks noChangeArrowheads="1"/>
          </p:cNvSpPr>
          <p:nvPr/>
        </p:nvSpPr>
        <p:spPr bwMode="auto">
          <a:xfrm>
            <a:off x="6327775" y="38100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sp>
        <p:nvSpPr>
          <p:cNvPr id="9" name="Rectangle 7"/>
          <p:cNvSpPr>
            <a:spLocks noChangeArrowheads="1"/>
          </p:cNvSpPr>
          <p:nvPr/>
        </p:nvSpPr>
        <p:spPr bwMode="auto">
          <a:xfrm>
            <a:off x="6327775" y="42672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sp>
        <p:nvSpPr>
          <p:cNvPr id="10" name="Text Box 8"/>
          <p:cNvSpPr txBox="1">
            <a:spLocks noChangeArrowheads="1"/>
          </p:cNvSpPr>
          <p:nvPr/>
        </p:nvSpPr>
        <p:spPr bwMode="auto">
          <a:xfrm>
            <a:off x="6019800" y="3417888"/>
            <a:ext cx="307975" cy="336550"/>
          </a:xfrm>
          <a:prstGeom prst="rect">
            <a:avLst/>
          </a:prstGeom>
          <a:noFill/>
          <a:ln w="19050">
            <a:noFill/>
            <a:miter lim="800000"/>
            <a:headEnd/>
            <a:tailEnd type="none" w="lg" len="med"/>
          </a:ln>
        </p:spPr>
        <p:txBody>
          <a:bodyPr wrap="none">
            <a:spAutoFit/>
          </a:bodyPr>
          <a:lstStyle/>
          <a:p>
            <a:r>
              <a:rPr lang="en-US" sz="1600">
                <a:latin typeface="Comic Sans MS" pitchFamily="66" charset="0"/>
                <a:ea typeface="ＭＳ Ｐゴシック" pitchFamily="34" charset="-128"/>
              </a:rPr>
              <a:t>0</a:t>
            </a:r>
          </a:p>
        </p:txBody>
      </p:sp>
      <p:sp>
        <p:nvSpPr>
          <p:cNvPr id="11" name="Text Box 9"/>
          <p:cNvSpPr txBox="1">
            <a:spLocks noChangeArrowheads="1"/>
          </p:cNvSpPr>
          <p:nvPr/>
        </p:nvSpPr>
        <p:spPr bwMode="auto">
          <a:xfrm>
            <a:off x="6051550" y="4311650"/>
            <a:ext cx="307975" cy="336550"/>
          </a:xfrm>
          <a:prstGeom prst="rect">
            <a:avLst/>
          </a:prstGeom>
          <a:noFill/>
          <a:ln w="19050">
            <a:noFill/>
            <a:miter lim="800000"/>
            <a:headEnd/>
            <a:tailEnd type="none" w="lg" len="med"/>
          </a:ln>
        </p:spPr>
        <p:txBody>
          <a:bodyPr wrap="none">
            <a:spAutoFit/>
          </a:bodyPr>
          <a:lstStyle/>
          <a:p>
            <a:r>
              <a:rPr lang="en-US" sz="1600">
                <a:latin typeface="Comic Sans MS" pitchFamily="66" charset="0"/>
                <a:ea typeface="ＭＳ Ｐゴシック" pitchFamily="34" charset="-128"/>
              </a:rPr>
              <a:t>2</a:t>
            </a:r>
          </a:p>
        </p:txBody>
      </p:sp>
      <p:sp>
        <p:nvSpPr>
          <p:cNvPr id="12" name="Text Box 10"/>
          <p:cNvSpPr txBox="1">
            <a:spLocks noChangeArrowheads="1"/>
          </p:cNvSpPr>
          <p:nvPr/>
        </p:nvSpPr>
        <p:spPr bwMode="auto">
          <a:xfrm>
            <a:off x="6019800" y="5683250"/>
            <a:ext cx="307975" cy="336550"/>
          </a:xfrm>
          <a:prstGeom prst="rect">
            <a:avLst/>
          </a:prstGeom>
          <a:noFill/>
          <a:ln w="19050">
            <a:noFill/>
            <a:miter lim="800000"/>
            <a:headEnd/>
            <a:tailEnd type="none" w="lg" len="med"/>
          </a:ln>
        </p:spPr>
        <p:txBody>
          <a:bodyPr wrap="none">
            <a:spAutoFit/>
          </a:bodyPr>
          <a:lstStyle/>
          <a:p>
            <a:r>
              <a:rPr lang="en-US" sz="1600">
                <a:latin typeface="Comic Sans MS" pitchFamily="66" charset="0"/>
                <a:ea typeface="ＭＳ Ｐゴシック" pitchFamily="34" charset="-128"/>
              </a:rPr>
              <a:t>5</a:t>
            </a:r>
          </a:p>
        </p:txBody>
      </p:sp>
      <p:sp>
        <p:nvSpPr>
          <p:cNvPr id="13" name="Text Box 11"/>
          <p:cNvSpPr txBox="1">
            <a:spLocks noChangeArrowheads="1"/>
          </p:cNvSpPr>
          <p:nvPr/>
        </p:nvSpPr>
        <p:spPr bwMode="auto">
          <a:xfrm>
            <a:off x="6232525" y="3036888"/>
            <a:ext cx="184150" cy="336550"/>
          </a:xfrm>
          <a:prstGeom prst="rect">
            <a:avLst/>
          </a:prstGeom>
          <a:noFill/>
          <a:ln w="19050">
            <a:noFill/>
            <a:miter lim="800000"/>
            <a:headEnd/>
            <a:tailEnd type="none" w="lg" len="med"/>
          </a:ln>
        </p:spPr>
        <p:txBody>
          <a:bodyPr wrap="none">
            <a:spAutoFit/>
          </a:bodyPr>
          <a:lstStyle/>
          <a:p>
            <a:endParaRPr lang="en-US" sz="1600">
              <a:latin typeface="Comic Sans MS" pitchFamily="66" charset="0"/>
              <a:ea typeface="ＭＳ Ｐゴシック" pitchFamily="34" charset="-128"/>
            </a:endParaRPr>
          </a:p>
        </p:txBody>
      </p:sp>
      <p:sp>
        <p:nvSpPr>
          <p:cNvPr id="14" name="Rectangle 12"/>
          <p:cNvSpPr>
            <a:spLocks noChangeArrowheads="1"/>
          </p:cNvSpPr>
          <p:nvPr/>
        </p:nvSpPr>
        <p:spPr bwMode="auto">
          <a:xfrm>
            <a:off x="5867400" y="1600200"/>
            <a:ext cx="609600" cy="533400"/>
          </a:xfrm>
          <a:prstGeom prst="rect">
            <a:avLst/>
          </a:prstGeom>
          <a:noFill/>
          <a:ln w="12700">
            <a:solidFill>
              <a:schemeClr val="tx1"/>
            </a:solidFill>
            <a:miter lim="800000"/>
            <a:headEnd/>
            <a:tailEnd/>
          </a:ln>
        </p:spPr>
        <p:txBody>
          <a:bodyPr wrap="none" anchor="ctr"/>
          <a:lstStyle/>
          <a:p>
            <a:endParaRPr lang="en-US"/>
          </a:p>
        </p:txBody>
      </p:sp>
      <p:sp>
        <p:nvSpPr>
          <p:cNvPr id="15" name="Text Box 13"/>
          <p:cNvSpPr txBox="1">
            <a:spLocks noChangeArrowheads="1"/>
          </p:cNvSpPr>
          <p:nvPr/>
        </p:nvSpPr>
        <p:spPr bwMode="auto">
          <a:xfrm>
            <a:off x="5410200" y="1066800"/>
            <a:ext cx="2514600" cy="396875"/>
          </a:xfrm>
          <a:prstGeom prst="rect">
            <a:avLst/>
          </a:prstGeom>
          <a:noFill/>
          <a:ln w="12700">
            <a:noFill/>
            <a:miter lim="800000"/>
            <a:headEnd/>
            <a:tailEnd/>
          </a:ln>
        </p:spPr>
        <p:txBody>
          <a:bodyPr>
            <a:spAutoFit/>
          </a:bodyPr>
          <a:lstStyle/>
          <a:p>
            <a:pPr eaLnBrk="0" hangingPunct="0"/>
            <a:r>
              <a:rPr lang="en-US" sz="2000" b="1">
                <a:solidFill>
                  <a:schemeClr val="tx2"/>
                </a:solidFill>
                <a:latin typeface="Comic Sans MS" pitchFamily="66" charset="0"/>
              </a:rPr>
              <a:t>HashMap grades</a:t>
            </a:r>
          </a:p>
        </p:txBody>
      </p:sp>
      <p:sp>
        <p:nvSpPr>
          <p:cNvPr id="16" name="Line 14"/>
          <p:cNvSpPr>
            <a:spLocks noChangeShapeType="1"/>
          </p:cNvSpPr>
          <p:nvPr/>
        </p:nvSpPr>
        <p:spPr bwMode="auto">
          <a:xfrm>
            <a:off x="6172200" y="1828800"/>
            <a:ext cx="152400" cy="990600"/>
          </a:xfrm>
          <a:prstGeom prst="line">
            <a:avLst/>
          </a:prstGeom>
          <a:noFill/>
          <a:ln w="12700">
            <a:solidFill>
              <a:schemeClr val="tx1"/>
            </a:solidFill>
            <a:round/>
            <a:headEnd type="oval" w="med" len="med"/>
            <a:tailEnd type="triangle" w="lg" len="lg"/>
          </a:ln>
        </p:spPr>
        <p:txBody>
          <a:bodyPr wrap="none" anchor="ctr"/>
          <a:lstStyle/>
          <a:p>
            <a:endParaRPr lang="en-US"/>
          </a:p>
        </p:txBody>
      </p:sp>
      <p:grpSp>
        <p:nvGrpSpPr>
          <p:cNvPr id="17" name="Group 15"/>
          <p:cNvGrpSpPr>
            <a:grpSpLocks/>
          </p:cNvGrpSpPr>
          <p:nvPr/>
        </p:nvGrpSpPr>
        <p:grpSpPr bwMode="auto">
          <a:xfrm>
            <a:off x="6726238" y="1828800"/>
            <a:ext cx="2047875" cy="1784350"/>
            <a:chOff x="4237" y="1152"/>
            <a:chExt cx="1290" cy="1124"/>
          </a:xfrm>
        </p:grpSpPr>
        <p:sp>
          <p:nvSpPr>
            <p:cNvPr id="18" name="Line 16"/>
            <p:cNvSpPr>
              <a:spLocks noChangeShapeType="1"/>
            </p:cNvSpPr>
            <p:nvPr/>
          </p:nvSpPr>
          <p:spPr bwMode="auto">
            <a:xfrm flipV="1">
              <a:off x="4237" y="1344"/>
              <a:ext cx="419" cy="932"/>
            </a:xfrm>
            <a:prstGeom prst="line">
              <a:avLst/>
            </a:prstGeom>
            <a:noFill/>
            <a:ln w="12700">
              <a:solidFill>
                <a:schemeClr val="tx1"/>
              </a:solidFill>
              <a:round/>
              <a:headEnd type="oval" w="med" len="med"/>
              <a:tailEnd type="triangle" w="lg" len="lg"/>
            </a:ln>
          </p:spPr>
          <p:txBody>
            <a:bodyPr wrap="none" anchor="ctr"/>
            <a:lstStyle/>
            <a:p>
              <a:endParaRPr lang="en-US"/>
            </a:p>
          </p:txBody>
        </p:sp>
        <p:grpSp>
          <p:nvGrpSpPr>
            <p:cNvPr id="19" name="Group 17"/>
            <p:cNvGrpSpPr>
              <a:grpSpLocks/>
            </p:cNvGrpSpPr>
            <p:nvPr/>
          </p:nvGrpSpPr>
          <p:grpSpPr bwMode="auto">
            <a:xfrm>
              <a:off x="4560" y="1152"/>
              <a:ext cx="967" cy="807"/>
              <a:chOff x="4560" y="2064"/>
              <a:chExt cx="967" cy="807"/>
            </a:xfrm>
          </p:grpSpPr>
          <p:sp>
            <p:nvSpPr>
              <p:cNvPr id="20" name="AutoShape 18"/>
              <p:cNvSpPr>
                <a:spLocks noChangeArrowheads="1"/>
              </p:cNvSpPr>
              <p:nvPr/>
            </p:nvSpPr>
            <p:spPr bwMode="auto">
              <a:xfrm>
                <a:off x="4656" y="2064"/>
                <a:ext cx="816" cy="528"/>
              </a:xfrm>
              <a:prstGeom prst="roundRect">
                <a:avLst>
                  <a:gd name="adj" fmla="val 16667"/>
                </a:avLst>
              </a:prstGeom>
              <a:solidFill>
                <a:srgbClr val="FFFF99"/>
              </a:solidFill>
              <a:ln w="9525">
                <a:solidFill>
                  <a:schemeClr val="tx1"/>
                </a:solidFill>
                <a:round/>
                <a:headEnd/>
                <a:tailEnd/>
              </a:ln>
            </p:spPr>
            <p:txBody>
              <a:bodyPr wrap="none"/>
              <a:lstStyle/>
              <a:p>
                <a:pPr algn="ctr" eaLnBrk="0" hangingPunct="0"/>
                <a:r>
                  <a:rPr lang="en-US" sz="1400" b="1">
                    <a:latin typeface="Trebuchet MS" pitchFamily="34" charset="0"/>
                  </a:rPr>
                  <a:t>HashMapEntry</a:t>
                </a:r>
              </a:p>
            </p:txBody>
          </p:sp>
          <p:sp>
            <p:nvSpPr>
              <p:cNvPr id="21" name="AutoShape 19"/>
              <p:cNvSpPr>
                <a:spLocks noChangeArrowheads="1"/>
              </p:cNvSpPr>
              <p:nvPr/>
            </p:nvSpPr>
            <p:spPr bwMode="auto">
              <a:xfrm>
                <a:off x="4752" y="2352"/>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22" name="AutoShape 20"/>
              <p:cNvSpPr>
                <a:spLocks noChangeArrowheads="1"/>
              </p:cNvSpPr>
              <p:nvPr/>
            </p:nvSpPr>
            <p:spPr bwMode="auto">
              <a:xfrm>
                <a:off x="5088" y="2352"/>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23" name="Text Box 21"/>
              <p:cNvSpPr txBox="1">
                <a:spLocks noChangeArrowheads="1"/>
              </p:cNvSpPr>
              <p:nvPr/>
            </p:nvSpPr>
            <p:spPr bwMode="auto">
              <a:xfrm>
                <a:off x="4560" y="2640"/>
                <a:ext cx="621"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"Martin"</a:t>
                </a:r>
              </a:p>
            </p:txBody>
          </p:sp>
          <p:sp>
            <p:nvSpPr>
              <p:cNvPr id="24" name="Text Box 22"/>
              <p:cNvSpPr txBox="1">
                <a:spLocks noChangeArrowheads="1"/>
              </p:cNvSpPr>
              <p:nvPr/>
            </p:nvSpPr>
            <p:spPr bwMode="auto">
              <a:xfrm>
                <a:off x="5232" y="2640"/>
                <a:ext cx="295"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"A"</a:t>
                </a:r>
              </a:p>
            </p:txBody>
          </p:sp>
          <p:sp>
            <p:nvSpPr>
              <p:cNvPr id="25" name="Line 23"/>
              <p:cNvSpPr>
                <a:spLocks noChangeShapeType="1"/>
              </p:cNvSpPr>
              <p:nvPr/>
            </p:nvSpPr>
            <p:spPr bwMode="auto">
              <a:xfrm>
                <a:off x="4896" y="2400"/>
                <a:ext cx="0" cy="288"/>
              </a:xfrm>
              <a:prstGeom prst="line">
                <a:avLst/>
              </a:prstGeom>
              <a:noFill/>
              <a:ln w="12700">
                <a:solidFill>
                  <a:schemeClr val="tx1"/>
                </a:solidFill>
                <a:round/>
                <a:headEnd type="oval" w="med" len="med"/>
                <a:tailEnd type="triangle" w="lg" len="lg"/>
              </a:ln>
            </p:spPr>
            <p:txBody>
              <a:bodyPr/>
              <a:lstStyle/>
              <a:p>
                <a:endParaRPr lang="en-US"/>
              </a:p>
            </p:txBody>
          </p:sp>
          <p:sp>
            <p:nvSpPr>
              <p:cNvPr id="26" name="Line 24"/>
              <p:cNvSpPr>
                <a:spLocks noChangeShapeType="1"/>
              </p:cNvSpPr>
              <p:nvPr/>
            </p:nvSpPr>
            <p:spPr bwMode="auto">
              <a:xfrm>
                <a:off x="5232" y="2400"/>
                <a:ext cx="144" cy="288"/>
              </a:xfrm>
              <a:prstGeom prst="line">
                <a:avLst/>
              </a:prstGeom>
              <a:noFill/>
              <a:ln w="12700">
                <a:solidFill>
                  <a:schemeClr val="tx1"/>
                </a:solidFill>
                <a:round/>
                <a:headEnd type="oval" w="med" len="med"/>
                <a:tailEnd type="triangle" w="lg" len="lg"/>
              </a:ln>
            </p:spPr>
            <p:txBody>
              <a:bodyPr/>
              <a:lstStyle/>
              <a:p>
                <a:endParaRPr lang="en-US"/>
              </a:p>
            </p:txBody>
          </p:sp>
        </p:grpSp>
      </p:grpSp>
      <p:grpSp>
        <p:nvGrpSpPr>
          <p:cNvPr id="27" name="Group 25"/>
          <p:cNvGrpSpPr>
            <a:grpSpLocks/>
          </p:cNvGrpSpPr>
          <p:nvPr/>
        </p:nvGrpSpPr>
        <p:grpSpPr bwMode="auto">
          <a:xfrm>
            <a:off x="6705600" y="3429000"/>
            <a:ext cx="2054225" cy="1281113"/>
            <a:chOff x="4224" y="2160"/>
            <a:chExt cx="1294" cy="807"/>
          </a:xfrm>
        </p:grpSpPr>
        <p:grpSp>
          <p:nvGrpSpPr>
            <p:cNvPr id="28" name="Group 26"/>
            <p:cNvGrpSpPr>
              <a:grpSpLocks/>
            </p:cNvGrpSpPr>
            <p:nvPr/>
          </p:nvGrpSpPr>
          <p:grpSpPr bwMode="auto">
            <a:xfrm>
              <a:off x="4560" y="2160"/>
              <a:ext cx="958" cy="807"/>
              <a:chOff x="4560" y="2064"/>
              <a:chExt cx="958" cy="807"/>
            </a:xfrm>
          </p:grpSpPr>
          <p:sp>
            <p:nvSpPr>
              <p:cNvPr id="30" name="AutoShape 27"/>
              <p:cNvSpPr>
                <a:spLocks noChangeArrowheads="1"/>
              </p:cNvSpPr>
              <p:nvPr/>
            </p:nvSpPr>
            <p:spPr bwMode="auto">
              <a:xfrm>
                <a:off x="4656" y="2064"/>
                <a:ext cx="816" cy="528"/>
              </a:xfrm>
              <a:prstGeom prst="roundRect">
                <a:avLst>
                  <a:gd name="adj" fmla="val 16667"/>
                </a:avLst>
              </a:prstGeom>
              <a:solidFill>
                <a:srgbClr val="FFFF99"/>
              </a:solidFill>
              <a:ln w="9525">
                <a:solidFill>
                  <a:schemeClr val="tx1"/>
                </a:solidFill>
                <a:round/>
                <a:headEnd/>
                <a:tailEnd/>
              </a:ln>
            </p:spPr>
            <p:txBody>
              <a:bodyPr wrap="none"/>
              <a:lstStyle/>
              <a:p>
                <a:pPr algn="ctr" eaLnBrk="0" hangingPunct="0"/>
                <a:r>
                  <a:rPr lang="en-US" sz="1400" b="1">
                    <a:latin typeface="Trebuchet MS" pitchFamily="34" charset="0"/>
                  </a:rPr>
                  <a:t>HashMapEntry</a:t>
                </a:r>
              </a:p>
            </p:txBody>
          </p:sp>
          <p:sp>
            <p:nvSpPr>
              <p:cNvPr id="31" name="AutoShape 28"/>
              <p:cNvSpPr>
                <a:spLocks noChangeArrowheads="1"/>
              </p:cNvSpPr>
              <p:nvPr/>
            </p:nvSpPr>
            <p:spPr bwMode="auto">
              <a:xfrm>
                <a:off x="4752" y="2352"/>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32" name="AutoShape 29"/>
              <p:cNvSpPr>
                <a:spLocks noChangeArrowheads="1"/>
              </p:cNvSpPr>
              <p:nvPr/>
            </p:nvSpPr>
            <p:spPr bwMode="auto">
              <a:xfrm>
                <a:off x="5088" y="2352"/>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33" name="Text Box 30"/>
              <p:cNvSpPr txBox="1">
                <a:spLocks noChangeArrowheads="1"/>
              </p:cNvSpPr>
              <p:nvPr/>
            </p:nvSpPr>
            <p:spPr bwMode="auto">
              <a:xfrm>
                <a:off x="4560" y="2640"/>
                <a:ext cx="637"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"Nelson"</a:t>
                </a:r>
              </a:p>
            </p:txBody>
          </p:sp>
          <p:sp>
            <p:nvSpPr>
              <p:cNvPr id="34" name="Text Box 31"/>
              <p:cNvSpPr txBox="1">
                <a:spLocks noChangeArrowheads="1"/>
              </p:cNvSpPr>
              <p:nvPr/>
            </p:nvSpPr>
            <p:spPr bwMode="auto">
              <a:xfrm>
                <a:off x="5232" y="2640"/>
                <a:ext cx="286"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"F"</a:t>
                </a:r>
              </a:p>
            </p:txBody>
          </p:sp>
          <p:sp>
            <p:nvSpPr>
              <p:cNvPr id="35" name="Line 32"/>
              <p:cNvSpPr>
                <a:spLocks noChangeShapeType="1"/>
              </p:cNvSpPr>
              <p:nvPr/>
            </p:nvSpPr>
            <p:spPr bwMode="auto">
              <a:xfrm>
                <a:off x="4896" y="2400"/>
                <a:ext cx="0" cy="288"/>
              </a:xfrm>
              <a:prstGeom prst="line">
                <a:avLst/>
              </a:prstGeom>
              <a:noFill/>
              <a:ln w="12700">
                <a:solidFill>
                  <a:schemeClr val="tx1"/>
                </a:solidFill>
                <a:round/>
                <a:headEnd type="oval" w="med" len="med"/>
                <a:tailEnd type="triangle" w="lg" len="lg"/>
              </a:ln>
            </p:spPr>
            <p:txBody>
              <a:bodyPr/>
              <a:lstStyle/>
              <a:p>
                <a:endParaRPr lang="en-US"/>
              </a:p>
            </p:txBody>
          </p:sp>
          <p:sp>
            <p:nvSpPr>
              <p:cNvPr id="36" name="Line 33"/>
              <p:cNvSpPr>
                <a:spLocks noChangeShapeType="1"/>
              </p:cNvSpPr>
              <p:nvPr/>
            </p:nvSpPr>
            <p:spPr bwMode="auto">
              <a:xfrm>
                <a:off x="5232" y="2400"/>
                <a:ext cx="144" cy="288"/>
              </a:xfrm>
              <a:prstGeom prst="line">
                <a:avLst/>
              </a:prstGeom>
              <a:noFill/>
              <a:ln w="12700">
                <a:solidFill>
                  <a:schemeClr val="tx1"/>
                </a:solidFill>
                <a:round/>
                <a:headEnd type="oval" w="med" len="med"/>
                <a:tailEnd type="triangle" w="lg" len="lg"/>
              </a:ln>
            </p:spPr>
            <p:txBody>
              <a:bodyPr/>
              <a:lstStyle/>
              <a:p>
                <a:endParaRPr lang="en-US"/>
              </a:p>
            </p:txBody>
          </p:sp>
        </p:grpSp>
        <p:sp>
          <p:nvSpPr>
            <p:cNvPr id="29" name="Line 34"/>
            <p:cNvSpPr>
              <a:spLocks noChangeShapeType="1"/>
            </p:cNvSpPr>
            <p:nvPr/>
          </p:nvSpPr>
          <p:spPr bwMode="auto">
            <a:xfrm flipV="1">
              <a:off x="4224" y="2544"/>
              <a:ext cx="432" cy="308"/>
            </a:xfrm>
            <a:prstGeom prst="line">
              <a:avLst/>
            </a:prstGeom>
            <a:noFill/>
            <a:ln w="12700">
              <a:solidFill>
                <a:schemeClr val="tx1"/>
              </a:solidFill>
              <a:round/>
              <a:headEnd type="oval" w="med" len="med"/>
              <a:tailEnd type="triangle" w="lg" len="lg"/>
            </a:ln>
          </p:spPr>
          <p:txBody>
            <a:bodyPr wrap="none" anchor="ctr"/>
            <a:lstStyle/>
            <a:p>
              <a:endParaRPr lang="en-US"/>
            </a:p>
          </p:txBody>
        </p:sp>
      </p:grpSp>
      <p:sp>
        <p:nvSpPr>
          <p:cNvPr id="37" name="Rectangle 35"/>
          <p:cNvSpPr>
            <a:spLocks noChangeArrowheads="1"/>
          </p:cNvSpPr>
          <p:nvPr/>
        </p:nvSpPr>
        <p:spPr bwMode="auto">
          <a:xfrm>
            <a:off x="6324600" y="47244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sp>
        <p:nvSpPr>
          <p:cNvPr id="38" name="Rectangle 36"/>
          <p:cNvSpPr>
            <a:spLocks noChangeArrowheads="1"/>
          </p:cNvSpPr>
          <p:nvPr/>
        </p:nvSpPr>
        <p:spPr bwMode="auto">
          <a:xfrm>
            <a:off x="6321425" y="51816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sp>
        <p:nvSpPr>
          <p:cNvPr id="39" name="Rectangle 37"/>
          <p:cNvSpPr>
            <a:spLocks noChangeArrowheads="1"/>
          </p:cNvSpPr>
          <p:nvPr/>
        </p:nvSpPr>
        <p:spPr bwMode="auto">
          <a:xfrm>
            <a:off x="6318250" y="5638800"/>
            <a:ext cx="685800" cy="457200"/>
          </a:xfrm>
          <a:prstGeom prst="rect">
            <a:avLst/>
          </a:prstGeom>
          <a:solidFill>
            <a:schemeClr val="bg1"/>
          </a:solidFill>
          <a:ln w="12700">
            <a:solidFill>
              <a:schemeClr val="tx1"/>
            </a:solidFill>
            <a:miter lim="800000"/>
            <a:headEnd/>
            <a:tailEnd/>
          </a:ln>
        </p:spPr>
        <p:txBody>
          <a:bodyPr wrap="none" anchor="ctr"/>
          <a:lstStyle/>
          <a:p>
            <a:pPr algn="ctr"/>
            <a:endParaRPr lang="en-US" sz="1600">
              <a:latin typeface="Comic Sans MS" pitchFamily="66" charset="0"/>
              <a:ea typeface="ＭＳ Ｐゴシック" pitchFamily="34" charset="-128"/>
            </a:endParaRPr>
          </a:p>
        </p:txBody>
      </p:sp>
      <p:grpSp>
        <p:nvGrpSpPr>
          <p:cNvPr id="40" name="Group 38"/>
          <p:cNvGrpSpPr>
            <a:grpSpLocks/>
          </p:cNvGrpSpPr>
          <p:nvPr/>
        </p:nvGrpSpPr>
        <p:grpSpPr bwMode="auto">
          <a:xfrm>
            <a:off x="6629400" y="4814888"/>
            <a:ext cx="2111375" cy="1281112"/>
            <a:chOff x="4176" y="3033"/>
            <a:chExt cx="1330" cy="807"/>
          </a:xfrm>
        </p:grpSpPr>
        <p:grpSp>
          <p:nvGrpSpPr>
            <p:cNvPr id="41" name="Group 39"/>
            <p:cNvGrpSpPr>
              <a:grpSpLocks/>
            </p:cNvGrpSpPr>
            <p:nvPr/>
          </p:nvGrpSpPr>
          <p:grpSpPr bwMode="auto">
            <a:xfrm>
              <a:off x="4368" y="3033"/>
              <a:ext cx="1138" cy="807"/>
              <a:chOff x="4368" y="3033"/>
              <a:chExt cx="1138" cy="807"/>
            </a:xfrm>
          </p:grpSpPr>
          <p:sp>
            <p:nvSpPr>
              <p:cNvPr id="43" name="AutoShape 40"/>
              <p:cNvSpPr>
                <a:spLocks noChangeArrowheads="1"/>
              </p:cNvSpPr>
              <p:nvPr/>
            </p:nvSpPr>
            <p:spPr bwMode="auto">
              <a:xfrm>
                <a:off x="4639" y="3033"/>
                <a:ext cx="816" cy="528"/>
              </a:xfrm>
              <a:prstGeom prst="roundRect">
                <a:avLst>
                  <a:gd name="adj" fmla="val 16667"/>
                </a:avLst>
              </a:prstGeom>
              <a:solidFill>
                <a:srgbClr val="FFFF99"/>
              </a:solidFill>
              <a:ln w="9525">
                <a:solidFill>
                  <a:schemeClr val="tx1"/>
                </a:solidFill>
                <a:round/>
                <a:headEnd/>
                <a:tailEnd/>
              </a:ln>
            </p:spPr>
            <p:txBody>
              <a:bodyPr wrap="none"/>
              <a:lstStyle/>
              <a:p>
                <a:pPr algn="ctr" eaLnBrk="0" hangingPunct="0"/>
                <a:r>
                  <a:rPr lang="en-US" sz="1400" b="1">
                    <a:latin typeface="Trebuchet MS" pitchFamily="34" charset="0"/>
                  </a:rPr>
                  <a:t>HashMapEntry</a:t>
                </a:r>
              </a:p>
            </p:txBody>
          </p:sp>
          <p:sp>
            <p:nvSpPr>
              <p:cNvPr id="44" name="AutoShape 41"/>
              <p:cNvSpPr>
                <a:spLocks noChangeArrowheads="1"/>
              </p:cNvSpPr>
              <p:nvPr/>
            </p:nvSpPr>
            <p:spPr bwMode="auto">
              <a:xfrm>
                <a:off x="4735" y="3321"/>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45" name="AutoShape 42"/>
              <p:cNvSpPr>
                <a:spLocks noChangeArrowheads="1"/>
              </p:cNvSpPr>
              <p:nvPr/>
            </p:nvSpPr>
            <p:spPr bwMode="auto">
              <a:xfrm>
                <a:off x="5071" y="3321"/>
                <a:ext cx="288" cy="144"/>
              </a:xfrm>
              <a:prstGeom prst="roundRect">
                <a:avLst>
                  <a:gd name="adj" fmla="val 16667"/>
                </a:avLst>
              </a:prstGeom>
              <a:solidFill>
                <a:schemeClr val="bg1"/>
              </a:solidFill>
              <a:ln w="12700">
                <a:solidFill>
                  <a:schemeClr val="tx1"/>
                </a:solidFill>
                <a:round/>
                <a:headEnd/>
                <a:tailEnd type="none" w="lg" len="lg"/>
              </a:ln>
            </p:spPr>
            <p:txBody>
              <a:bodyPr wrap="none" anchor="ctr"/>
              <a:lstStyle/>
              <a:p>
                <a:endParaRPr lang="en-US"/>
              </a:p>
            </p:txBody>
          </p:sp>
          <p:sp>
            <p:nvSpPr>
              <p:cNvPr id="46" name="Text Box 43"/>
              <p:cNvSpPr txBox="1">
                <a:spLocks noChangeArrowheads="1"/>
              </p:cNvSpPr>
              <p:nvPr/>
            </p:nvSpPr>
            <p:spPr bwMode="auto">
              <a:xfrm>
                <a:off x="4368" y="3609"/>
                <a:ext cx="767"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"Milhouse"</a:t>
                </a:r>
              </a:p>
            </p:txBody>
          </p:sp>
          <p:sp>
            <p:nvSpPr>
              <p:cNvPr id="47" name="Text Box 44"/>
              <p:cNvSpPr txBox="1">
                <a:spLocks noChangeArrowheads="1"/>
              </p:cNvSpPr>
              <p:nvPr/>
            </p:nvSpPr>
            <p:spPr bwMode="auto">
              <a:xfrm>
                <a:off x="5215" y="3609"/>
                <a:ext cx="291" cy="231"/>
              </a:xfrm>
              <a:prstGeom prst="rect">
                <a:avLst/>
              </a:prstGeom>
              <a:noFill/>
              <a:ln w="38100">
                <a:noFill/>
                <a:miter lim="800000"/>
                <a:headEnd/>
                <a:tailEnd type="none" w="lg" len="lg"/>
              </a:ln>
            </p:spPr>
            <p:txBody>
              <a:bodyPr wrap="none">
                <a:spAutoFit/>
              </a:bodyPr>
              <a:lstStyle/>
              <a:p>
                <a:pPr eaLnBrk="0" hangingPunct="0"/>
                <a:r>
                  <a:rPr lang="en-US" sz="1800">
                    <a:latin typeface="Trebuchet MS" pitchFamily="34" charset="0"/>
                  </a:rPr>
                  <a:t>"B"</a:t>
                </a:r>
              </a:p>
            </p:txBody>
          </p:sp>
          <p:sp>
            <p:nvSpPr>
              <p:cNvPr id="48" name="Line 45"/>
              <p:cNvSpPr>
                <a:spLocks noChangeShapeType="1"/>
              </p:cNvSpPr>
              <p:nvPr/>
            </p:nvSpPr>
            <p:spPr bwMode="auto">
              <a:xfrm>
                <a:off x="4879" y="3369"/>
                <a:ext cx="0" cy="288"/>
              </a:xfrm>
              <a:prstGeom prst="line">
                <a:avLst/>
              </a:prstGeom>
              <a:noFill/>
              <a:ln w="12700">
                <a:solidFill>
                  <a:schemeClr val="tx1"/>
                </a:solidFill>
                <a:round/>
                <a:headEnd type="oval" w="med" len="med"/>
                <a:tailEnd type="triangle" w="lg" len="lg"/>
              </a:ln>
            </p:spPr>
            <p:txBody>
              <a:bodyPr/>
              <a:lstStyle/>
              <a:p>
                <a:endParaRPr lang="en-US"/>
              </a:p>
            </p:txBody>
          </p:sp>
          <p:sp>
            <p:nvSpPr>
              <p:cNvPr id="49" name="Line 46"/>
              <p:cNvSpPr>
                <a:spLocks noChangeShapeType="1"/>
              </p:cNvSpPr>
              <p:nvPr/>
            </p:nvSpPr>
            <p:spPr bwMode="auto">
              <a:xfrm>
                <a:off x="5215" y="3369"/>
                <a:ext cx="144" cy="288"/>
              </a:xfrm>
              <a:prstGeom prst="line">
                <a:avLst/>
              </a:prstGeom>
              <a:noFill/>
              <a:ln w="12700">
                <a:solidFill>
                  <a:schemeClr val="tx1"/>
                </a:solidFill>
                <a:round/>
                <a:headEnd type="oval" w="med" len="med"/>
                <a:tailEnd type="triangle" w="lg" len="lg"/>
              </a:ln>
            </p:spPr>
            <p:txBody>
              <a:bodyPr/>
              <a:lstStyle/>
              <a:p>
                <a:endParaRPr lang="en-US"/>
              </a:p>
            </p:txBody>
          </p:sp>
        </p:grpSp>
        <p:sp>
          <p:nvSpPr>
            <p:cNvPr id="42" name="Line 47"/>
            <p:cNvSpPr>
              <a:spLocks noChangeShapeType="1"/>
            </p:cNvSpPr>
            <p:nvPr/>
          </p:nvSpPr>
          <p:spPr bwMode="auto">
            <a:xfrm flipV="1">
              <a:off x="4176" y="3312"/>
              <a:ext cx="432" cy="384"/>
            </a:xfrm>
            <a:prstGeom prst="line">
              <a:avLst/>
            </a:prstGeom>
            <a:noFill/>
            <a:ln w="12700">
              <a:solidFill>
                <a:schemeClr val="tx1"/>
              </a:solidFill>
              <a:round/>
              <a:headEnd type="oval" w="med" len="med"/>
              <a:tailEnd type="triangle" w="lg" len="lg"/>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654032"/>
          </a:xfrm>
        </p:spPr>
        <p:txBody>
          <a:bodyPr>
            <a:normAutofit/>
          </a:bodyPr>
          <a:lstStyle/>
          <a:p>
            <a:pPr rtl="1"/>
            <a:r>
              <a:rPr lang="fa-IR" sz="2800" dirty="0">
                <a:solidFill>
                  <a:schemeClr val="bg1"/>
                </a:solidFill>
                <a:cs typeface="B Lotus" pitchFamily="2" charset="-78"/>
              </a:rPr>
              <a:t>نگهداری تعداد رخدادهای کلمات در متن با </a:t>
            </a:r>
            <a:r>
              <a:rPr lang="en-US" sz="2800" dirty="0">
                <a:solidFill>
                  <a:schemeClr val="bg1"/>
                </a:solidFill>
                <a:cs typeface="B Lotus" pitchFamily="2" charset="-78"/>
              </a:rPr>
              <a:t>HashMap</a:t>
            </a:r>
          </a:p>
        </p:txBody>
      </p:sp>
      <p:sp>
        <p:nvSpPr>
          <p:cNvPr id="4" name="Slide Number Placeholder 3"/>
          <p:cNvSpPr>
            <a:spLocks noGrp="1"/>
          </p:cNvSpPr>
          <p:nvPr>
            <p:ph type="sldNum" sz="quarter" idx="12"/>
          </p:nvPr>
        </p:nvSpPr>
        <p:spPr/>
        <p:txBody>
          <a:bodyPr/>
          <a:lstStyle/>
          <a:p>
            <a:fld id="{79E6E8FA-B1EB-4DD1-845A-B9015C921A1C}" type="slidenum">
              <a:rPr lang="en-US" smtClean="0"/>
              <a:pPr/>
              <a:t>54</a:t>
            </a:fld>
            <a:endParaRPr lang="en-US"/>
          </a:p>
        </p:txBody>
      </p:sp>
      <p:pic>
        <p:nvPicPr>
          <p:cNvPr id="1026"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00034" y="1142984"/>
            <a:ext cx="8122336" cy="2633673"/>
          </a:xfrm>
          <a:prstGeom prst="rect">
            <a:avLst/>
          </a:prstGeom>
          <a:ln>
            <a:noFill/>
          </a:ln>
          <a:effectLst>
            <a:outerShdw blurRad="292100" dist="139700" dir="2700000" algn="tl" rotWithShape="0">
              <a:srgbClr val="333333">
                <a:alpha val="65000"/>
              </a:srgbClr>
            </a:outerShdw>
          </a:effectLst>
        </p:spPr>
      </p:pic>
      <p:pic>
        <p:nvPicPr>
          <p:cNvPr id="1027" name="Picture 3"/>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1142976" y="4572008"/>
            <a:ext cx="4467225" cy="4572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blinds(horizontal)">
                                      <p:cBhvr>
                                        <p:cTn id="12"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511156"/>
          </a:xfrm>
        </p:spPr>
        <p:txBody>
          <a:bodyPr>
            <a:noAutofit/>
          </a:bodyPr>
          <a:lstStyle/>
          <a:p>
            <a:pPr rtl="1"/>
            <a:r>
              <a:rPr lang="fa-IR" sz="2800" dirty="0">
                <a:solidFill>
                  <a:schemeClr val="bg1"/>
                </a:solidFill>
                <a:cs typeface="B Lotus" pitchFamily="2" charset="-78"/>
              </a:rPr>
              <a:t>پیمایش یک </a:t>
            </a:r>
            <a:r>
              <a:rPr lang="en-US" sz="2800" dirty="0">
                <a:solidFill>
                  <a:schemeClr val="bg1"/>
                </a:solidFill>
                <a:cs typeface="B Lotus" pitchFamily="2" charset="-78"/>
              </a:rPr>
              <a:t>Map</a:t>
            </a:r>
            <a:r>
              <a:rPr lang="fa-IR" sz="2800" dirty="0">
                <a:solidFill>
                  <a:schemeClr val="bg1"/>
                </a:solidFill>
                <a:cs typeface="B Lotus" pitchFamily="2" charset="-78"/>
              </a:rPr>
              <a:t> بدون استفاده از کلیدهای آن</a:t>
            </a:r>
            <a:endParaRPr lang="en-US" sz="2800" dirty="0">
              <a:solidFill>
                <a:schemeClr val="bg1"/>
              </a:solidFill>
              <a:cs typeface="B Lotus" pitchFamily="2" charset="-78"/>
            </a:endParaRPr>
          </a:p>
        </p:txBody>
      </p:sp>
      <p:sp>
        <p:nvSpPr>
          <p:cNvPr id="4" name="Slide Number Placeholder 3"/>
          <p:cNvSpPr>
            <a:spLocks noGrp="1"/>
          </p:cNvSpPr>
          <p:nvPr>
            <p:ph type="sldNum" sz="quarter" idx="12"/>
          </p:nvPr>
        </p:nvSpPr>
        <p:spPr/>
        <p:txBody>
          <a:bodyPr/>
          <a:lstStyle/>
          <a:p>
            <a:fld id="{79E6E8FA-B1EB-4DD1-845A-B9015C921A1C}" type="slidenum">
              <a:rPr lang="en-US" smtClean="0"/>
              <a:pPr/>
              <a:t>55</a:t>
            </a:fld>
            <a:endParaRPr lang="en-US"/>
          </a:p>
        </p:txBody>
      </p:sp>
      <p:pic>
        <p:nvPicPr>
          <p:cNvPr id="94210" name="Picture 2"/>
          <p:cNvPicPr>
            <a:picLocks noChangeAspect="1" noChangeArrowheads="1"/>
          </p:cNvPicPr>
          <p:nvPr/>
        </p:nvPicPr>
        <p:blipFill>
          <a:blip r:embed="rId2"/>
          <a:srcRect/>
          <a:stretch>
            <a:fillRect/>
          </a:stretch>
        </p:blipFill>
        <p:spPr bwMode="auto">
          <a:xfrm>
            <a:off x="714348" y="1000108"/>
            <a:ext cx="7234590" cy="5183208"/>
          </a:xfrm>
          <a:prstGeom prst="rect">
            <a:avLst/>
          </a:prstGeom>
          <a:noFill/>
          <a:ln w="9525">
            <a:noFill/>
            <a:miter lim="800000"/>
            <a:headEnd/>
            <a:tailEnd/>
          </a:ln>
          <a:effec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511156"/>
          </a:xfrm>
        </p:spPr>
        <p:txBody>
          <a:bodyPr>
            <a:normAutofit fontScale="90000"/>
          </a:bodyPr>
          <a:lstStyle/>
          <a:p>
            <a:pPr rtl="1"/>
            <a:r>
              <a:rPr lang="fa-IR" sz="2800" dirty="0">
                <a:solidFill>
                  <a:schemeClr val="bg1"/>
                </a:solidFill>
                <a:latin typeface="Times New Roman" pitchFamily="18" charset="0"/>
                <a:cs typeface="B Lotus" pitchFamily="2" charset="-78"/>
              </a:rPr>
              <a:t>نمایش محتوای یک </a:t>
            </a:r>
            <a:r>
              <a:rPr lang="en-US" sz="2800" dirty="0">
                <a:solidFill>
                  <a:schemeClr val="bg1"/>
                </a:solidFill>
                <a:latin typeface="Times New Roman" pitchFamily="18" charset="0"/>
                <a:cs typeface="B Lotus" pitchFamily="2" charset="-78"/>
              </a:rPr>
              <a:t>Map</a:t>
            </a:r>
            <a:r>
              <a:rPr lang="fa-IR" sz="2800" dirty="0">
                <a:solidFill>
                  <a:schemeClr val="bg1"/>
                </a:solidFill>
                <a:latin typeface="Times New Roman" pitchFamily="18" charset="0"/>
                <a:cs typeface="B Lotus" pitchFamily="2" charset="-78"/>
              </a:rPr>
              <a:t> با متد </a:t>
            </a:r>
            <a:r>
              <a:rPr lang="en-US" sz="2800" dirty="0">
                <a:solidFill>
                  <a:schemeClr val="bg1"/>
                </a:solidFill>
                <a:latin typeface="Times New Roman" pitchFamily="18" charset="0"/>
                <a:cs typeface="B Lotus" pitchFamily="2" charset="-78"/>
              </a:rPr>
              <a:t>toString()</a:t>
            </a:r>
          </a:p>
        </p:txBody>
      </p:sp>
      <p:sp>
        <p:nvSpPr>
          <p:cNvPr id="4" name="Slide Number Placeholder 3"/>
          <p:cNvSpPr>
            <a:spLocks noGrp="1"/>
          </p:cNvSpPr>
          <p:nvPr>
            <p:ph type="sldNum" sz="quarter" idx="12"/>
          </p:nvPr>
        </p:nvSpPr>
        <p:spPr/>
        <p:txBody>
          <a:bodyPr/>
          <a:lstStyle/>
          <a:p>
            <a:fld id="{79E6E8FA-B1EB-4DD1-845A-B9015C921A1C}" type="slidenum">
              <a:rPr lang="en-US" smtClean="0"/>
              <a:pPr/>
              <a:t>56</a:t>
            </a:fld>
            <a:endParaRPr lang="en-US"/>
          </a:p>
        </p:txBody>
      </p:sp>
      <p:pic>
        <p:nvPicPr>
          <p:cNvPr id="96258" name="Picture 2"/>
          <p:cNvPicPr>
            <a:picLocks noChangeAspect="1" noChangeArrowheads="1"/>
          </p:cNvPicPr>
          <p:nvPr/>
        </p:nvPicPr>
        <p:blipFill>
          <a:blip r:embed="rId2"/>
          <a:srcRect/>
          <a:stretch>
            <a:fillRect/>
          </a:stretch>
        </p:blipFill>
        <p:spPr bwMode="auto">
          <a:xfrm>
            <a:off x="1000100" y="1428736"/>
            <a:ext cx="7004077" cy="3816366"/>
          </a:xfrm>
          <a:prstGeom prst="rect">
            <a:avLst/>
          </a:prstGeom>
          <a:noFill/>
          <a:ln w="9525">
            <a:noFill/>
            <a:miter lim="800000"/>
            <a:headEnd/>
            <a:tailEnd/>
          </a:ln>
          <a:effec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638175" y="109538"/>
            <a:ext cx="8143875" cy="533380"/>
          </a:xfrm>
        </p:spPr>
        <p:txBody>
          <a:bodyPr>
            <a:normAutofit fontScale="90000"/>
          </a:bodyPr>
          <a:lstStyle/>
          <a:p>
            <a:r>
              <a:rPr lang="en-US" sz="3200" dirty="0">
                <a:solidFill>
                  <a:schemeClr val="bg1"/>
                </a:solidFill>
              </a:rPr>
              <a:t>Map :</a:t>
            </a:r>
            <a:r>
              <a:rPr lang="en-US" sz="3200" dirty="0" err="1">
                <a:solidFill>
                  <a:schemeClr val="bg1"/>
                </a:solidFill>
              </a:rPr>
              <a:t>Hashtable</a:t>
            </a:r>
            <a:endParaRPr lang="en-US" sz="3200" dirty="0">
              <a:solidFill>
                <a:schemeClr val="bg1"/>
              </a:solidFill>
            </a:endParaRPr>
          </a:p>
        </p:txBody>
      </p:sp>
      <p:sp>
        <p:nvSpPr>
          <p:cNvPr id="394246" name="Rectangle 6"/>
          <p:cNvSpPr>
            <a:spLocks noGrp="1" noChangeArrowheads="1"/>
          </p:cNvSpPr>
          <p:nvPr>
            <p:ph type="body" sz="half" idx="1"/>
          </p:nvPr>
        </p:nvSpPr>
        <p:spPr>
          <a:xfrm>
            <a:off x="0" y="642918"/>
            <a:ext cx="9001156" cy="642942"/>
          </a:xfrm>
          <a:solidFill>
            <a:schemeClr val="bg2">
              <a:alpha val="25000"/>
            </a:schemeClr>
          </a:solidFill>
          <a:ln/>
        </p:spPr>
        <p:txBody>
          <a:bodyPr>
            <a:noAutofit/>
          </a:bodyPr>
          <a:lstStyle/>
          <a:p>
            <a:pPr algn="r" rtl="1"/>
            <a:r>
              <a:rPr lang="fa-IR" sz="1800" dirty="0">
                <a:cs typeface="B Lotus" pitchFamily="2" charset="-78"/>
              </a:rPr>
              <a:t>اگر کلید </a:t>
            </a:r>
            <a:r>
              <a:rPr lang="en-US" sz="1800" dirty="0">
                <a:cs typeface="B Lotus" pitchFamily="2" charset="-78"/>
              </a:rPr>
              <a:t>HashMap </a:t>
            </a:r>
            <a:r>
              <a:rPr lang="fa-IR" sz="1800" dirty="0">
                <a:cs typeface="B Lotus" pitchFamily="2" charset="-78"/>
              </a:rPr>
              <a:t> یک شیئی تعریف شده توسط برنامه‏نویس باشد، باید از قواعد </a:t>
            </a:r>
            <a:r>
              <a:rPr lang="en-US" sz="1800" dirty="0">
                <a:cs typeface="B Lotus" pitchFamily="2" charset="-78"/>
              </a:rPr>
              <a:t> equals() </a:t>
            </a:r>
            <a:r>
              <a:rPr lang="fa-IR" sz="1800" dirty="0">
                <a:cs typeface="B Lotus" pitchFamily="2" charset="-78"/>
              </a:rPr>
              <a:t>و </a:t>
            </a:r>
            <a:r>
              <a:rPr lang="en-US" sz="1800" dirty="0">
                <a:cs typeface="B Lotus" pitchFamily="2" charset="-78"/>
              </a:rPr>
              <a:t>hashCode() </a:t>
            </a:r>
            <a:r>
              <a:rPr lang="fa-IR" sz="1800" dirty="0">
                <a:cs typeface="B Lotus" pitchFamily="2" charset="-78"/>
              </a:rPr>
              <a:t> پیروی شود.</a:t>
            </a:r>
          </a:p>
        </p:txBody>
      </p:sp>
      <p:sp>
        <p:nvSpPr>
          <p:cNvPr id="6" name="Slide Number Placeholder 4"/>
          <p:cNvSpPr>
            <a:spLocks noGrp="1"/>
          </p:cNvSpPr>
          <p:nvPr>
            <p:ph type="sldNum" sz="quarter" idx="10"/>
          </p:nvPr>
        </p:nvSpPr>
        <p:spPr/>
        <p:txBody>
          <a:bodyPr/>
          <a:lstStyle/>
          <a:p>
            <a:fld id="{CCF7162C-C831-48AC-9B81-DFCA66479333}" type="slidenum">
              <a:rPr lang="en-US"/>
              <a:pPr/>
              <a:t>57</a:t>
            </a:fld>
            <a:endParaRPr lang="en-US"/>
          </a:p>
        </p:txBody>
      </p:sp>
      <p:grpSp>
        <p:nvGrpSpPr>
          <p:cNvPr id="8" name="Group 7"/>
          <p:cNvGrpSpPr/>
          <p:nvPr/>
        </p:nvGrpSpPr>
        <p:grpSpPr>
          <a:xfrm>
            <a:off x="214282" y="928670"/>
            <a:ext cx="6357982" cy="4957774"/>
            <a:chOff x="228600" y="114300"/>
            <a:chExt cx="7629548" cy="6629400"/>
          </a:xfrm>
        </p:grpSpPr>
        <p:pic>
          <p:nvPicPr>
            <p:cNvPr id="22529" name="Picture 1"/>
            <p:cNvPicPr>
              <a:picLocks noChangeAspect="1" noChangeArrowheads="1"/>
            </p:cNvPicPr>
            <p:nvPr/>
          </p:nvPicPr>
          <p:blipFill>
            <a:blip r:embed="rId3"/>
            <a:srcRect r="12171"/>
            <a:stretch>
              <a:fillRect/>
            </a:stretch>
          </p:blipFill>
          <p:spPr bwMode="auto">
            <a:xfrm>
              <a:off x="228600" y="114300"/>
              <a:ext cx="7629548" cy="6629400"/>
            </a:xfrm>
            <a:prstGeom prst="rect">
              <a:avLst/>
            </a:prstGeom>
            <a:noFill/>
            <a:ln w="9525">
              <a:noFill/>
              <a:miter lim="800000"/>
              <a:headEnd/>
              <a:tailEnd/>
            </a:ln>
            <a:effectLst/>
          </p:spPr>
        </p:pic>
        <p:pic>
          <p:nvPicPr>
            <p:cNvPr id="22530" name="Picture 2"/>
            <p:cNvPicPr>
              <a:picLocks noChangeAspect="1" noChangeArrowheads="1"/>
            </p:cNvPicPr>
            <p:nvPr/>
          </p:nvPicPr>
          <p:blipFill>
            <a:blip r:embed="rId4"/>
            <a:srcRect/>
            <a:stretch>
              <a:fillRect/>
            </a:stretch>
          </p:blipFill>
          <p:spPr bwMode="auto">
            <a:xfrm>
              <a:off x="2709862" y="6143644"/>
              <a:ext cx="1790700" cy="228600"/>
            </a:xfrm>
            <a:prstGeom prst="rect">
              <a:avLst/>
            </a:prstGeom>
            <a:noFill/>
            <a:ln w="9525">
              <a:noFill/>
              <a:miter lim="800000"/>
              <a:headEnd/>
              <a:tailEnd/>
            </a:ln>
            <a:effectLst/>
          </p:spPr>
        </p:pic>
      </p:grpSp>
      <p:pic>
        <p:nvPicPr>
          <p:cNvPr id="22531" name="Picture 3"/>
          <p:cNvPicPr>
            <a:picLocks noChangeAspect="1" noChangeArrowheads="1"/>
          </p:cNvPicPr>
          <p:nvPr/>
        </p:nvPicPr>
        <p:blipFill>
          <a:blip r:embed="rId5"/>
          <a:srcRect/>
          <a:stretch>
            <a:fillRect/>
          </a:stretch>
        </p:blipFill>
        <p:spPr bwMode="auto">
          <a:xfrm>
            <a:off x="6715140" y="1214422"/>
            <a:ext cx="2000250" cy="1752600"/>
          </a:xfrm>
          <a:prstGeom prst="rect">
            <a:avLst/>
          </a:prstGeom>
          <a:noFill/>
          <a:ln w="9525">
            <a:noFill/>
            <a:miter lim="800000"/>
            <a:headEnd/>
            <a:tailEnd/>
          </a:ln>
          <a:effectLst/>
        </p:spPr>
      </p:pic>
      <p:sp>
        <p:nvSpPr>
          <p:cNvPr id="10" name="Rectangle 6"/>
          <p:cNvSpPr txBox="1">
            <a:spLocks noChangeArrowheads="1"/>
          </p:cNvSpPr>
          <p:nvPr/>
        </p:nvSpPr>
        <p:spPr>
          <a:xfrm>
            <a:off x="500034" y="5857892"/>
            <a:ext cx="8001024" cy="857256"/>
          </a:xfrm>
          <a:prstGeom prst="rect">
            <a:avLst/>
          </a:prstGeom>
          <a:solidFill>
            <a:schemeClr val="bg2">
              <a:alpha val="25000"/>
            </a:schemeClr>
          </a:solidFill>
          <a:ln/>
        </p:spPr>
        <p:txBody>
          <a:bodyPr vert="horz" lIns="91440" tIns="45720" rIns="91440" bIns="45720" rtlCol="0">
            <a:normAutofit/>
          </a:bodyPr>
          <a:lstStyle/>
          <a:p>
            <a:pPr marL="342900" lvl="0" indent="-342900" algn="just" rtl="1">
              <a:lnSpc>
                <a:spcPct val="80000"/>
              </a:lnSpc>
              <a:spcBef>
                <a:spcPct val="20000"/>
              </a:spcBef>
              <a:buFont typeface="Arial" pitchFamily="34" charset="0"/>
              <a:buChar char="•"/>
            </a:pPr>
            <a:r>
              <a:rPr lang="fa-IR" sz="1600" dirty="0">
                <a:cs typeface="B Lotus" pitchFamily="2" charset="-78"/>
              </a:rPr>
              <a:t>این برنامه تعداد سگها به رنگهای مختلف را در یک </a:t>
            </a:r>
            <a:r>
              <a:rPr lang="en-US" sz="1600" dirty="0">
                <a:cs typeface="B Lotus" pitchFamily="2" charset="-78"/>
              </a:rPr>
              <a:t>Map</a:t>
            </a:r>
            <a:r>
              <a:rPr lang="fa-IR" sz="1600" dirty="0">
                <a:cs typeface="B Lotus" pitchFamily="2" charset="-78"/>
              </a:rPr>
              <a:t> قرار می‏دهد.</a:t>
            </a:r>
          </a:p>
          <a:p>
            <a:pPr marL="342900" lvl="0" indent="-342900" algn="just" rtl="1">
              <a:lnSpc>
                <a:spcPct val="80000"/>
              </a:lnSpc>
              <a:spcBef>
                <a:spcPct val="20000"/>
              </a:spcBef>
              <a:buFont typeface="Arial" pitchFamily="34" charset="0"/>
              <a:buChar char="•"/>
            </a:pPr>
            <a:r>
              <a:rPr lang="fa-IR" sz="1600" dirty="0">
                <a:cs typeface="B Lotus" pitchFamily="2" charset="-78"/>
              </a:rPr>
              <a:t> </a:t>
            </a:r>
            <a:r>
              <a:rPr lang="en-US" sz="1600" dirty="0">
                <a:cs typeface="B Lotus" pitchFamily="2" charset="-78"/>
              </a:rPr>
              <a:t>"white dogs" </a:t>
            </a:r>
            <a:r>
              <a:rPr lang="fa-IR" sz="1600" dirty="0">
                <a:cs typeface="B Lotus" pitchFamily="2" charset="-78"/>
              </a:rPr>
              <a:t>به اشتباه دوبار اضافه شده است اما </a:t>
            </a:r>
            <a:r>
              <a:rPr lang="en-US" sz="1600" dirty="0">
                <a:cs typeface="B Lotus" pitchFamily="2" charset="-78"/>
              </a:rPr>
              <a:t>HashMap</a:t>
            </a:r>
            <a:r>
              <a:rPr lang="fa-IR" sz="1600" dirty="0">
                <a:cs typeface="B Lotus" pitchFamily="2" charset="-78"/>
              </a:rPr>
              <a:t> ایرادی نمی‏گیرد! چرا؟ </a:t>
            </a:r>
          </a:p>
          <a:p>
            <a:pPr marL="342900" lvl="0" indent="-342900" algn="just" rtl="1">
              <a:lnSpc>
                <a:spcPct val="80000"/>
              </a:lnSpc>
              <a:spcBef>
                <a:spcPct val="20000"/>
              </a:spcBef>
              <a:buFont typeface="Arial" pitchFamily="34" charset="0"/>
              <a:buChar char="•"/>
            </a:pPr>
            <a:r>
              <a:rPr lang="fa-IR" sz="1600" dirty="0">
                <a:cs typeface="B Lotus" pitchFamily="2" charset="-78"/>
              </a:rPr>
              <a:t>اما این مسئله سبب سردرگمی کاربر می‏شود، چون نمی‏فهمد در اصل چند سگ سفید وجود دارد!</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gtEl>
                                        <p:attrNameLst>
                                          <p:attrName>style.visibility</p:attrName>
                                        </p:attrNameLst>
                                      </p:cBhvr>
                                      <p:to>
                                        <p:strVal val="visible"/>
                                      </p:to>
                                    </p:set>
                                    <p:animEffect transition="in" filter="blinds(horizontal)">
                                      <p:cBhvr>
                                        <p:cTn id="12" dur="500"/>
                                        <p:tgtEl>
                                          <p:spTgt spid="225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638175" y="109538"/>
            <a:ext cx="8143875" cy="533380"/>
          </a:xfrm>
        </p:spPr>
        <p:txBody>
          <a:bodyPr>
            <a:normAutofit fontScale="90000"/>
          </a:bodyPr>
          <a:lstStyle/>
          <a:p>
            <a:r>
              <a:rPr lang="en-US" sz="3200" dirty="0">
                <a:solidFill>
                  <a:schemeClr val="bg1"/>
                </a:solidFill>
              </a:rPr>
              <a:t>Map :</a:t>
            </a:r>
            <a:r>
              <a:rPr lang="en-US" sz="3200" dirty="0" err="1">
                <a:solidFill>
                  <a:schemeClr val="bg1"/>
                </a:solidFill>
              </a:rPr>
              <a:t>Hashtable</a:t>
            </a:r>
            <a:endParaRPr lang="en-US" sz="3200" dirty="0">
              <a:solidFill>
                <a:schemeClr val="bg1"/>
              </a:solidFill>
            </a:endParaRPr>
          </a:p>
        </p:txBody>
      </p:sp>
      <p:sp>
        <p:nvSpPr>
          <p:cNvPr id="394246" name="Rectangle 6"/>
          <p:cNvSpPr>
            <a:spLocks noGrp="1" noChangeArrowheads="1"/>
          </p:cNvSpPr>
          <p:nvPr>
            <p:ph type="body" sz="half" idx="1"/>
          </p:nvPr>
        </p:nvSpPr>
        <p:spPr>
          <a:xfrm>
            <a:off x="0" y="571480"/>
            <a:ext cx="9001156" cy="785817"/>
          </a:xfrm>
          <a:solidFill>
            <a:schemeClr val="bg2">
              <a:alpha val="25000"/>
            </a:schemeClr>
          </a:solidFill>
          <a:ln/>
        </p:spPr>
        <p:txBody>
          <a:bodyPr>
            <a:noAutofit/>
          </a:bodyPr>
          <a:lstStyle/>
          <a:p>
            <a:pPr algn="r" rtl="1">
              <a:lnSpc>
                <a:spcPct val="80000"/>
              </a:lnSpc>
            </a:pPr>
            <a:r>
              <a:rPr lang="fa-IR" sz="1800" dirty="0">
                <a:cs typeface="B Lotus" pitchFamily="2" charset="-78"/>
              </a:rPr>
              <a:t>اگر کلید </a:t>
            </a:r>
            <a:r>
              <a:rPr lang="en-US" sz="1800" dirty="0">
                <a:cs typeface="B Lotus" pitchFamily="2" charset="-78"/>
              </a:rPr>
              <a:t>HashMap </a:t>
            </a:r>
            <a:r>
              <a:rPr lang="fa-IR" sz="1800" dirty="0">
                <a:cs typeface="B Lotus" pitchFamily="2" charset="-78"/>
              </a:rPr>
              <a:t> یک شیئی تعریف شده توسط برنامه نویس باشد، باید </a:t>
            </a:r>
            <a:r>
              <a:rPr lang="en-US" sz="1800" dirty="0">
                <a:cs typeface="B Lotus" pitchFamily="2" charset="-78"/>
              </a:rPr>
              <a:t> equals() </a:t>
            </a:r>
            <a:r>
              <a:rPr lang="fa-IR" sz="1800" dirty="0">
                <a:cs typeface="B Lotus" pitchFamily="2" charset="-78"/>
              </a:rPr>
              <a:t>و </a:t>
            </a:r>
            <a:r>
              <a:rPr lang="en-US" sz="1800" dirty="0">
                <a:cs typeface="B Lotus" pitchFamily="2" charset="-78"/>
              </a:rPr>
              <a:t>hashCode() </a:t>
            </a:r>
            <a:r>
              <a:rPr lang="fa-IR" sz="1800" dirty="0">
                <a:cs typeface="B Lotus" pitchFamily="2" charset="-78"/>
              </a:rPr>
              <a:t> بازنویسی شوند.</a:t>
            </a:r>
          </a:p>
        </p:txBody>
      </p:sp>
      <p:sp>
        <p:nvSpPr>
          <p:cNvPr id="6" name="Slide Number Placeholder 4"/>
          <p:cNvSpPr>
            <a:spLocks noGrp="1"/>
          </p:cNvSpPr>
          <p:nvPr>
            <p:ph type="sldNum" sz="quarter" idx="10"/>
          </p:nvPr>
        </p:nvSpPr>
        <p:spPr/>
        <p:txBody>
          <a:bodyPr/>
          <a:lstStyle/>
          <a:p>
            <a:fld id="{CCF7162C-C831-48AC-9B81-DFCA66479333}" type="slidenum">
              <a:rPr lang="en-US"/>
              <a:pPr/>
              <a:t>58</a:t>
            </a:fld>
            <a:endParaRPr lang="en-US"/>
          </a:p>
        </p:txBody>
      </p:sp>
      <p:sp>
        <p:nvSpPr>
          <p:cNvPr id="10" name="Rectangle 6"/>
          <p:cNvSpPr txBox="1">
            <a:spLocks noChangeArrowheads="1"/>
          </p:cNvSpPr>
          <p:nvPr/>
        </p:nvSpPr>
        <p:spPr>
          <a:xfrm>
            <a:off x="571472" y="5857868"/>
            <a:ext cx="8286808" cy="1000132"/>
          </a:xfrm>
          <a:prstGeom prst="rect">
            <a:avLst/>
          </a:prstGeom>
          <a:solidFill>
            <a:schemeClr val="bg2">
              <a:alpha val="25000"/>
            </a:schemeClr>
          </a:solidFill>
          <a:ln/>
        </p:spPr>
        <p:txBody>
          <a:bodyPr vert="horz" lIns="91440" tIns="45720" rIns="91440" bIns="45720" rtlCol="0">
            <a:normAutofit lnSpcReduction="10000"/>
          </a:bodyPr>
          <a:lstStyle/>
          <a:p>
            <a:pPr marL="342900" lvl="0" indent="-342900" algn="r" rtl="1">
              <a:lnSpc>
                <a:spcPct val="80000"/>
              </a:lnSpc>
              <a:spcBef>
                <a:spcPct val="20000"/>
              </a:spcBef>
              <a:buFont typeface="Arial" pitchFamily="34" charset="0"/>
              <a:buChar char="•"/>
            </a:pPr>
            <a:r>
              <a:rPr lang="fa-IR" sz="1600" dirty="0">
                <a:cs typeface="B Lotus" pitchFamily="2" charset="-78"/>
              </a:rPr>
              <a:t>به طور پیش فرض، متدهای </a:t>
            </a:r>
            <a:r>
              <a:rPr lang="en-US" sz="1600" dirty="0">
                <a:cs typeface="B Lotus" pitchFamily="2" charset="-78"/>
              </a:rPr>
              <a:t>hashCode() </a:t>
            </a:r>
            <a:r>
              <a:rPr lang="fa-IR" sz="1600" dirty="0">
                <a:cs typeface="B Lotus" pitchFamily="2" charset="-78"/>
              </a:rPr>
              <a:t> و </a:t>
            </a:r>
            <a:r>
              <a:rPr lang="en-US" sz="1600" dirty="0">
                <a:cs typeface="B Lotus" pitchFamily="2" charset="-78"/>
              </a:rPr>
              <a:t>equals() </a:t>
            </a:r>
            <a:r>
              <a:rPr lang="fa-IR" sz="1600" dirty="0">
                <a:cs typeface="B Lotus" pitchFamily="2" charset="-78"/>
              </a:rPr>
              <a:t> در کلاس </a:t>
            </a:r>
            <a:r>
              <a:rPr lang="en-US" sz="1600" dirty="0">
                <a:cs typeface="B Lotus" pitchFamily="2" charset="-78"/>
              </a:rPr>
              <a:t>Object</a:t>
            </a:r>
            <a:r>
              <a:rPr lang="fa-IR" sz="1600" dirty="0">
                <a:cs typeface="B Lotus" pitchFamily="2" charset="-78"/>
              </a:rPr>
              <a:t> پیاده‏سازی شده‏اند. </a:t>
            </a:r>
          </a:p>
          <a:p>
            <a:pPr marL="342900" lvl="0" indent="-342900" algn="r" rtl="1">
              <a:lnSpc>
                <a:spcPct val="80000"/>
              </a:lnSpc>
              <a:spcBef>
                <a:spcPct val="20000"/>
              </a:spcBef>
              <a:buFont typeface="Arial" pitchFamily="34" charset="0"/>
              <a:buChar char="•"/>
            </a:pPr>
            <a:r>
              <a:rPr lang="fa-IR" sz="1600" dirty="0">
                <a:cs typeface="B Lotus" pitchFamily="2" charset="-78"/>
              </a:rPr>
              <a:t>متد </a:t>
            </a:r>
            <a:r>
              <a:rPr lang="en-US" sz="1600" dirty="0">
                <a:cs typeface="B Lotus" pitchFamily="2" charset="-78"/>
              </a:rPr>
              <a:t>hashCode() </a:t>
            </a:r>
            <a:r>
              <a:rPr lang="fa-IR" sz="1600" dirty="0">
                <a:cs typeface="B Lotus" pitchFamily="2" charset="-78"/>
              </a:rPr>
              <a:t> مقادیر عددی متمایزی برای اشیای متفاوت تولید می‏کند.</a:t>
            </a:r>
          </a:p>
          <a:p>
            <a:pPr marL="342900" lvl="0" indent="-342900" algn="r" rtl="1">
              <a:lnSpc>
                <a:spcPct val="80000"/>
              </a:lnSpc>
              <a:spcBef>
                <a:spcPct val="20000"/>
              </a:spcBef>
              <a:buFont typeface="Arial" pitchFamily="34" charset="0"/>
              <a:buChar char="•"/>
            </a:pPr>
            <a:r>
              <a:rPr lang="fa-IR" sz="1600" dirty="0">
                <a:cs typeface="B Lotus" pitchFamily="2" charset="-78"/>
              </a:rPr>
              <a:t>متد </a:t>
            </a:r>
            <a:r>
              <a:rPr lang="en-US" sz="1600" dirty="0">
                <a:cs typeface="B Lotus" pitchFamily="2" charset="-78"/>
              </a:rPr>
              <a:t>equals() </a:t>
            </a:r>
            <a:r>
              <a:rPr lang="fa-IR" sz="1600" dirty="0">
                <a:cs typeface="B Lotus" pitchFamily="2" charset="-78"/>
              </a:rPr>
              <a:t> هم به طور پیش‏فرض در صورتی </a:t>
            </a:r>
            <a:r>
              <a:rPr lang="en-US" sz="1600" dirty="0">
                <a:cs typeface="B Lotus" pitchFamily="2" charset="-78"/>
              </a:rPr>
              <a:t>true</a:t>
            </a:r>
            <a:r>
              <a:rPr lang="fa-IR" sz="1600" dirty="0">
                <a:cs typeface="B Lotus" pitchFamily="2" charset="-78"/>
              </a:rPr>
              <a:t> برمی‏گرداند که دو ریموت کنترل به یک شیئ اشاره کنند. </a:t>
            </a:r>
          </a:p>
          <a:p>
            <a:pPr marL="342900" lvl="0" indent="-342900" algn="r" rtl="1">
              <a:lnSpc>
                <a:spcPct val="80000"/>
              </a:lnSpc>
              <a:spcBef>
                <a:spcPct val="20000"/>
              </a:spcBef>
              <a:buFont typeface="Arial" pitchFamily="34" charset="0"/>
              <a:buChar char="•"/>
            </a:pPr>
            <a:r>
              <a:rPr lang="fa-IR" sz="1600" dirty="0">
                <a:cs typeface="B Lotus" pitchFamily="2" charset="-78"/>
              </a:rPr>
              <a:t> درنتیجه در هنگام  به‏کارگیری اشیای کاربر به عنوان کلید </a:t>
            </a:r>
            <a:r>
              <a:rPr lang="en-US" sz="1600" dirty="0">
                <a:cs typeface="B Lotus" pitchFamily="2" charset="-78"/>
              </a:rPr>
              <a:t>Map</a:t>
            </a:r>
            <a:r>
              <a:rPr lang="fa-IR" sz="1600" dirty="0">
                <a:cs typeface="B Lotus" pitchFamily="2" charset="-78"/>
              </a:rPr>
              <a:t> باید هم متد </a:t>
            </a:r>
            <a:r>
              <a:rPr lang="en-US" sz="1600" dirty="0">
                <a:cs typeface="B Lotus" pitchFamily="2" charset="-78"/>
              </a:rPr>
              <a:t>equals </a:t>
            </a:r>
            <a:r>
              <a:rPr lang="fa-IR" sz="1600" dirty="0">
                <a:cs typeface="B Lotus" pitchFamily="2" charset="-78"/>
              </a:rPr>
              <a:t> و هم </a:t>
            </a:r>
            <a:r>
              <a:rPr lang="en-US" sz="1600" dirty="0">
                <a:cs typeface="B Lotus" pitchFamily="2" charset="-78"/>
              </a:rPr>
              <a:t>hashcode</a:t>
            </a:r>
            <a:r>
              <a:rPr lang="fa-IR" sz="1600" dirty="0">
                <a:cs typeface="B Lotus" pitchFamily="2" charset="-78"/>
              </a:rPr>
              <a:t> بازنویسی شوند.</a:t>
            </a:r>
          </a:p>
        </p:txBody>
      </p:sp>
      <p:pic>
        <p:nvPicPr>
          <p:cNvPr id="100354" name="Picture 2"/>
          <p:cNvPicPr>
            <a:picLocks noChangeAspect="1" noChangeArrowheads="1"/>
          </p:cNvPicPr>
          <p:nvPr/>
        </p:nvPicPr>
        <p:blipFill>
          <a:blip r:embed="rId3"/>
          <a:srcRect/>
          <a:stretch>
            <a:fillRect/>
          </a:stretch>
        </p:blipFill>
        <p:spPr bwMode="auto">
          <a:xfrm>
            <a:off x="142844" y="1000108"/>
            <a:ext cx="5360380" cy="3571900"/>
          </a:xfrm>
          <a:prstGeom prst="rect">
            <a:avLst/>
          </a:prstGeom>
          <a:noFill/>
          <a:ln w="9525">
            <a:noFill/>
            <a:miter lim="800000"/>
            <a:headEnd/>
            <a:tailEnd/>
          </a:ln>
          <a:effectLst/>
        </p:spPr>
      </p:pic>
      <p:pic>
        <p:nvPicPr>
          <p:cNvPr id="100355" name="Picture 3"/>
          <p:cNvPicPr>
            <a:picLocks noChangeAspect="1" noChangeArrowheads="1"/>
          </p:cNvPicPr>
          <p:nvPr/>
        </p:nvPicPr>
        <p:blipFill>
          <a:blip r:embed="rId4"/>
          <a:srcRect l="10491" t="54286" r="78125" b="29643"/>
          <a:stretch>
            <a:fillRect/>
          </a:stretch>
        </p:blipFill>
        <p:spPr bwMode="auto">
          <a:xfrm>
            <a:off x="6572264" y="1000108"/>
            <a:ext cx="1457335" cy="1285884"/>
          </a:xfrm>
          <a:prstGeom prst="rect">
            <a:avLst/>
          </a:prstGeom>
          <a:noFill/>
          <a:ln w="9525">
            <a:noFill/>
            <a:miter lim="800000"/>
            <a:headEnd/>
            <a:tailEnd/>
          </a:ln>
          <a:effectLst/>
        </p:spPr>
      </p:pic>
      <p:grpSp>
        <p:nvGrpSpPr>
          <p:cNvPr id="9" name="Group 8"/>
          <p:cNvGrpSpPr/>
          <p:nvPr/>
        </p:nvGrpSpPr>
        <p:grpSpPr>
          <a:xfrm>
            <a:off x="4000496" y="2786058"/>
            <a:ext cx="5000628" cy="2857520"/>
            <a:chOff x="314325" y="2311374"/>
            <a:chExt cx="7543823" cy="4432326"/>
          </a:xfrm>
        </p:grpSpPr>
        <p:pic>
          <p:nvPicPr>
            <p:cNvPr id="11" name="Picture 1"/>
            <p:cNvPicPr>
              <a:picLocks noChangeAspect="1" noChangeArrowheads="1"/>
            </p:cNvPicPr>
            <p:nvPr/>
          </p:nvPicPr>
          <p:blipFill>
            <a:blip r:embed="rId5">
              <a:duotone>
                <a:prstClr val="black"/>
                <a:schemeClr val="accent3">
                  <a:tint val="45000"/>
                  <a:satMod val="400000"/>
                </a:schemeClr>
              </a:duotone>
            </a:blip>
            <a:srcRect l="987" t="33141" r="12171"/>
            <a:stretch>
              <a:fillRect/>
            </a:stretch>
          </p:blipFill>
          <p:spPr bwMode="auto">
            <a:xfrm>
              <a:off x="314325" y="2311374"/>
              <a:ext cx="7543823" cy="4432326"/>
            </a:xfrm>
            <a:prstGeom prst="rect">
              <a:avLst/>
            </a:prstGeom>
            <a:noFill/>
            <a:ln w="9525">
              <a:noFill/>
              <a:miter lim="800000"/>
              <a:headEnd/>
              <a:tailEnd/>
            </a:ln>
            <a:effectLst/>
          </p:spPr>
        </p:pic>
        <p:pic>
          <p:nvPicPr>
            <p:cNvPr id="13" name="Picture 2"/>
            <p:cNvPicPr>
              <a:picLocks noChangeAspect="1" noChangeArrowheads="1"/>
            </p:cNvPicPr>
            <p:nvPr/>
          </p:nvPicPr>
          <p:blipFill>
            <a:blip r:embed="rId6">
              <a:duotone>
                <a:prstClr val="black"/>
                <a:schemeClr val="accent3">
                  <a:tint val="45000"/>
                  <a:satMod val="400000"/>
                </a:schemeClr>
              </a:duotone>
            </a:blip>
            <a:srcRect/>
            <a:stretch>
              <a:fillRect/>
            </a:stretch>
          </p:blipFill>
          <p:spPr bwMode="auto">
            <a:xfrm>
              <a:off x="2709862" y="6143644"/>
              <a:ext cx="1790700" cy="228600"/>
            </a:xfrm>
            <a:prstGeom prst="rect">
              <a:avLst/>
            </a:prstGeom>
            <a:noFill/>
            <a:ln w="9525">
              <a:noFill/>
              <a:miter lim="800000"/>
              <a:headEnd/>
              <a:tailEnd/>
            </a:ln>
            <a:effectLst/>
          </p:spPr>
        </p:pic>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linds(horizont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blinds(horizontal)">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blinds(horizontal)">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p:txBody>
          <a:bodyPr/>
          <a:lstStyle/>
          <a:p>
            <a:fld id="{6AB3270E-A579-42C2-99CE-FC0D07B4EFAB}" type="slidenum">
              <a:rPr lang="en-US"/>
              <a:pPr/>
              <a:t>59</a:t>
            </a:fld>
            <a:endParaRPr lang="en-US"/>
          </a:p>
        </p:txBody>
      </p:sp>
      <p:sp>
        <p:nvSpPr>
          <p:cNvPr id="8" name="Rectangle 2"/>
          <p:cNvSpPr txBox="1">
            <a:spLocks noChangeArrowheads="1"/>
          </p:cNvSpPr>
          <p:nvPr/>
        </p:nvSpPr>
        <p:spPr>
          <a:xfrm>
            <a:off x="638175" y="109538"/>
            <a:ext cx="8143875" cy="533380"/>
          </a:xfrm>
          <a:prstGeom prst="rect">
            <a:avLst/>
          </a:prstGeom>
        </p:spPr>
        <p:txBody>
          <a:bodyPr vert="horz" lIns="91440" tIns="45720" rIns="91440" bIns="45720" rtlCol="0" anchor="ctr">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mj-lt"/>
                <a:ea typeface="+mj-ea"/>
                <a:cs typeface="+mj-cs"/>
              </a:rPr>
              <a:t>Map :</a:t>
            </a:r>
            <a:r>
              <a:rPr kumimoji="0" lang="en-US" sz="3200" b="0" i="0" u="none" strike="noStrike" kern="1200" cap="none" spc="0" normalizeH="0" baseline="0" noProof="0" dirty="0" err="1">
                <a:ln>
                  <a:noFill/>
                </a:ln>
                <a:solidFill>
                  <a:schemeClr val="bg1"/>
                </a:solidFill>
                <a:effectLst/>
                <a:uLnTx/>
                <a:uFillTx/>
                <a:latin typeface="+mj-lt"/>
                <a:ea typeface="+mj-ea"/>
                <a:cs typeface="+mj-cs"/>
              </a:rPr>
              <a:t>LinkedHashMap</a:t>
            </a:r>
            <a:endParaRPr kumimoji="0" lang="en-US" sz="3200" b="0" i="0" u="none" strike="noStrike" kern="1200" cap="none" spc="0" normalizeH="0" baseline="0" noProof="0" dirty="0">
              <a:ln>
                <a:noFill/>
              </a:ln>
              <a:solidFill>
                <a:schemeClr val="bg1"/>
              </a:solidFill>
              <a:effectLst/>
              <a:uLnTx/>
              <a:uFillTx/>
              <a:latin typeface="+mj-lt"/>
              <a:ea typeface="+mj-ea"/>
              <a:cs typeface="+mj-cs"/>
            </a:endParaRPr>
          </a:p>
        </p:txBody>
      </p:sp>
      <p:sp>
        <p:nvSpPr>
          <p:cNvPr id="7" name="Text Placeholder 6"/>
          <p:cNvSpPr>
            <a:spLocks noGrp="1"/>
          </p:cNvSpPr>
          <p:nvPr>
            <p:ph type="body" sz="half" idx="1"/>
          </p:nvPr>
        </p:nvSpPr>
        <p:spPr>
          <a:xfrm>
            <a:off x="428596" y="714356"/>
            <a:ext cx="8715404" cy="571504"/>
          </a:xfrm>
        </p:spPr>
        <p:txBody>
          <a:bodyPr>
            <a:normAutofit/>
          </a:bodyPr>
          <a:lstStyle/>
          <a:p>
            <a:pPr algn="just" rtl="1"/>
            <a:r>
              <a:rPr lang="fa-IR" sz="2000" dirty="0">
                <a:cs typeface="B Lotus" pitchFamily="2" charset="-78"/>
              </a:rPr>
              <a:t>مانند </a:t>
            </a:r>
            <a:r>
              <a:rPr lang="en-US" sz="2000" dirty="0">
                <a:cs typeface="B Lotus" pitchFamily="2" charset="-78"/>
              </a:rPr>
              <a:t>LinkedHashSet</a:t>
            </a:r>
            <a:r>
              <a:rPr lang="fa-IR" sz="2000" dirty="0">
                <a:cs typeface="B Lotus" pitchFamily="2" charset="-78"/>
              </a:rPr>
              <a:t> با استفاده از یک لیست پیوندی دوطرفه ترتیب ورود کلیدها را نگهداری می‏کند.</a:t>
            </a:r>
          </a:p>
          <a:p>
            <a:pPr algn="just" rtl="1"/>
            <a:endParaRPr lang="en-US" sz="2000" dirty="0">
              <a:cs typeface="B Lotus" pitchFamily="2" charset="-78"/>
            </a:endParaRPr>
          </a:p>
        </p:txBody>
      </p:sp>
      <p:pic>
        <p:nvPicPr>
          <p:cNvPr id="20481" name="Picture 1"/>
          <p:cNvPicPr>
            <a:picLocks noChangeAspect="1" noChangeArrowheads="1"/>
          </p:cNvPicPr>
          <p:nvPr/>
        </p:nvPicPr>
        <p:blipFill>
          <a:blip r:embed="rId3"/>
          <a:srcRect r="30691"/>
          <a:stretch>
            <a:fillRect/>
          </a:stretch>
        </p:blipFill>
        <p:spPr bwMode="auto">
          <a:xfrm>
            <a:off x="357158" y="1214422"/>
            <a:ext cx="3857652" cy="5172091"/>
          </a:xfrm>
          <a:prstGeom prst="rect">
            <a:avLst/>
          </a:prstGeom>
          <a:noFill/>
          <a:ln w="9525">
            <a:noFill/>
            <a:miter lim="800000"/>
            <a:headEnd/>
            <a:tailEnd/>
          </a:ln>
          <a:effectLst/>
        </p:spPr>
      </p:pic>
      <p:pic>
        <p:nvPicPr>
          <p:cNvPr id="20482" name="Picture 2"/>
          <p:cNvPicPr>
            <a:picLocks noChangeAspect="1" noChangeArrowheads="1"/>
          </p:cNvPicPr>
          <p:nvPr/>
        </p:nvPicPr>
        <p:blipFill>
          <a:blip r:embed="rId4"/>
          <a:srcRect r="28773"/>
          <a:stretch>
            <a:fillRect/>
          </a:stretch>
        </p:blipFill>
        <p:spPr bwMode="auto">
          <a:xfrm>
            <a:off x="4286248" y="1142985"/>
            <a:ext cx="4314834" cy="2428892"/>
          </a:xfrm>
          <a:prstGeom prst="rect">
            <a:avLst/>
          </a:prstGeom>
          <a:noFill/>
          <a:ln w="9525">
            <a:noFill/>
            <a:miter lim="800000"/>
            <a:headEnd/>
            <a:tailEnd/>
          </a:ln>
          <a:effectLst/>
        </p:spPr>
      </p:pic>
      <p:pic>
        <p:nvPicPr>
          <p:cNvPr id="20483" name="Picture 3"/>
          <p:cNvPicPr>
            <a:picLocks noChangeAspect="1" noChangeArrowheads="1"/>
          </p:cNvPicPr>
          <p:nvPr/>
        </p:nvPicPr>
        <p:blipFill>
          <a:blip r:embed="rId5">
            <a:duotone>
              <a:prstClr val="black"/>
              <a:schemeClr val="accent2">
                <a:tint val="45000"/>
                <a:satMod val="400000"/>
              </a:schemeClr>
            </a:duotone>
          </a:blip>
          <a:srcRect/>
          <a:stretch>
            <a:fillRect/>
          </a:stretch>
        </p:blipFill>
        <p:spPr bwMode="auto">
          <a:xfrm>
            <a:off x="4429124" y="3500438"/>
            <a:ext cx="2238375" cy="1619250"/>
          </a:xfrm>
          <a:prstGeom prst="rect">
            <a:avLst/>
          </a:prstGeom>
          <a:noFill/>
          <a:ln w="9525">
            <a:noFill/>
            <a:miter lim="800000"/>
            <a:headEnd/>
            <a:tailEnd/>
          </a:ln>
          <a:effectLst/>
        </p:spPr>
      </p:pic>
      <p:sp>
        <p:nvSpPr>
          <p:cNvPr id="9" name="Rectangle 8"/>
          <p:cNvSpPr/>
          <p:nvPr/>
        </p:nvSpPr>
        <p:spPr>
          <a:xfrm>
            <a:off x="4643406" y="5349895"/>
            <a:ext cx="4500594" cy="150810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r" rtl="1">
              <a:buFont typeface="Arial" pitchFamily="34" charset="0"/>
              <a:buChar char="•"/>
            </a:pPr>
            <a:r>
              <a:rPr lang="fa-IR" sz="1600" dirty="0">
                <a:solidFill>
                  <a:schemeClr val="tx1"/>
                </a:solidFill>
                <a:latin typeface="Verdana" pitchFamily="34" charset="0"/>
                <a:cs typeface="B Lotus" pitchFamily="2" charset="-78"/>
              </a:rPr>
              <a:t>برای دسترسی و مقداردهی کلیدها و مقادیر، واسط </a:t>
            </a:r>
            <a:r>
              <a:rPr lang="en-US" sz="1600" dirty="0">
                <a:solidFill>
                  <a:schemeClr val="tx1"/>
                </a:solidFill>
                <a:latin typeface="Verdana" pitchFamily="34" charset="0"/>
                <a:cs typeface="B Lotus" pitchFamily="2" charset="-78"/>
              </a:rPr>
              <a:t>Entry</a:t>
            </a:r>
            <a:r>
              <a:rPr lang="fa-IR" sz="1600" dirty="0">
                <a:solidFill>
                  <a:schemeClr val="tx1"/>
                </a:solidFill>
                <a:latin typeface="Verdana" pitchFamily="34" charset="0"/>
                <a:cs typeface="B Lotus" pitchFamily="2" charset="-78"/>
              </a:rPr>
              <a:t> در داخل </a:t>
            </a:r>
            <a:r>
              <a:rPr lang="en-US" sz="1600" dirty="0">
                <a:solidFill>
                  <a:schemeClr val="tx1"/>
                </a:solidFill>
                <a:latin typeface="Verdana" pitchFamily="34" charset="0"/>
                <a:cs typeface="B Lotus" pitchFamily="2" charset="-78"/>
              </a:rPr>
              <a:t>Map</a:t>
            </a:r>
            <a:r>
              <a:rPr lang="fa-IR" sz="1600" dirty="0">
                <a:solidFill>
                  <a:schemeClr val="tx1"/>
                </a:solidFill>
                <a:latin typeface="Verdana" pitchFamily="34" charset="0"/>
                <a:cs typeface="B Lotus" pitchFamily="2" charset="-78"/>
              </a:rPr>
              <a:t> تعریف و پیاده‏سازی شده است:</a:t>
            </a:r>
            <a:endParaRPr lang="en-US" sz="1600" dirty="0">
              <a:solidFill>
                <a:schemeClr val="tx1"/>
              </a:solidFill>
              <a:latin typeface="Verdana" pitchFamily="34" charset="0"/>
              <a:cs typeface="B Lotus" pitchFamily="2" charset="-78"/>
            </a:endParaRPr>
          </a:p>
          <a:p>
            <a:r>
              <a:rPr lang="en-US" sz="1200" dirty="0">
                <a:solidFill>
                  <a:schemeClr val="accent2"/>
                </a:solidFill>
                <a:latin typeface="Verdana" pitchFamily="34" charset="0"/>
              </a:rPr>
              <a:t>public interface Entry { </a:t>
            </a:r>
            <a:r>
              <a:rPr lang="en-US" sz="1200" dirty="0">
                <a:solidFill>
                  <a:schemeClr val="accent1"/>
                </a:solidFill>
                <a:latin typeface="Verdana" pitchFamily="34" charset="0"/>
              </a:rPr>
              <a:t>// Inner interface of Map</a:t>
            </a:r>
            <a:br>
              <a:rPr lang="en-US" sz="1200" dirty="0">
                <a:solidFill>
                  <a:schemeClr val="accent2"/>
                </a:solidFill>
                <a:latin typeface="Verdana" pitchFamily="34" charset="0"/>
              </a:rPr>
            </a:br>
            <a:r>
              <a:rPr lang="en-US" sz="1200" dirty="0">
                <a:solidFill>
                  <a:schemeClr val="accent2"/>
                </a:solidFill>
                <a:latin typeface="Verdana" pitchFamily="34" charset="0"/>
              </a:rPr>
              <a:t>    Object getKey( );</a:t>
            </a:r>
            <a:br>
              <a:rPr lang="en-US" sz="1200" dirty="0">
                <a:solidFill>
                  <a:schemeClr val="accent2"/>
                </a:solidFill>
                <a:latin typeface="Verdana" pitchFamily="34" charset="0"/>
              </a:rPr>
            </a:br>
            <a:r>
              <a:rPr lang="en-US" sz="1200" dirty="0">
                <a:solidFill>
                  <a:schemeClr val="accent2"/>
                </a:solidFill>
                <a:latin typeface="Verdana" pitchFamily="34" charset="0"/>
              </a:rPr>
              <a:t>    Object getValue( );</a:t>
            </a:r>
            <a:br>
              <a:rPr lang="en-US" sz="1200" dirty="0">
                <a:solidFill>
                  <a:schemeClr val="accent2"/>
                </a:solidFill>
                <a:latin typeface="Verdana" pitchFamily="34" charset="0"/>
              </a:rPr>
            </a:br>
            <a:r>
              <a:rPr lang="en-US" sz="1200" dirty="0">
                <a:solidFill>
                  <a:schemeClr val="accent2"/>
                </a:solidFill>
                <a:latin typeface="Verdana" pitchFamily="34" charset="0"/>
              </a:rPr>
              <a:t>    Object setValue(Object value);</a:t>
            </a:r>
            <a:br>
              <a:rPr lang="en-US" sz="1200" dirty="0">
                <a:solidFill>
                  <a:schemeClr val="accent2"/>
                </a:solidFill>
                <a:latin typeface="Verdana" pitchFamily="34" charset="0"/>
              </a:rPr>
            </a:br>
            <a:r>
              <a:rPr lang="en-US" sz="1200" dirty="0">
                <a:solidFill>
                  <a:schemeClr val="accent2"/>
                </a:solidFill>
                <a:latin typeface="Verdana" pitchFamily="34" charset="0"/>
              </a:rPr>
              <a:t>}</a:t>
            </a:r>
          </a:p>
        </p:txBody>
      </p:sp>
    </p:spTree>
  </p:cSld>
  <p:clrMapOvr>
    <a:masterClrMapping/>
  </p:clrMapOvr>
  <p:transition advClick="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175" y="109538"/>
            <a:ext cx="8143875" cy="676256"/>
          </a:xfrm>
        </p:spPr>
        <p:txBody>
          <a:bodyPr>
            <a:normAutofit/>
          </a:bodyPr>
          <a:lstStyle/>
          <a:p>
            <a:pPr rtl="1"/>
            <a:r>
              <a:rPr lang="fa-IR" sz="2800" dirty="0">
                <a:solidFill>
                  <a:schemeClr val="bg1"/>
                </a:solidFill>
                <a:cs typeface="B Lotus" pitchFamily="2" charset="-78"/>
              </a:rPr>
              <a:t>تفاوت </a:t>
            </a:r>
            <a:r>
              <a:rPr lang="en-US" sz="2800" dirty="0">
                <a:solidFill>
                  <a:schemeClr val="bg1"/>
                </a:solidFill>
                <a:cs typeface="B Lotus" pitchFamily="2" charset="-78"/>
              </a:rPr>
              <a:t>Hashtable</a:t>
            </a:r>
            <a:r>
              <a:rPr lang="fa-IR" sz="2800" dirty="0">
                <a:solidFill>
                  <a:schemeClr val="bg1"/>
                </a:solidFill>
                <a:cs typeface="B Lotus" pitchFamily="2" charset="-78"/>
              </a:rPr>
              <a:t> و </a:t>
            </a:r>
            <a:r>
              <a:rPr lang="en-US" sz="2800" dirty="0">
                <a:solidFill>
                  <a:schemeClr val="bg1"/>
                </a:solidFill>
                <a:cs typeface="B Lotus" pitchFamily="2" charset="-78"/>
              </a:rPr>
              <a:t>HashMap</a:t>
            </a:r>
            <a:r>
              <a:rPr lang="fa-IR" sz="2800" dirty="0">
                <a:solidFill>
                  <a:schemeClr val="bg1"/>
                </a:solidFill>
                <a:cs typeface="B Lotus" pitchFamily="2" charset="-78"/>
              </a:rPr>
              <a:t>:</a:t>
            </a:r>
            <a:endParaRPr lang="en-US" sz="2800" dirty="0">
              <a:solidFill>
                <a:schemeClr val="bg1"/>
              </a:solidFill>
              <a:cs typeface="B Lotus" pitchFamily="2" charset="-78"/>
            </a:endParaRPr>
          </a:p>
        </p:txBody>
      </p:sp>
      <p:sp>
        <p:nvSpPr>
          <p:cNvPr id="3" name="Text Placeholder 2"/>
          <p:cNvSpPr>
            <a:spLocks noGrp="1"/>
          </p:cNvSpPr>
          <p:nvPr>
            <p:ph type="body" sz="half" idx="1"/>
          </p:nvPr>
        </p:nvSpPr>
        <p:spPr>
          <a:xfrm>
            <a:off x="285720" y="714356"/>
            <a:ext cx="8404254" cy="623878"/>
          </a:xfrm>
        </p:spPr>
        <p:txBody>
          <a:bodyPr>
            <a:normAutofit/>
          </a:bodyPr>
          <a:lstStyle/>
          <a:p>
            <a:pPr algn="r" rtl="1"/>
            <a:r>
              <a:rPr lang="fa-IR" sz="2400" dirty="0">
                <a:cs typeface="B Lotus" pitchFamily="2" charset="-78"/>
              </a:rPr>
              <a:t>برخلاف </a:t>
            </a:r>
            <a:r>
              <a:rPr lang="en-US" sz="2400" dirty="0">
                <a:cs typeface="B Lotus" pitchFamily="2" charset="-78"/>
              </a:rPr>
              <a:t>Hashtable </a:t>
            </a:r>
            <a:r>
              <a:rPr lang="fa-IR" sz="2400" dirty="0">
                <a:cs typeface="B Lotus" pitchFamily="2" charset="-78"/>
              </a:rPr>
              <a:t> ، کلید و مقدار </a:t>
            </a:r>
            <a:r>
              <a:rPr lang="en-US" sz="2400" dirty="0">
                <a:cs typeface="B Lotus" pitchFamily="2" charset="-78"/>
              </a:rPr>
              <a:t>null</a:t>
            </a:r>
            <a:r>
              <a:rPr lang="fa-IR" sz="2400" dirty="0">
                <a:cs typeface="B Lotus" pitchFamily="2" charset="-78"/>
              </a:rPr>
              <a:t> در </a:t>
            </a:r>
            <a:r>
              <a:rPr lang="en-US" sz="2400" dirty="0">
                <a:cs typeface="B Lotus" pitchFamily="2" charset="-78"/>
              </a:rPr>
              <a:t>HashMap </a:t>
            </a:r>
            <a:r>
              <a:rPr lang="fa-IR" sz="2400" dirty="0">
                <a:cs typeface="B Lotus" pitchFamily="2" charset="-78"/>
              </a:rPr>
              <a:t> مجاز است.</a:t>
            </a:r>
          </a:p>
          <a:p>
            <a:endParaRPr lang="en-US" sz="2400" dirty="0">
              <a:cs typeface="B Lotus" pitchFamily="2" charset="-78"/>
            </a:endParaRPr>
          </a:p>
        </p:txBody>
      </p:sp>
      <p:sp>
        <p:nvSpPr>
          <p:cNvPr id="5" name="Slide Number Placeholder 4"/>
          <p:cNvSpPr>
            <a:spLocks noGrp="1"/>
          </p:cNvSpPr>
          <p:nvPr>
            <p:ph type="sldNum" sz="quarter" idx="10"/>
          </p:nvPr>
        </p:nvSpPr>
        <p:spPr/>
        <p:txBody>
          <a:bodyPr/>
          <a:lstStyle/>
          <a:p>
            <a:fld id="{E2E32164-7D64-46C2-AECF-5ED4A3D0BCDA}" type="slidenum">
              <a:rPr lang="en-US" smtClean="0"/>
              <a:pPr/>
              <a:t>60</a:t>
            </a:fld>
            <a:endParaRPr lang="en-US"/>
          </a:p>
        </p:txBody>
      </p:sp>
      <p:pic>
        <p:nvPicPr>
          <p:cNvPr id="95234" name="Picture 2"/>
          <p:cNvPicPr>
            <a:picLocks noChangeAspect="1" noChangeArrowheads="1"/>
          </p:cNvPicPr>
          <p:nvPr/>
        </p:nvPicPr>
        <p:blipFill>
          <a:blip r:embed="rId2"/>
          <a:srcRect/>
          <a:stretch>
            <a:fillRect/>
          </a:stretch>
        </p:blipFill>
        <p:spPr bwMode="auto">
          <a:xfrm>
            <a:off x="785786" y="1428736"/>
            <a:ext cx="7215216" cy="4322781"/>
          </a:xfrm>
          <a:prstGeom prst="rect">
            <a:avLst/>
          </a:prstGeom>
          <a:noFill/>
          <a:ln w="9525">
            <a:noFill/>
            <a:miter lim="800000"/>
            <a:headEnd/>
            <a:tailEnd/>
          </a:ln>
          <a:effec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p:spPr>
        <p:txBody>
          <a:bodyPr/>
          <a:lstStyle/>
          <a:p>
            <a:fld id="{8809B393-699B-4593-86BF-EDF0B5946832}" type="slidenum">
              <a:rPr lang="en-US">
                <a:latin typeface="Arial" pitchFamily="34" charset="0"/>
              </a:rPr>
              <a:pPr/>
              <a:t>61</a:t>
            </a:fld>
            <a:endParaRPr lang="en-US">
              <a:latin typeface="Arial" pitchFamily="34" charset="0"/>
            </a:endParaRPr>
          </a:p>
        </p:txBody>
      </p:sp>
      <p:sp>
        <p:nvSpPr>
          <p:cNvPr id="16387" name="Rectangle 2"/>
          <p:cNvSpPr>
            <a:spLocks noGrp="1" noChangeArrowheads="1"/>
          </p:cNvSpPr>
          <p:nvPr>
            <p:ph type="title"/>
          </p:nvPr>
        </p:nvSpPr>
        <p:spPr>
          <a:xfrm>
            <a:off x="457200" y="142852"/>
            <a:ext cx="8229600" cy="511156"/>
          </a:xfrm>
        </p:spPr>
        <p:txBody>
          <a:bodyPr>
            <a:normAutofit fontScale="90000"/>
          </a:bodyPr>
          <a:lstStyle/>
          <a:p>
            <a:pPr eaLnBrk="1" hangingPunct="1"/>
            <a:r>
              <a:rPr lang="fa-IR" sz="3600" dirty="0">
                <a:solidFill>
                  <a:schemeClr val="bg1"/>
                </a:solidFill>
                <a:cs typeface="B Lotus" pitchFamily="2" charset="-78"/>
              </a:rPr>
              <a:t>نکات مهم</a:t>
            </a:r>
            <a:endParaRPr lang="en-US" sz="3600" dirty="0">
              <a:solidFill>
                <a:schemeClr val="bg1"/>
              </a:solidFill>
              <a:cs typeface="B Lotus" pitchFamily="2" charset="-78"/>
            </a:endParaRPr>
          </a:p>
        </p:txBody>
      </p:sp>
      <p:sp>
        <p:nvSpPr>
          <p:cNvPr id="16388" name="Rectangle 3"/>
          <p:cNvSpPr>
            <a:spLocks noGrp="1" noChangeArrowheads="1"/>
          </p:cNvSpPr>
          <p:nvPr>
            <p:ph type="body" idx="1"/>
          </p:nvPr>
        </p:nvSpPr>
        <p:spPr>
          <a:xfrm>
            <a:off x="569912" y="1071546"/>
            <a:ext cx="8574088" cy="5105400"/>
          </a:xfrm>
        </p:spPr>
        <p:txBody>
          <a:bodyPr>
            <a:normAutofit/>
          </a:bodyPr>
          <a:lstStyle/>
          <a:p>
            <a:pPr algn="r" rtl="1" eaLnBrk="1" hangingPunct="1">
              <a:spcBef>
                <a:spcPct val="50000"/>
              </a:spcBef>
            </a:pPr>
            <a:r>
              <a:rPr lang="fa-IR" sz="2400" dirty="0">
                <a:cs typeface="B Lotus" pitchFamily="2" charset="-78"/>
              </a:rPr>
              <a:t>برای آنکه یک</a:t>
            </a:r>
            <a:r>
              <a:rPr lang="en-US" sz="2400" dirty="0">
                <a:cs typeface="B Lotus" pitchFamily="2" charset="-78"/>
              </a:rPr>
              <a:t> HashMap </a:t>
            </a:r>
            <a:r>
              <a:rPr lang="fa-IR" sz="2400" dirty="0">
                <a:cs typeface="B Lotus" pitchFamily="2" charset="-78"/>
              </a:rPr>
              <a:t> عملکرد صحیحی داشته باشد:</a:t>
            </a:r>
          </a:p>
          <a:p>
            <a:pPr lvl="1" algn="r" rtl="1">
              <a:spcBef>
                <a:spcPct val="50000"/>
              </a:spcBef>
            </a:pPr>
            <a:r>
              <a:rPr lang="en-US" sz="2000" dirty="0">
                <a:solidFill>
                  <a:schemeClr val="accent2"/>
                </a:solidFill>
                <a:latin typeface="Consolas" pitchFamily="49" charset="0"/>
              </a:rPr>
              <a:t>equals</a:t>
            </a:r>
            <a:r>
              <a:rPr lang="en-US" sz="2000" dirty="0">
                <a:solidFill>
                  <a:srgbClr val="FFFF99"/>
                </a:solidFill>
                <a:latin typeface="Consolas" pitchFamily="49" charset="0"/>
              </a:rPr>
              <a:t> </a:t>
            </a:r>
            <a:r>
              <a:rPr lang="fa-IR" sz="2000" dirty="0">
                <a:solidFill>
                  <a:srgbClr val="FFFF99"/>
                </a:solidFill>
                <a:latin typeface="Consolas" pitchFamily="49" charset="0"/>
              </a:rPr>
              <a:t> </a:t>
            </a:r>
            <a:r>
              <a:rPr lang="fa-IR" sz="2400" dirty="0">
                <a:cs typeface="B Lotus" pitchFamily="2" charset="-78"/>
              </a:rPr>
              <a:t>باید به درستی برروی کلیدها تعریف شود.</a:t>
            </a:r>
          </a:p>
          <a:p>
            <a:pPr lvl="1" algn="r" rtl="1">
              <a:spcBef>
                <a:spcPct val="50000"/>
              </a:spcBef>
            </a:pPr>
            <a:r>
              <a:rPr lang="en-US" sz="2000" dirty="0">
                <a:solidFill>
                  <a:schemeClr val="accent2"/>
                </a:solidFill>
                <a:latin typeface="Consolas" pitchFamily="49" charset="0"/>
              </a:rPr>
              <a:t>hashCode</a:t>
            </a:r>
            <a:r>
              <a:rPr lang="en-US" sz="2000" dirty="0">
                <a:solidFill>
                  <a:srgbClr val="FFFF99"/>
                </a:solidFill>
                <a:latin typeface="Consolas" pitchFamily="49" charset="0"/>
              </a:rPr>
              <a:t> </a:t>
            </a:r>
            <a:r>
              <a:rPr lang="fa-IR" sz="2000" dirty="0">
                <a:solidFill>
                  <a:srgbClr val="FFFF99"/>
                </a:solidFill>
                <a:latin typeface="Consolas" pitchFamily="49" charset="0"/>
              </a:rPr>
              <a:t> </a:t>
            </a:r>
            <a:r>
              <a:rPr lang="fa-IR" sz="2400" dirty="0">
                <a:cs typeface="B Lotus" pitchFamily="2" charset="-78"/>
              </a:rPr>
              <a:t>باید به درستی برروی کلیدها تعریف شود.</a:t>
            </a:r>
          </a:p>
          <a:p>
            <a:pPr algn="r" rtl="1">
              <a:spcBef>
                <a:spcPct val="50000"/>
              </a:spcBef>
            </a:pPr>
            <a:r>
              <a:rPr lang="fa-IR" sz="2400" dirty="0">
                <a:cs typeface="B Lotus" pitchFamily="2" charset="-78"/>
              </a:rPr>
              <a:t>در بیشتر مواقع از رشته‏ها</a:t>
            </a:r>
            <a:r>
              <a:rPr lang="en-US" sz="2400" dirty="0"/>
              <a:t>(</a:t>
            </a:r>
            <a:r>
              <a:rPr lang="en-US" sz="2400" dirty="0">
                <a:solidFill>
                  <a:schemeClr val="accent2"/>
                </a:solidFill>
                <a:latin typeface="Consolas" pitchFamily="49" charset="0"/>
              </a:rPr>
              <a:t>Strings</a:t>
            </a:r>
            <a:r>
              <a:rPr lang="en-US" sz="2400" dirty="0"/>
              <a:t> ) </a:t>
            </a:r>
            <a:r>
              <a:rPr lang="fa-IR" sz="2400" dirty="0"/>
              <a:t> </a:t>
            </a:r>
            <a:r>
              <a:rPr lang="fa-IR" sz="2400" dirty="0">
                <a:cs typeface="B Lotus" pitchFamily="2" charset="-78"/>
              </a:rPr>
              <a:t>برای کلیدها استفاده می‏شود.</a:t>
            </a:r>
          </a:p>
          <a:p>
            <a:pPr lvl="1" algn="r" rtl="1">
              <a:spcBef>
                <a:spcPct val="50000"/>
              </a:spcBef>
            </a:pPr>
            <a:r>
              <a:rPr lang="fa-IR" sz="2000" dirty="0">
                <a:cs typeface="B Lotus" pitchFamily="2" charset="-78"/>
              </a:rPr>
              <a:t>به طور کلی اشیای تغییرناپذیر </a:t>
            </a:r>
            <a:r>
              <a:rPr lang="en-US" sz="2000" dirty="0">
                <a:cs typeface="B Lotus" pitchFamily="2" charset="-78"/>
              </a:rPr>
              <a:t>()</a:t>
            </a:r>
            <a:r>
              <a:rPr lang="fa-IR" sz="2000" dirty="0">
                <a:cs typeface="B Lotus" pitchFamily="2" charset="-78"/>
              </a:rPr>
              <a:t> برای کلیدها توصیه می‏شوند.</a:t>
            </a:r>
          </a:p>
          <a:p>
            <a:pPr lvl="1" algn="r" rtl="1">
              <a:spcBef>
                <a:spcPct val="50000"/>
              </a:spcBef>
            </a:pPr>
            <a:r>
              <a:rPr lang="fa-IR" sz="2000" dirty="0">
                <a:cs typeface="B Lotus" pitchFamily="2" charset="-78"/>
              </a:rPr>
              <a:t>اگر کلید شما از اشیای تغییرپذیر باشد و در طول برنامه مقدار آن شیئ عوض شود، نتایجی ناخواسته به بار خواهد آمد!</a:t>
            </a:r>
          </a:p>
          <a:p>
            <a:pPr algn="just" rtl="1">
              <a:spcBef>
                <a:spcPct val="50000"/>
              </a:spcBef>
            </a:pPr>
            <a:r>
              <a:rPr lang="fa-IR" sz="2400" dirty="0">
                <a:cs typeface="B Lotus" pitchFamily="2" charset="-78"/>
              </a:rPr>
              <a:t>اگر از اشیایی از کلاسهای جدید به عنوان کلید استفاده می‏کنید،</a:t>
            </a:r>
            <a:r>
              <a:rPr lang="en-US" sz="2400" dirty="0">
                <a:solidFill>
                  <a:schemeClr val="accent2"/>
                </a:solidFill>
                <a:latin typeface="Consolas" pitchFamily="49" charset="0"/>
              </a:rPr>
              <a:t>equals</a:t>
            </a:r>
            <a:r>
              <a:rPr lang="en-US" sz="2400" dirty="0"/>
              <a:t> </a:t>
            </a:r>
            <a:r>
              <a:rPr lang="fa-IR" sz="2400" dirty="0">
                <a:cs typeface="B Lotus" pitchFamily="2" charset="-78"/>
              </a:rPr>
              <a:t> و</a:t>
            </a:r>
            <a:r>
              <a:rPr lang="en-US" sz="2400" dirty="0">
                <a:solidFill>
                  <a:schemeClr val="accent2"/>
                </a:solidFill>
                <a:latin typeface="Consolas" pitchFamily="49" charset="0"/>
              </a:rPr>
              <a:t>hashCode</a:t>
            </a:r>
            <a:r>
              <a:rPr lang="en-US" sz="2400" dirty="0"/>
              <a:t> </a:t>
            </a:r>
            <a:r>
              <a:rPr lang="fa-IR" sz="2400" dirty="0">
                <a:cs typeface="B Lotus" pitchFamily="2" charset="-78"/>
              </a:rPr>
              <a:t> را بازنویسی کنید.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blinds(horizontal)">
                                      <p:cBhvr>
                                        <p:cTn id="7" dur="500"/>
                                        <p:tgtEl>
                                          <p:spTgt spid="163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8">
                                            <p:txEl>
                                              <p:pRg st="1" end="1"/>
                                            </p:txEl>
                                          </p:spTgt>
                                        </p:tgtEl>
                                        <p:attrNameLst>
                                          <p:attrName>style.visibility</p:attrName>
                                        </p:attrNameLst>
                                      </p:cBhvr>
                                      <p:to>
                                        <p:strVal val="visible"/>
                                      </p:to>
                                    </p:set>
                                    <p:animEffect transition="in" filter="blinds(horizontal)">
                                      <p:cBhvr>
                                        <p:cTn id="12" dur="500"/>
                                        <p:tgtEl>
                                          <p:spTgt spid="163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8">
                                            <p:txEl>
                                              <p:pRg st="2" end="2"/>
                                            </p:txEl>
                                          </p:spTgt>
                                        </p:tgtEl>
                                        <p:attrNameLst>
                                          <p:attrName>style.visibility</p:attrName>
                                        </p:attrNameLst>
                                      </p:cBhvr>
                                      <p:to>
                                        <p:strVal val="visible"/>
                                      </p:to>
                                    </p:set>
                                    <p:animEffect transition="in" filter="blinds(horizontal)">
                                      <p:cBhvr>
                                        <p:cTn id="17" dur="500"/>
                                        <p:tgtEl>
                                          <p:spTgt spid="163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388">
                                            <p:txEl>
                                              <p:pRg st="3" end="3"/>
                                            </p:txEl>
                                          </p:spTgt>
                                        </p:tgtEl>
                                        <p:attrNameLst>
                                          <p:attrName>style.visibility</p:attrName>
                                        </p:attrNameLst>
                                      </p:cBhvr>
                                      <p:to>
                                        <p:strVal val="visible"/>
                                      </p:to>
                                    </p:set>
                                    <p:animEffect transition="in" filter="blinds(horizontal)">
                                      <p:cBhvr>
                                        <p:cTn id="22" dur="500"/>
                                        <p:tgtEl>
                                          <p:spTgt spid="1638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388">
                                            <p:txEl>
                                              <p:pRg st="4" end="4"/>
                                            </p:txEl>
                                          </p:spTgt>
                                        </p:tgtEl>
                                        <p:attrNameLst>
                                          <p:attrName>style.visibility</p:attrName>
                                        </p:attrNameLst>
                                      </p:cBhvr>
                                      <p:to>
                                        <p:strVal val="visible"/>
                                      </p:to>
                                    </p:set>
                                    <p:animEffect transition="in" filter="blinds(horizontal)">
                                      <p:cBhvr>
                                        <p:cTn id="27" dur="500"/>
                                        <p:tgtEl>
                                          <p:spTgt spid="1638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388">
                                            <p:txEl>
                                              <p:pRg st="5" end="5"/>
                                            </p:txEl>
                                          </p:spTgt>
                                        </p:tgtEl>
                                        <p:attrNameLst>
                                          <p:attrName>style.visibility</p:attrName>
                                        </p:attrNameLst>
                                      </p:cBhvr>
                                      <p:to>
                                        <p:strVal val="visible"/>
                                      </p:to>
                                    </p:set>
                                    <p:animEffect transition="in" filter="blinds(horizontal)">
                                      <p:cBhvr>
                                        <p:cTn id="32" dur="500"/>
                                        <p:tgtEl>
                                          <p:spTgt spid="1638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388">
                                            <p:txEl>
                                              <p:pRg st="6" end="6"/>
                                            </p:txEl>
                                          </p:spTgt>
                                        </p:tgtEl>
                                        <p:attrNameLst>
                                          <p:attrName>style.visibility</p:attrName>
                                        </p:attrNameLst>
                                      </p:cBhvr>
                                      <p:to>
                                        <p:strVal val="visible"/>
                                      </p:to>
                                    </p:set>
                                    <p:animEffect transition="in" filter="blinds(horizontal)">
                                      <p:cBhvr>
                                        <p:cTn id="37" dur="500"/>
                                        <p:tgtEl>
                                          <p:spTgt spid="163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P93_1_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AP93_1_2</Template>
  <TotalTime>10165</TotalTime>
  <Words>5877</Words>
  <Application>Microsoft Office PowerPoint</Application>
  <PresentationFormat>On-screen Show (4:3)</PresentationFormat>
  <Paragraphs>638</Paragraphs>
  <Slides>61</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Arial</vt:lpstr>
      <vt:lpstr>Calibri</vt:lpstr>
      <vt:lpstr>Comic Sans MS</vt:lpstr>
      <vt:lpstr>Consolas</vt:lpstr>
      <vt:lpstr>Courier New</vt:lpstr>
      <vt:lpstr>Times New Roman</vt:lpstr>
      <vt:lpstr>Trebuchet MS</vt:lpstr>
      <vt:lpstr>Verdana</vt:lpstr>
      <vt:lpstr>Wingdings</vt:lpstr>
      <vt:lpstr>AP93_1_2</vt:lpstr>
      <vt:lpstr>PowerPoint Presentation</vt:lpstr>
      <vt:lpstr> Set and List: Collections سلسله مراتب </vt:lpstr>
      <vt:lpstr>واسط set</vt:lpstr>
      <vt:lpstr>متدهای set</vt:lpstr>
      <vt:lpstr>پیاده‏سازیهای set</vt:lpstr>
      <vt:lpstr>پیمایش set</vt:lpstr>
      <vt:lpstr>عملیات متداول set</vt:lpstr>
      <vt:lpstr>Hashing</vt:lpstr>
      <vt:lpstr>Hashing</vt:lpstr>
      <vt:lpstr>Hashing</vt:lpstr>
      <vt:lpstr>یک تابع هش چگونه انتخاب شود؟</vt:lpstr>
      <vt:lpstr>یک تابع هش چگونه انتخاب شود؟</vt:lpstr>
      <vt:lpstr>تصادمها (collisions)</vt:lpstr>
      <vt:lpstr>Perfect hash function</vt:lpstr>
      <vt:lpstr>یک جدول هش حاوی تصادم</vt:lpstr>
      <vt:lpstr>Set: HashSet</vt:lpstr>
      <vt:lpstr>   چگونه کار می کند؟HashSet</vt:lpstr>
      <vt:lpstr>HashSet تست عضویت در </vt:lpstr>
      <vt:lpstr>Set :LinkedHashSet</vt:lpstr>
      <vt:lpstr>Set :LinkedHashSet</vt:lpstr>
      <vt:lpstr>Set :LinkedHashSet</vt:lpstr>
      <vt:lpstr>LinkedHashSet</vt:lpstr>
      <vt:lpstr>Rehash</vt:lpstr>
      <vt:lpstr>Set Implementations:TreeSet</vt:lpstr>
      <vt:lpstr>TreeSet  </vt:lpstr>
      <vt:lpstr>TreeSet مثال </vt:lpstr>
      <vt:lpstr>TreeSet مثال </vt:lpstr>
      <vt:lpstr>TreeSet مثال </vt:lpstr>
      <vt:lpstr>HashSet همان مثال روی  </vt:lpstr>
      <vt:lpstr>LinkedHashSet همان مثال روی  </vt:lpstr>
      <vt:lpstr>متد compareTo() در کلاس Object</vt:lpstr>
      <vt:lpstr>HashSet با TreeSet با LinkedHashSetمقایسه  </vt:lpstr>
      <vt:lpstr>آزمون کارایی</vt:lpstr>
      <vt:lpstr>آزمون کارایی</vt:lpstr>
      <vt:lpstr>تفاوت میان Set و List</vt:lpstr>
      <vt:lpstr>تفاوت میان Set و List</vt:lpstr>
      <vt:lpstr>چه موقع از set و چه موقع از List استفاده کنیم؟</vt:lpstr>
      <vt:lpstr>کاربردهای متفاوت مجموعه و لیست</vt:lpstr>
      <vt:lpstr>نگاشت (Map)  میان مجموعه ها (Set)</vt:lpstr>
      <vt:lpstr>Map</vt:lpstr>
      <vt:lpstr>فرق List  با Set با Map</vt:lpstr>
      <vt:lpstr>Map چیست؟</vt:lpstr>
      <vt:lpstr>نگاهی دوباره به چارچوب collection</vt:lpstr>
      <vt:lpstr>واسط Map</vt:lpstr>
      <vt:lpstr>نکات مهم</vt:lpstr>
      <vt:lpstr>پیاده سازیهای Map در جاوا</vt:lpstr>
      <vt:lpstr>پیاده سازی HashMap</vt:lpstr>
      <vt:lpstr>تصویری از نحوه پیاده سازی HashMap-1</vt:lpstr>
      <vt:lpstr>تصویری از نحوه پیاده سازی HashMap-2</vt:lpstr>
      <vt:lpstr>پیاده سازی LinkedHashMap و TreeMap</vt:lpstr>
      <vt:lpstr>Map views</vt:lpstr>
      <vt:lpstr>مثال از پیمایش Map</vt:lpstr>
      <vt:lpstr>مثالی از HashMap</vt:lpstr>
      <vt:lpstr>نگهداری تعداد رخدادهای کلمات در متن با HashMap</vt:lpstr>
      <vt:lpstr>پیمایش یک Map بدون استفاده از کلیدهای آن</vt:lpstr>
      <vt:lpstr>نمایش محتوای یک Map با متد toString()</vt:lpstr>
      <vt:lpstr>Map :Hashtable</vt:lpstr>
      <vt:lpstr>Map :Hashtable</vt:lpstr>
      <vt:lpstr>PowerPoint Presentation</vt:lpstr>
      <vt:lpstr>تفاوت Hashtable و HashMap:</vt:lpstr>
      <vt:lpstr>نکات مهم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vahidi</dc:creator>
  <cp:lastModifiedBy>Mojtaba Vahidi-Asl</cp:lastModifiedBy>
  <cp:revision>411</cp:revision>
  <dcterms:created xsi:type="dcterms:W3CDTF">2014-09-01T08:28:49Z</dcterms:created>
  <dcterms:modified xsi:type="dcterms:W3CDTF">2021-05-27T04:29:29Z</dcterms:modified>
</cp:coreProperties>
</file>